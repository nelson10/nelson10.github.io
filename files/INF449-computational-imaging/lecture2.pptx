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27"/>
  </p:notesMasterIdLst>
  <p:sldIdLst>
    <p:sldId id="280" r:id="rId2"/>
    <p:sldId id="281" r:id="rId3"/>
    <p:sldId id="326" r:id="rId4"/>
    <p:sldId id="286" r:id="rId5"/>
    <p:sldId id="256" r:id="rId6"/>
    <p:sldId id="258" r:id="rId7"/>
    <p:sldId id="279" r:id="rId8"/>
    <p:sldId id="270" r:id="rId9"/>
    <p:sldId id="278" r:id="rId10"/>
    <p:sldId id="259" r:id="rId11"/>
    <p:sldId id="273" r:id="rId12"/>
    <p:sldId id="267" r:id="rId13"/>
    <p:sldId id="269" r:id="rId14"/>
    <p:sldId id="257" r:id="rId15"/>
    <p:sldId id="261" r:id="rId16"/>
    <p:sldId id="274" r:id="rId17"/>
    <p:sldId id="263" r:id="rId18"/>
    <p:sldId id="275" r:id="rId19"/>
    <p:sldId id="276" r:id="rId20"/>
    <p:sldId id="277" r:id="rId21"/>
    <p:sldId id="268" r:id="rId22"/>
    <p:sldId id="260" r:id="rId23"/>
    <p:sldId id="264" r:id="rId24"/>
    <p:sldId id="265" r:id="rId25"/>
    <p:sldId id="271" r:id="rId26"/>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25"/>
    <p:restoredTop sz="95031"/>
  </p:normalViewPr>
  <p:slideViewPr>
    <p:cSldViewPr snapToGrid="0">
      <p:cViewPr varScale="1">
        <p:scale>
          <a:sx n="141" d="100"/>
          <a:sy n="141" d="100"/>
        </p:scale>
        <p:origin x="680" y="176"/>
      </p:cViewPr>
      <p:guideLst/>
    </p:cSldViewPr>
  </p:slideViewPr>
  <p:notesTextViewPr>
    <p:cViewPr>
      <p:scale>
        <a:sx n="20" d="100"/>
        <a:sy n="2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35A891B-2678-0846-862D-FD8F7F984981}" type="datetimeFigureOut">
              <a:rPr lang="en-CL" smtClean="0"/>
              <a:t>05-08-26</a:t>
            </a:fld>
            <a:endParaRPr lang="en-CL"/>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14F8340-218A-9546-A6E8-E8F60C6C0030}" type="slidenum">
              <a:rPr lang="en-CL" smtClean="0"/>
              <a:t>‹#›</a:t>
            </a:fld>
            <a:endParaRPr lang="en-CL"/>
          </a:p>
        </p:txBody>
      </p:sp>
    </p:spTree>
    <p:extLst>
      <p:ext uri="{BB962C8B-B14F-4D97-AF65-F5344CB8AC3E}">
        <p14:creationId xmlns:p14="http://schemas.microsoft.com/office/powerpoint/2010/main" val="24025452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L" dirty="0"/>
          </a:p>
        </p:txBody>
      </p:sp>
      <p:sp>
        <p:nvSpPr>
          <p:cNvPr id="4" name="Slide Number Placeholder 3"/>
          <p:cNvSpPr>
            <a:spLocks noGrp="1"/>
          </p:cNvSpPr>
          <p:nvPr>
            <p:ph type="sldNum" sz="quarter" idx="5"/>
          </p:nvPr>
        </p:nvSpPr>
        <p:spPr/>
        <p:txBody>
          <a:bodyPr/>
          <a:lstStyle/>
          <a:p>
            <a:fld id="{614F8340-218A-9546-A6E8-E8F60C6C0030}" type="slidenum">
              <a:rPr lang="en-CL" smtClean="0"/>
              <a:t>20</a:t>
            </a:fld>
            <a:endParaRPr lang="en-CL"/>
          </a:p>
        </p:txBody>
      </p:sp>
    </p:spTree>
    <p:extLst>
      <p:ext uri="{BB962C8B-B14F-4D97-AF65-F5344CB8AC3E}">
        <p14:creationId xmlns:p14="http://schemas.microsoft.com/office/powerpoint/2010/main" val="38129774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5B533EA-6C00-A148-B42E-F08FDADF90F3}" type="datetimeFigureOut">
              <a:rPr lang="en-CL" smtClean="0"/>
              <a:t>05-08-26</a:t>
            </a:fld>
            <a:endParaRPr lang="en-CL"/>
          </a:p>
        </p:txBody>
      </p:sp>
      <p:sp>
        <p:nvSpPr>
          <p:cNvPr id="5" name="Footer Placeholder 4"/>
          <p:cNvSpPr>
            <a:spLocks noGrp="1"/>
          </p:cNvSpPr>
          <p:nvPr>
            <p:ph type="ftr" sz="quarter" idx="11"/>
          </p:nvPr>
        </p:nvSpPr>
        <p:spPr/>
        <p:txBody>
          <a:bodyPr/>
          <a:lstStyle/>
          <a:p>
            <a:endParaRPr lang="en-CL"/>
          </a:p>
        </p:txBody>
      </p:sp>
      <p:sp>
        <p:nvSpPr>
          <p:cNvPr id="6" name="Slide Number Placeholder 5"/>
          <p:cNvSpPr>
            <a:spLocks noGrp="1"/>
          </p:cNvSpPr>
          <p:nvPr>
            <p:ph type="sldNum" sz="quarter" idx="12"/>
          </p:nvPr>
        </p:nvSpPr>
        <p:spPr/>
        <p:txBody>
          <a:bodyPr/>
          <a:lstStyle/>
          <a:p>
            <a:fld id="{964DA7A4-C80E-2F46-B968-38B4BACCDF09}" type="slidenum">
              <a:rPr lang="en-CL" smtClean="0"/>
              <a:t>‹#›</a:t>
            </a:fld>
            <a:endParaRPr lang="en-CL"/>
          </a:p>
        </p:txBody>
      </p:sp>
    </p:spTree>
    <p:extLst>
      <p:ext uri="{BB962C8B-B14F-4D97-AF65-F5344CB8AC3E}">
        <p14:creationId xmlns:p14="http://schemas.microsoft.com/office/powerpoint/2010/main" val="9982879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5B533EA-6C00-A148-B42E-F08FDADF90F3}" type="datetimeFigureOut">
              <a:rPr lang="en-CL" smtClean="0"/>
              <a:t>05-08-26</a:t>
            </a:fld>
            <a:endParaRPr lang="en-CL"/>
          </a:p>
        </p:txBody>
      </p:sp>
      <p:sp>
        <p:nvSpPr>
          <p:cNvPr id="5" name="Footer Placeholder 4"/>
          <p:cNvSpPr>
            <a:spLocks noGrp="1"/>
          </p:cNvSpPr>
          <p:nvPr>
            <p:ph type="ftr" sz="quarter" idx="11"/>
          </p:nvPr>
        </p:nvSpPr>
        <p:spPr/>
        <p:txBody>
          <a:bodyPr/>
          <a:lstStyle/>
          <a:p>
            <a:endParaRPr lang="en-CL"/>
          </a:p>
        </p:txBody>
      </p:sp>
      <p:sp>
        <p:nvSpPr>
          <p:cNvPr id="6" name="Slide Number Placeholder 5"/>
          <p:cNvSpPr>
            <a:spLocks noGrp="1"/>
          </p:cNvSpPr>
          <p:nvPr>
            <p:ph type="sldNum" sz="quarter" idx="12"/>
          </p:nvPr>
        </p:nvSpPr>
        <p:spPr/>
        <p:txBody>
          <a:bodyPr/>
          <a:lstStyle/>
          <a:p>
            <a:fld id="{964DA7A4-C80E-2F46-B968-38B4BACCDF09}" type="slidenum">
              <a:rPr lang="en-CL" smtClean="0"/>
              <a:t>‹#›</a:t>
            </a:fld>
            <a:endParaRPr lang="en-CL"/>
          </a:p>
        </p:txBody>
      </p:sp>
    </p:spTree>
    <p:extLst>
      <p:ext uri="{BB962C8B-B14F-4D97-AF65-F5344CB8AC3E}">
        <p14:creationId xmlns:p14="http://schemas.microsoft.com/office/powerpoint/2010/main" val="27736372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304"/>
            <a:ext cx="7886700" cy="2139553"/>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623888" y="3442098"/>
            <a:ext cx="7886700" cy="1125140"/>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5B533EA-6C00-A148-B42E-F08FDADF90F3}" type="datetimeFigureOut">
              <a:rPr lang="en-CL" smtClean="0"/>
              <a:t>05-08-26</a:t>
            </a:fld>
            <a:endParaRPr lang="en-CL"/>
          </a:p>
        </p:txBody>
      </p:sp>
      <p:sp>
        <p:nvSpPr>
          <p:cNvPr id="5" name="Footer Placeholder 4"/>
          <p:cNvSpPr>
            <a:spLocks noGrp="1"/>
          </p:cNvSpPr>
          <p:nvPr>
            <p:ph type="ftr" sz="quarter" idx="11"/>
          </p:nvPr>
        </p:nvSpPr>
        <p:spPr/>
        <p:txBody>
          <a:bodyPr/>
          <a:lstStyle/>
          <a:p>
            <a:endParaRPr lang="en-CL"/>
          </a:p>
        </p:txBody>
      </p:sp>
      <p:sp>
        <p:nvSpPr>
          <p:cNvPr id="6" name="Slide Number Placeholder 5"/>
          <p:cNvSpPr>
            <a:spLocks noGrp="1"/>
          </p:cNvSpPr>
          <p:nvPr>
            <p:ph type="sldNum" sz="quarter" idx="12"/>
          </p:nvPr>
        </p:nvSpPr>
        <p:spPr/>
        <p:txBody>
          <a:bodyPr/>
          <a:lstStyle/>
          <a:p>
            <a:fld id="{964DA7A4-C80E-2F46-B968-38B4BACCDF09}" type="slidenum">
              <a:rPr lang="en-CL" smtClean="0"/>
              <a:t>‹#›</a:t>
            </a:fld>
            <a:endParaRPr lang="en-CL"/>
          </a:p>
        </p:txBody>
      </p:sp>
    </p:spTree>
    <p:extLst>
      <p:ext uri="{BB962C8B-B14F-4D97-AF65-F5344CB8AC3E}">
        <p14:creationId xmlns:p14="http://schemas.microsoft.com/office/powerpoint/2010/main" val="18963685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5B533EA-6C00-A148-B42E-F08FDADF90F3}" type="datetimeFigureOut">
              <a:rPr lang="en-CL" smtClean="0"/>
              <a:t>05-08-26</a:t>
            </a:fld>
            <a:endParaRPr lang="en-CL"/>
          </a:p>
        </p:txBody>
      </p:sp>
      <p:sp>
        <p:nvSpPr>
          <p:cNvPr id="6" name="Footer Placeholder 5"/>
          <p:cNvSpPr>
            <a:spLocks noGrp="1"/>
          </p:cNvSpPr>
          <p:nvPr>
            <p:ph type="ftr" sz="quarter" idx="11"/>
          </p:nvPr>
        </p:nvSpPr>
        <p:spPr/>
        <p:txBody>
          <a:bodyPr/>
          <a:lstStyle/>
          <a:p>
            <a:endParaRPr lang="en-CL"/>
          </a:p>
        </p:txBody>
      </p:sp>
      <p:sp>
        <p:nvSpPr>
          <p:cNvPr id="7" name="Slide Number Placeholder 6"/>
          <p:cNvSpPr>
            <a:spLocks noGrp="1"/>
          </p:cNvSpPr>
          <p:nvPr>
            <p:ph type="sldNum" sz="quarter" idx="12"/>
          </p:nvPr>
        </p:nvSpPr>
        <p:spPr/>
        <p:txBody>
          <a:bodyPr/>
          <a:lstStyle/>
          <a:p>
            <a:fld id="{964DA7A4-C80E-2F46-B968-38B4BACCDF09}" type="slidenum">
              <a:rPr lang="en-CL" smtClean="0"/>
              <a:t>‹#›</a:t>
            </a:fld>
            <a:endParaRPr lang="en-CL"/>
          </a:p>
        </p:txBody>
      </p:sp>
    </p:spTree>
    <p:extLst>
      <p:ext uri="{BB962C8B-B14F-4D97-AF65-F5344CB8AC3E}">
        <p14:creationId xmlns:p14="http://schemas.microsoft.com/office/powerpoint/2010/main" val="8301835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4"/>
            <a:ext cx="7886700" cy="994172"/>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629842" y="1878806"/>
            <a:ext cx="3868340"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29150" y="1878806"/>
            <a:ext cx="3887391"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5B533EA-6C00-A148-B42E-F08FDADF90F3}" type="datetimeFigureOut">
              <a:rPr lang="en-CL" smtClean="0"/>
              <a:t>05-08-26</a:t>
            </a:fld>
            <a:endParaRPr lang="en-CL"/>
          </a:p>
        </p:txBody>
      </p:sp>
      <p:sp>
        <p:nvSpPr>
          <p:cNvPr id="8" name="Footer Placeholder 7"/>
          <p:cNvSpPr>
            <a:spLocks noGrp="1"/>
          </p:cNvSpPr>
          <p:nvPr>
            <p:ph type="ftr" sz="quarter" idx="11"/>
          </p:nvPr>
        </p:nvSpPr>
        <p:spPr/>
        <p:txBody>
          <a:bodyPr/>
          <a:lstStyle/>
          <a:p>
            <a:endParaRPr lang="en-CL"/>
          </a:p>
        </p:txBody>
      </p:sp>
      <p:sp>
        <p:nvSpPr>
          <p:cNvPr id="9" name="Slide Number Placeholder 8"/>
          <p:cNvSpPr>
            <a:spLocks noGrp="1"/>
          </p:cNvSpPr>
          <p:nvPr>
            <p:ph type="sldNum" sz="quarter" idx="12"/>
          </p:nvPr>
        </p:nvSpPr>
        <p:spPr/>
        <p:txBody>
          <a:bodyPr/>
          <a:lstStyle/>
          <a:p>
            <a:fld id="{964DA7A4-C80E-2F46-B968-38B4BACCDF09}" type="slidenum">
              <a:rPr lang="en-CL" smtClean="0"/>
              <a:t>‹#›</a:t>
            </a:fld>
            <a:endParaRPr lang="en-CL"/>
          </a:p>
        </p:txBody>
      </p:sp>
    </p:spTree>
    <p:extLst>
      <p:ext uri="{BB962C8B-B14F-4D97-AF65-F5344CB8AC3E}">
        <p14:creationId xmlns:p14="http://schemas.microsoft.com/office/powerpoint/2010/main" val="3569545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5B533EA-6C00-A148-B42E-F08FDADF90F3}" type="datetimeFigureOut">
              <a:rPr lang="en-CL" smtClean="0"/>
              <a:t>05-08-26</a:t>
            </a:fld>
            <a:endParaRPr lang="en-CL"/>
          </a:p>
        </p:txBody>
      </p:sp>
      <p:sp>
        <p:nvSpPr>
          <p:cNvPr id="4" name="Footer Placeholder 3"/>
          <p:cNvSpPr>
            <a:spLocks noGrp="1"/>
          </p:cNvSpPr>
          <p:nvPr>
            <p:ph type="ftr" sz="quarter" idx="11"/>
          </p:nvPr>
        </p:nvSpPr>
        <p:spPr/>
        <p:txBody>
          <a:bodyPr/>
          <a:lstStyle/>
          <a:p>
            <a:endParaRPr lang="en-CL"/>
          </a:p>
        </p:txBody>
      </p:sp>
      <p:sp>
        <p:nvSpPr>
          <p:cNvPr id="5" name="Slide Number Placeholder 4"/>
          <p:cNvSpPr>
            <a:spLocks noGrp="1"/>
          </p:cNvSpPr>
          <p:nvPr>
            <p:ph type="sldNum" sz="quarter" idx="12"/>
          </p:nvPr>
        </p:nvSpPr>
        <p:spPr/>
        <p:txBody>
          <a:bodyPr/>
          <a:lstStyle/>
          <a:p>
            <a:fld id="{964DA7A4-C80E-2F46-B968-38B4BACCDF09}" type="slidenum">
              <a:rPr lang="en-CL" smtClean="0"/>
              <a:t>‹#›</a:t>
            </a:fld>
            <a:endParaRPr lang="en-CL"/>
          </a:p>
        </p:txBody>
      </p:sp>
    </p:spTree>
    <p:extLst>
      <p:ext uri="{BB962C8B-B14F-4D97-AF65-F5344CB8AC3E}">
        <p14:creationId xmlns:p14="http://schemas.microsoft.com/office/powerpoint/2010/main" val="21295453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5B533EA-6C00-A148-B42E-F08FDADF90F3}" type="datetimeFigureOut">
              <a:rPr lang="en-CL" smtClean="0"/>
              <a:t>05-08-26</a:t>
            </a:fld>
            <a:endParaRPr lang="en-CL"/>
          </a:p>
        </p:txBody>
      </p:sp>
      <p:sp>
        <p:nvSpPr>
          <p:cNvPr id="3" name="Footer Placeholder 2"/>
          <p:cNvSpPr>
            <a:spLocks noGrp="1"/>
          </p:cNvSpPr>
          <p:nvPr>
            <p:ph type="ftr" sz="quarter" idx="11"/>
          </p:nvPr>
        </p:nvSpPr>
        <p:spPr/>
        <p:txBody>
          <a:bodyPr/>
          <a:lstStyle/>
          <a:p>
            <a:endParaRPr lang="en-CL"/>
          </a:p>
        </p:txBody>
      </p:sp>
      <p:sp>
        <p:nvSpPr>
          <p:cNvPr id="4" name="Slide Number Placeholder 3"/>
          <p:cNvSpPr>
            <a:spLocks noGrp="1"/>
          </p:cNvSpPr>
          <p:nvPr>
            <p:ph type="sldNum" sz="quarter" idx="12"/>
          </p:nvPr>
        </p:nvSpPr>
        <p:spPr/>
        <p:txBody>
          <a:bodyPr/>
          <a:lstStyle/>
          <a:p>
            <a:fld id="{964DA7A4-C80E-2F46-B968-38B4BACCDF09}" type="slidenum">
              <a:rPr lang="en-CL" smtClean="0"/>
              <a:t>‹#›</a:t>
            </a:fld>
            <a:endParaRPr lang="en-CL"/>
          </a:p>
        </p:txBody>
      </p:sp>
    </p:spTree>
    <p:extLst>
      <p:ext uri="{BB962C8B-B14F-4D97-AF65-F5344CB8AC3E}">
        <p14:creationId xmlns:p14="http://schemas.microsoft.com/office/powerpoint/2010/main" val="41887565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05B533EA-6C00-A148-B42E-F08FDADF90F3}" type="datetimeFigureOut">
              <a:rPr lang="en-CL" smtClean="0"/>
              <a:t>05-08-26</a:t>
            </a:fld>
            <a:endParaRPr lang="en-CL"/>
          </a:p>
        </p:txBody>
      </p:sp>
      <p:sp>
        <p:nvSpPr>
          <p:cNvPr id="6" name="Footer Placeholder 5"/>
          <p:cNvSpPr>
            <a:spLocks noGrp="1"/>
          </p:cNvSpPr>
          <p:nvPr>
            <p:ph type="ftr" sz="quarter" idx="11"/>
          </p:nvPr>
        </p:nvSpPr>
        <p:spPr/>
        <p:txBody>
          <a:bodyPr/>
          <a:lstStyle/>
          <a:p>
            <a:endParaRPr lang="en-CL"/>
          </a:p>
        </p:txBody>
      </p:sp>
      <p:sp>
        <p:nvSpPr>
          <p:cNvPr id="7" name="Slide Number Placeholder 6"/>
          <p:cNvSpPr>
            <a:spLocks noGrp="1"/>
          </p:cNvSpPr>
          <p:nvPr>
            <p:ph type="sldNum" sz="quarter" idx="12"/>
          </p:nvPr>
        </p:nvSpPr>
        <p:spPr/>
        <p:txBody>
          <a:bodyPr/>
          <a:lstStyle/>
          <a:p>
            <a:fld id="{964DA7A4-C80E-2F46-B968-38B4BACCDF09}" type="slidenum">
              <a:rPr lang="en-CL" smtClean="0"/>
              <a:t>‹#›</a:t>
            </a:fld>
            <a:endParaRPr lang="en-CL"/>
          </a:p>
        </p:txBody>
      </p:sp>
    </p:spTree>
    <p:extLst>
      <p:ext uri="{BB962C8B-B14F-4D97-AF65-F5344CB8AC3E}">
        <p14:creationId xmlns:p14="http://schemas.microsoft.com/office/powerpoint/2010/main" val="23430432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740569"/>
            <a:ext cx="4629150" cy="3655219"/>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05B533EA-6C00-A148-B42E-F08FDADF90F3}" type="datetimeFigureOut">
              <a:rPr lang="en-CL" smtClean="0"/>
              <a:t>05-08-26</a:t>
            </a:fld>
            <a:endParaRPr lang="en-CL"/>
          </a:p>
        </p:txBody>
      </p:sp>
      <p:sp>
        <p:nvSpPr>
          <p:cNvPr id="6" name="Footer Placeholder 5"/>
          <p:cNvSpPr>
            <a:spLocks noGrp="1"/>
          </p:cNvSpPr>
          <p:nvPr>
            <p:ph type="ftr" sz="quarter" idx="11"/>
          </p:nvPr>
        </p:nvSpPr>
        <p:spPr/>
        <p:txBody>
          <a:bodyPr/>
          <a:lstStyle/>
          <a:p>
            <a:endParaRPr lang="en-CL"/>
          </a:p>
        </p:txBody>
      </p:sp>
      <p:sp>
        <p:nvSpPr>
          <p:cNvPr id="7" name="Slide Number Placeholder 6"/>
          <p:cNvSpPr>
            <a:spLocks noGrp="1"/>
          </p:cNvSpPr>
          <p:nvPr>
            <p:ph type="sldNum" sz="quarter" idx="12"/>
          </p:nvPr>
        </p:nvSpPr>
        <p:spPr/>
        <p:txBody>
          <a:bodyPr/>
          <a:lstStyle/>
          <a:p>
            <a:fld id="{964DA7A4-C80E-2F46-B968-38B4BACCDF09}" type="slidenum">
              <a:rPr lang="en-CL" smtClean="0"/>
              <a:t>‹#›</a:t>
            </a:fld>
            <a:endParaRPr lang="en-CL"/>
          </a:p>
        </p:txBody>
      </p:sp>
    </p:spTree>
    <p:extLst>
      <p:ext uri="{BB962C8B-B14F-4D97-AF65-F5344CB8AC3E}">
        <p14:creationId xmlns:p14="http://schemas.microsoft.com/office/powerpoint/2010/main" val="2676506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5B533EA-6C00-A148-B42E-F08FDADF90F3}" type="datetimeFigureOut">
              <a:rPr lang="en-CL" smtClean="0"/>
              <a:t>05-08-26</a:t>
            </a:fld>
            <a:endParaRPr lang="en-CL"/>
          </a:p>
        </p:txBody>
      </p:sp>
      <p:sp>
        <p:nvSpPr>
          <p:cNvPr id="5" name="Footer Placeholder 4"/>
          <p:cNvSpPr>
            <a:spLocks noGrp="1"/>
          </p:cNvSpPr>
          <p:nvPr>
            <p:ph type="ftr" sz="quarter" idx="11"/>
          </p:nvPr>
        </p:nvSpPr>
        <p:spPr/>
        <p:txBody>
          <a:bodyPr/>
          <a:lstStyle/>
          <a:p>
            <a:endParaRPr lang="en-CL"/>
          </a:p>
        </p:txBody>
      </p:sp>
      <p:sp>
        <p:nvSpPr>
          <p:cNvPr id="6" name="Slide Number Placeholder 5"/>
          <p:cNvSpPr>
            <a:spLocks noGrp="1"/>
          </p:cNvSpPr>
          <p:nvPr>
            <p:ph type="sldNum" sz="quarter" idx="12"/>
          </p:nvPr>
        </p:nvSpPr>
        <p:spPr/>
        <p:txBody>
          <a:bodyPr/>
          <a:lstStyle/>
          <a:p>
            <a:fld id="{964DA7A4-C80E-2F46-B968-38B4BACCDF09}" type="slidenum">
              <a:rPr lang="en-CL" smtClean="0"/>
              <a:t>‹#›</a:t>
            </a:fld>
            <a:endParaRPr lang="en-CL"/>
          </a:p>
        </p:txBody>
      </p:sp>
    </p:spTree>
    <p:extLst>
      <p:ext uri="{BB962C8B-B14F-4D97-AF65-F5344CB8AC3E}">
        <p14:creationId xmlns:p14="http://schemas.microsoft.com/office/powerpoint/2010/main" val="42402190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844"/>
            <a:ext cx="1971675" cy="4358879"/>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273844"/>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5B533EA-6C00-A148-B42E-F08FDADF90F3}" type="datetimeFigureOut">
              <a:rPr lang="en-CL" smtClean="0"/>
              <a:t>05-08-26</a:t>
            </a:fld>
            <a:endParaRPr lang="en-CL"/>
          </a:p>
        </p:txBody>
      </p:sp>
      <p:sp>
        <p:nvSpPr>
          <p:cNvPr id="5" name="Footer Placeholder 4"/>
          <p:cNvSpPr>
            <a:spLocks noGrp="1"/>
          </p:cNvSpPr>
          <p:nvPr>
            <p:ph type="ftr" sz="quarter" idx="11"/>
          </p:nvPr>
        </p:nvSpPr>
        <p:spPr/>
        <p:txBody>
          <a:bodyPr/>
          <a:lstStyle/>
          <a:p>
            <a:endParaRPr lang="en-CL"/>
          </a:p>
        </p:txBody>
      </p:sp>
      <p:sp>
        <p:nvSpPr>
          <p:cNvPr id="6" name="Slide Number Placeholder 5"/>
          <p:cNvSpPr>
            <a:spLocks noGrp="1"/>
          </p:cNvSpPr>
          <p:nvPr>
            <p:ph type="sldNum" sz="quarter" idx="12"/>
          </p:nvPr>
        </p:nvSpPr>
        <p:spPr/>
        <p:txBody>
          <a:bodyPr/>
          <a:lstStyle/>
          <a:p>
            <a:fld id="{964DA7A4-C80E-2F46-B968-38B4BACCDF09}" type="slidenum">
              <a:rPr lang="en-CL" smtClean="0"/>
              <a:t>‹#›</a:t>
            </a:fld>
            <a:endParaRPr lang="en-CL"/>
          </a:p>
        </p:txBody>
      </p:sp>
    </p:spTree>
    <p:extLst>
      <p:ext uri="{BB962C8B-B14F-4D97-AF65-F5344CB8AC3E}">
        <p14:creationId xmlns:p14="http://schemas.microsoft.com/office/powerpoint/2010/main" val="9338239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82000"/>
                  </a:schemeClr>
                </a:solidFill>
              </a:defRPr>
            </a:lvl1pPr>
          </a:lstStyle>
          <a:p>
            <a:fld id="{05B533EA-6C00-A148-B42E-F08FDADF90F3}" type="datetimeFigureOut">
              <a:rPr lang="en-CL" smtClean="0"/>
              <a:t>05-08-26</a:t>
            </a:fld>
            <a:endParaRPr lang="en-CL"/>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CL"/>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82000"/>
                  </a:schemeClr>
                </a:solidFill>
              </a:defRPr>
            </a:lvl1pPr>
          </a:lstStyle>
          <a:p>
            <a:fld id="{964DA7A4-C80E-2F46-B968-38B4BACCDF09}" type="slidenum">
              <a:rPr lang="en-CL" smtClean="0"/>
              <a:t>‹#›</a:t>
            </a:fld>
            <a:endParaRPr lang="en-CL"/>
          </a:p>
        </p:txBody>
      </p:sp>
    </p:spTree>
    <p:extLst>
      <p:ext uri="{BB962C8B-B14F-4D97-AF65-F5344CB8AC3E}">
        <p14:creationId xmlns:p14="http://schemas.microsoft.com/office/powerpoint/2010/main" val="252150626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jpg"/><Relationship Id="rId2" Type="http://schemas.openxmlformats.org/officeDocument/2006/relationships/image" Target="../media/image5.png"/><Relationship Id="rId1" Type="http://schemas.openxmlformats.org/officeDocument/2006/relationships/slideLayout" Target="../slideLayouts/slideLayout1.xml"/><Relationship Id="rId6" Type="http://schemas.openxmlformats.org/officeDocument/2006/relationships/image" Target="../media/image9.jpeg"/><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2.jpg"/><Relationship Id="rId7" Type="http://schemas.openxmlformats.org/officeDocument/2006/relationships/image" Target="../media/image16.png"/><Relationship Id="rId2" Type="http://schemas.openxmlformats.org/officeDocument/2006/relationships/image" Target="../media/image11.png"/><Relationship Id="rId1" Type="http://schemas.openxmlformats.org/officeDocument/2006/relationships/slideLayout" Target="../slideLayouts/slideLayout1.xml"/><Relationship Id="rId6" Type="http://schemas.openxmlformats.org/officeDocument/2006/relationships/image" Target="../media/image15.jpeg"/><Relationship Id="rId11" Type="http://schemas.openxmlformats.org/officeDocument/2006/relationships/image" Target="../media/image20.jpeg"/><Relationship Id="rId5" Type="http://schemas.openxmlformats.org/officeDocument/2006/relationships/image" Target="../media/image14.png"/><Relationship Id="rId10" Type="http://schemas.openxmlformats.org/officeDocument/2006/relationships/image" Target="../media/image19.png"/><Relationship Id="rId4" Type="http://schemas.openxmlformats.org/officeDocument/2006/relationships/image" Target="../media/image13.png"/><Relationship Id="rId9" Type="http://schemas.openxmlformats.org/officeDocument/2006/relationships/image" Target="../media/image18.png"/></Relationships>
</file>

<file path=ppt/slides/_rels/slide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jpe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8.gif"/><Relationship Id="rId2" Type="http://schemas.openxmlformats.org/officeDocument/2006/relationships/image" Target="../media/image27.gif"/><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1.xml"/><Relationship Id="rId7" Type="http://schemas.openxmlformats.org/officeDocument/2006/relationships/image" Target="../media/image31.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150.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1.xml"/><Relationship Id="rId7" Type="http://schemas.openxmlformats.org/officeDocument/2006/relationships/image" Target="../media/image250.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29.png"/><Relationship Id="rId5" Type="http://schemas.openxmlformats.org/officeDocument/2006/relationships/image" Target="../media/image33.png"/><Relationship Id="rId4" Type="http://schemas.openxmlformats.org/officeDocument/2006/relationships/image" Target="../media/image32.png"/></Relationships>
</file>

<file path=ppt/slides/_rels/slide14.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image" Target="../media/image34.jpeg"/><Relationship Id="rId1" Type="http://schemas.openxmlformats.org/officeDocument/2006/relationships/slideLayout" Target="../slideLayouts/slideLayout1.xml"/><Relationship Id="rId5" Type="http://schemas.openxmlformats.org/officeDocument/2006/relationships/image" Target="../media/image180.png"/><Relationship Id="rId4" Type="http://schemas.openxmlformats.org/officeDocument/2006/relationships/image" Target="../media/image35.png"/></Relationships>
</file>

<file path=ppt/slides/_rels/slide1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6.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2.mp4"/><Relationship Id="rId1" Type="http://schemas.microsoft.com/office/2007/relationships/media" Target="../media/media2.mp4"/><Relationship Id="rId5" Type="http://schemas.openxmlformats.org/officeDocument/2006/relationships/image" Target="../media/image41.png"/><Relationship Id="rId4" Type="http://schemas.openxmlformats.org/officeDocument/2006/relationships/notesSlide" Target="../notesSlides/notesSlide1.xml"/></Relationships>
</file>

<file path=ppt/slides/_rels/slide21.xml.rels><?xml version="1.0" encoding="UTF-8" standalone="yes"?>
<Relationships xmlns="http://schemas.openxmlformats.org/package/2006/relationships"><Relationship Id="rId8" Type="http://schemas.openxmlformats.org/officeDocument/2006/relationships/video" Target="../media/media6.mp4"/><Relationship Id="rId13" Type="http://schemas.openxmlformats.org/officeDocument/2006/relationships/image" Target="../media/image44.png"/><Relationship Id="rId18" Type="http://schemas.openxmlformats.org/officeDocument/2006/relationships/image" Target="../media/image49.png"/><Relationship Id="rId3" Type="http://schemas.microsoft.com/office/2007/relationships/media" Target="../media/media4.mp4"/><Relationship Id="rId7" Type="http://schemas.microsoft.com/office/2007/relationships/media" Target="../media/media6.mp4"/><Relationship Id="rId12" Type="http://schemas.openxmlformats.org/officeDocument/2006/relationships/image" Target="../media/image43.png"/><Relationship Id="rId17" Type="http://schemas.openxmlformats.org/officeDocument/2006/relationships/image" Target="../media/image48.png"/><Relationship Id="rId2" Type="http://schemas.openxmlformats.org/officeDocument/2006/relationships/video" Target="../media/media3.mp4"/><Relationship Id="rId16" Type="http://schemas.openxmlformats.org/officeDocument/2006/relationships/image" Target="../media/image47.png"/><Relationship Id="rId1" Type="http://schemas.microsoft.com/office/2007/relationships/media" Target="../media/media3.mp4"/><Relationship Id="rId6" Type="http://schemas.openxmlformats.org/officeDocument/2006/relationships/video" Target="../media/media5.mp4"/><Relationship Id="rId11" Type="http://schemas.openxmlformats.org/officeDocument/2006/relationships/image" Target="../media/image42.png"/><Relationship Id="rId5" Type="http://schemas.microsoft.com/office/2007/relationships/media" Target="../media/media5.mp4"/><Relationship Id="rId15" Type="http://schemas.openxmlformats.org/officeDocument/2006/relationships/image" Target="../media/image46.png"/><Relationship Id="rId10" Type="http://schemas.openxmlformats.org/officeDocument/2006/relationships/image" Target="../media/image32.png"/><Relationship Id="rId4" Type="http://schemas.openxmlformats.org/officeDocument/2006/relationships/video" Target="../media/media4.mp4"/><Relationship Id="rId9" Type="http://schemas.openxmlformats.org/officeDocument/2006/relationships/slideLayout" Target="../slideLayouts/slideLayout1.xml"/><Relationship Id="rId14" Type="http://schemas.openxmlformats.org/officeDocument/2006/relationships/image" Target="../media/image45.png"/></Relationships>
</file>

<file path=ppt/slides/_rels/slide22.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8" Type="http://schemas.openxmlformats.org/officeDocument/2006/relationships/image" Target="../media/image53.png"/><Relationship Id="rId3" Type="http://schemas.microsoft.com/office/2007/relationships/media" Target="../media/media8.mp4"/><Relationship Id="rId7" Type="http://schemas.openxmlformats.org/officeDocument/2006/relationships/image" Target="../media/image52.png"/><Relationship Id="rId2" Type="http://schemas.openxmlformats.org/officeDocument/2006/relationships/video" Target="../media/media7.mp4"/><Relationship Id="rId1" Type="http://schemas.microsoft.com/office/2007/relationships/media" Target="../media/media7.mp4"/><Relationship Id="rId6" Type="http://schemas.openxmlformats.org/officeDocument/2006/relationships/image" Target="../media/image51.png"/><Relationship Id="rId5" Type="http://schemas.openxmlformats.org/officeDocument/2006/relationships/slideLayout" Target="../slideLayouts/slideLayout1.xml"/><Relationship Id="rId4" Type="http://schemas.openxmlformats.org/officeDocument/2006/relationships/video" Target="../media/media8.mp4"/><Relationship Id="rId9" Type="http://schemas.openxmlformats.org/officeDocument/2006/relationships/image" Target="../media/image54.png"/></Relationships>
</file>

<file path=ppt/slides/_rels/slide24.xml.rels><?xml version="1.0" encoding="UTF-8" standalone="yes"?>
<Relationships xmlns="http://schemas.openxmlformats.org/package/2006/relationships"><Relationship Id="rId3" Type="http://schemas.openxmlformats.org/officeDocument/2006/relationships/image" Target="../media/image56.gif"/><Relationship Id="rId2" Type="http://schemas.openxmlformats.org/officeDocument/2006/relationships/image" Target="../media/image55.gif"/><Relationship Id="rId1" Type="http://schemas.openxmlformats.org/officeDocument/2006/relationships/slideLayout" Target="../slideLayouts/slideLayout1.xml"/><Relationship Id="rId4" Type="http://schemas.openxmlformats.org/officeDocument/2006/relationships/image" Target="../media/image57.gif"/></Relationships>
</file>

<file path=ppt/slides/_rels/slide25.xml.rels><?xml version="1.0" encoding="UTF-8" standalone="yes"?>
<Relationships xmlns="http://schemas.openxmlformats.org/package/2006/relationships"><Relationship Id="rId3" Type="http://schemas.openxmlformats.org/officeDocument/2006/relationships/image" Target="../media/image57.gif"/><Relationship Id="rId2" Type="http://schemas.openxmlformats.org/officeDocument/2006/relationships/image" Target="../media/image55.gif"/><Relationship Id="rId1" Type="http://schemas.openxmlformats.org/officeDocument/2006/relationships/slideLayout" Target="../slideLayouts/slideLayout1.xml"/><Relationship Id="rId5" Type="http://schemas.openxmlformats.org/officeDocument/2006/relationships/image" Target="../media/image33.png"/><Relationship Id="rId4" Type="http://schemas.openxmlformats.org/officeDocument/2006/relationships/image" Target="../media/image36.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A716A96C-DC70-D988-8AA8-09873CBFD637}"/>
            </a:ext>
          </a:extLst>
        </p:cNvPr>
        <p:cNvGrpSpPr/>
        <p:nvPr/>
      </p:nvGrpSpPr>
      <p:grpSpPr>
        <a:xfrm>
          <a:off x="0" y="0"/>
          <a:ext cx="0" cy="0"/>
          <a:chOff x="0" y="0"/>
          <a:chExt cx="0" cy="0"/>
        </a:xfrm>
      </p:grpSpPr>
      <p:sp>
        <p:nvSpPr>
          <p:cNvPr id="14" name="Title 1">
            <a:extLst>
              <a:ext uri="{FF2B5EF4-FFF2-40B4-BE49-F238E27FC236}">
                <a16:creationId xmlns:a16="http://schemas.microsoft.com/office/drawing/2014/main" id="{E5B20C39-77A0-C572-44C6-EF9E7D2CCD0F}"/>
              </a:ext>
            </a:extLst>
          </p:cNvPr>
          <p:cNvSpPr txBox="1">
            <a:spLocks/>
          </p:cNvSpPr>
          <p:nvPr/>
        </p:nvSpPr>
        <p:spPr>
          <a:xfrm>
            <a:off x="734717" y="165743"/>
            <a:ext cx="7886700" cy="994172"/>
          </a:xfrm>
          <a:prstGeom prst="rect">
            <a:avLst/>
          </a:prstGeom>
        </p:spPr>
        <p:txBody>
          <a:bodyPr vert="horz" lIns="91440" tIns="45720" rIns="91440" bIns="45720" rtlCol="0" anchor="b">
            <a:normAutofit/>
          </a:bodyPr>
          <a:lstStyle>
            <a:lvl1pPr algn="ctr" defTabSz="685800" rtl="0" eaLnBrk="1" latinLnBrk="0" hangingPunct="1">
              <a:lnSpc>
                <a:spcPct val="90000"/>
              </a:lnSpc>
              <a:spcBef>
                <a:spcPct val="0"/>
              </a:spcBef>
              <a:buNone/>
              <a:defRPr sz="4500" kern="1200">
                <a:solidFill>
                  <a:schemeClr val="tx1"/>
                </a:solidFill>
                <a:latin typeface="+mj-lt"/>
                <a:ea typeface="+mj-ea"/>
                <a:cs typeface="+mj-cs"/>
              </a:defRPr>
            </a:lvl1pPr>
          </a:lstStyle>
          <a:p>
            <a:r>
              <a:rPr lang="en-US" sz="3200" dirty="0">
                <a:solidFill>
                  <a:srgbClr val="FFFF00"/>
                </a:solidFill>
                <a:highlight>
                  <a:srgbClr val="000000"/>
                </a:highlight>
                <a:latin typeface="Helvetica" pitchFamily="2" charset="0"/>
                <a:cs typeface="Calibri" panose="020F0502020204030204" pitchFamily="34" charset="0"/>
              </a:rPr>
              <a:t>Video Imaging</a:t>
            </a:r>
            <a:endParaRPr lang="en-CL" sz="3200" dirty="0">
              <a:solidFill>
                <a:srgbClr val="FFFF00"/>
              </a:solidFill>
              <a:highlight>
                <a:srgbClr val="000000"/>
              </a:highlight>
              <a:latin typeface="Helvetica" pitchFamily="2" charset="0"/>
              <a:cs typeface="Calibri" panose="020F0502020204030204" pitchFamily="34" charset="0"/>
            </a:endParaRPr>
          </a:p>
        </p:txBody>
      </p:sp>
      <p:sp>
        <p:nvSpPr>
          <p:cNvPr id="15" name="TextBox 14">
            <a:extLst>
              <a:ext uri="{FF2B5EF4-FFF2-40B4-BE49-F238E27FC236}">
                <a16:creationId xmlns:a16="http://schemas.microsoft.com/office/drawing/2014/main" id="{CEC96C6A-70C0-827F-602A-FAD2B45753A1}"/>
              </a:ext>
            </a:extLst>
          </p:cNvPr>
          <p:cNvSpPr txBox="1"/>
          <p:nvPr/>
        </p:nvSpPr>
        <p:spPr>
          <a:xfrm>
            <a:off x="3676702" y="2457633"/>
            <a:ext cx="1971063" cy="369332"/>
          </a:xfrm>
          <a:prstGeom prst="rect">
            <a:avLst/>
          </a:prstGeom>
          <a:noFill/>
        </p:spPr>
        <p:txBody>
          <a:bodyPr wrap="square" rtlCol="0">
            <a:spAutoFit/>
          </a:bodyPr>
          <a:lstStyle/>
          <a:p>
            <a:r>
              <a:rPr lang="en-CL" dirty="0">
                <a:solidFill>
                  <a:schemeClr val="bg1"/>
                </a:solidFill>
                <a:latin typeface="Helvetica" pitchFamily="2" charset="0"/>
                <a:cs typeface="Calibri" panose="020F0502020204030204" pitchFamily="34" charset="0"/>
              </a:rPr>
              <a:t>Dr. Nelson Díaz</a:t>
            </a:r>
          </a:p>
        </p:txBody>
      </p:sp>
      <p:sp>
        <p:nvSpPr>
          <p:cNvPr id="16" name="TextBox 15">
            <a:extLst>
              <a:ext uri="{FF2B5EF4-FFF2-40B4-BE49-F238E27FC236}">
                <a16:creationId xmlns:a16="http://schemas.microsoft.com/office/drawing/2014/main" id="{9C11B606-BD97-161B-64FA-74129166FC4E}"/>
              </a:ext>
            </a:extLst>
          </p:cNvPr>
          <p:cNvSpPr txBox="1"/>
          <p:nvPr/>
        </p:nvSpPr>
        <p:spPr>
          <a:xfrm>
            <a:off x="356891" y="2727931"/>
            <a:ext cx="8357067" cy="646331"/>
          </a:xfrm>
          <a:prstGeom prst="rect">
            <a:avLst/>
          </a:prstGeom>
          <a:noFill/>
        </p:spPr>
        <p:txBody>
          <a:bodyPr wrap="square" rtlCol="0">
            <a:spAutoFit/>
          </a:bodyPr>
          <a:lstStyle/>
          <a:p>
            <a:pPr algn="ctr"/>
            <a:r>
              <a:rPr lang="en-US" dirty="0">
                <a:solidFill>
                  <a:schemeClr val="bg1"/>
                </a:solidFill>
                <a:highlight>
                  <a:srgbClr val="000000"/>
                </a:highlight>
                <a:latin typeface="Helvetica" pitchFamily="2" charset="0"/>
              </a:rPr>
              <a:t>Departamento</a:t>
            </a:r>
            <a:r>
              <a:rPr lang="en-US" b="0" i="0" dirty="0">
                <a:solidFill>
                  <a:schemeClr val="bg1"/>
                </a:solidFill>
                <a:effectLst/>
                <a:highlight>
                  <a:srgbClr val="000000"/>
                </a:highlight>
                <a:latin typeface="Helvetica" pitchFamily="2" charset="0"/>
              </a:rPr>
              <a:t> de Ingeniería </a:t>
            </a:r>
            <a:r>
              <a:rPr lang="en-US" dirty="0" err="1">
                <a:solidFill>
                  <a:schemeClr val="bg1"/>
                </a:solidFill>
                <a:highlight>
                  <a:srgbClr val="000000"/>
                </a:highlight>
                <a:latin typeface="Helvetica" pitchFamily="2" charset="0"/>
              </a:rPr>
              <a:t>Informática</a:t>
            </a:r>
            <a:endParaRPr lang="en-US" b="0" i="0" dirty="0">
              <a:solidFill>
                <a:schemeClr val="bg1"/>
              </a:solidFill>
              <a:effectLst/>
              <a:highlight>
                <a:srgbClr val="000000"/>
              </a:highlight>
              <a:latin typeface="Helvetica" pitchFamily="2" charset="0"/>
            </a:endParaRPr>
          </a:p>
          <a:p>
            <a:pPr algn="ctr"/>
            <a:r>
              <a:rPr lang="en-US" dirty="0">
                <a:solidFill>
                  <a:schemeClr val="bg1"/>
                </a:solidFill>
                <a:highlight>
                  <a:srgbClr val="000000"/>
                </a:highlight>
                <a:latin typeface="Helvetica" pitchFamily="2" charset="0"/>
              </a:rPr>
              <a:t>Universidad Técnica Federico Santa María, campus </a:t>
            </a:r>
            <a:r>
              <a:rPr lang="en-US" b="0" i="0" dirty="0">
                <a:solidFill>
                  <a:schemeClr val="bg1"/>
                </a:solidFill>
                <a:effectLst/>
                <a:highlight>
                  <a:srgbClr val="000000"/>
                </a:highlight>
                <a:latin typeface="Helvetica" pitchFamily="2" charset="0"/>
              </a:rPr>
              <a:t>Valparaíso, Chile</a:t>
            </a:r>
          </a:p>
        </p:txBody>
      </p:sp>
      <p:sp>
        <p:nvSpPr>
          <p:cNvPr id="17" name="Content Placeholder 2">
            <a:extLst>
              <a:ext uri="{FF2B5EF4-FFF2-40B4-BE49-F238E27FC236}">
                <a16:creationId xmlns:a16="http://schemas.microsoft.com/office/drawing/2014/main" id="{176160BA-4E47-1BB3-04A4-55E336554F33}"/>
              </a:ext>
            </a:extLst>
          </p:cNvPr>
          <p:cNvSpPr txBox="1">
            <a:spLocks/>
          </p:cNvSpPr>
          <p:nvPr/>
        </p:nvSpPr>
        <p:spPr>
          <a:xfrm>
            <a:off x="1621530" y="3422346"/>
            <a:ext cx="5675366" cy="973250"/>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r>
              <a:rPr lang="en-US" dirty="0" err="1">
                <a:solidFill>
                  <a:schemeClr val="bg1"/>
                </a:solidFill>
                <a:highlight>
                  <a:srgbClr val="000000"/>
                </a:highlight>
                <a:latin typeface="Helvetica" pitchFamily="2" charset="0"/>
              </a:rPr>
              <a:t>nelson.diazd@usm.cl</a:t>
            </a:r>
            <a:endParaRPr lang="en-US" dirty="0">
              <a:solidFill>
                <a:schemeClr val="bg1"/>
              </a:solidFill>
              <a:highlight>
                <a:srgbClr val="000000"/>
              </a:highlight>
              <a:latin typeface="Helvetica" pitchFamily="2" charset="0"/>
            </a:endParaRPr>
          </a:p>
          <a:p>
            <a:r>
              <a:rPr lang="en-US" dirty="0">
                <a:solidFill>
                  <a:schemeClr val="bg1"/>
                </a:solidFill>
                <a:highlight>
                  <a:srgbClr val="000000"/>
                </a:highlight>
                <a:latin typeface="Helvetica" pitchFamily="2" charset="0"/>
              </a:rPr>
              <a:t>Academic website  https://nelson-</a:t>
            </a:r>
            <a:r>
              <a:rPr lang="en-US" dirty="0" err="1">
                <a:solidFill>
                  <a:schemeClr val="bg1"/>
                </a:solidFill>
                <a:highlight>
                  <a:srgbClr val="000000"/>
                </a:highlight>
                <a:latin typeface="Helvetica" pitchFamily="2" charset="0"/>
              </a:rPr>
              <a:t>diaz.com</a:t>
            </a:r>
            <a:r>
              <a:rPr lang="en-US" dirty="0">
                <a:solidFill>
                  <a:schemeClr val="bg1"/>
                </a:solidFill>
                <a:highlight>
                  <a:srgbClr val="000000"/>
                </a:highlight>
                <a:latin typeface="Helvetica" pitchFamily="2" charset="0"/>
              </a:rPr>
              <a:t>/</a:t>
            </a:r>
            <a:endParaRPr lang="en-CL" dirty="0">
              <a:solidFill>
                <a:schemeClr val="bg1"/>
              </a:solidFill>
              <a:highlight>
                <a:srgbClr val="000000"/>
              </a:highlight>
              <a:latin typeface="Helvetica" pitchFamily="2" charset="0"/>
            </a:endParaRPr>
          </a:p>
        </p:txBody>
      </p:sp>
      <p:sp>
        <p:nvSpPr>
          <p:cNvPr id="18" name="Slide Number Placeholder 2">
            <a:extLst>
              <a:ext uri="{FF2B5EF4-FFF2-40B4-BE49-F238E27FC236}">
                <a16:creationId xmlns:a16="http://schemas.microsoft.com/office/drawing/2014/main" id="{1FFE8634-EC91-476D-781F-162B0984C355}"/>
              </a:ext>
            </a:extLst>
          </p:cNvPr>
          <p:cNvSpPr>
            <a:spLocks noGrp="1"/>
          </p:cNvSpPr>
          <p:nvPr>
            <p:ph type="sldNum" sz="quarter" idx="12"/>
          </p:nvPr>
        </p:nvSpPr>
        <p:spPr>
          <a:xfrm>
            <a:off x="6457950" y="4767263"/>
            <a:ext cx="2057400" cy="273844"/>
          </a:xfrm>
        </p:spPr>
        <p:txBody>
          <a:bodyPr/>
          <a:lstStyle/>
          <a:p>
            <a:fld id="{964DA7A4-C80E-2F46-B968-38B4BACCDF09}" type="slidenum">
              <a:rPr lang="en-CL" smtClean="0"/>
              <a:t>1</a:t>
            </a:fld>
            <a:endParaRPr lang="en-CL"/>
          </a:p>
        </p:txBody>
      </p:sp>
      <p:pic>
        <p:nvPicPr>
          <p:cNvPr id="20" name="Picture 19">
            <a:extLst>
              <a:ext uri="{FF2B5EF4-FFF2-40B4-BE49-F238E27FC236}">
                <a16:creationId xmlns:a16="http://schemas.microsoft.com/office/drawing/2014/main" id="{0BBF3C50-7CC0-7026-2140-F30CCC550B35}"/>
              </a:ext>
            </a:extLst>
          </p:cNvPr>
          <p:cNvPicPr>
            <a:picLocks noChangeAspect="1"/>
          </p:cNvPicPr>
          <p:nvPr/>
        </p:nvPicPr>
        <p:blipFill>
          <a:blip r:embed="rId2"/>
          <a:stretch>
            <a:fillRect/>
          </a:stretch>
        </p:blipFill>
        <p:spPr>
          <a:xfrm>
            <a:off x="3435352" y="1103385"/>
            <a:ext cx="2070927" cy="1402390"/>
          </a:xfrm>
          <a:prstGeom prst="rect">
            <a:avLst/>
          </a:prstGeom>
        </p:spPr>
      </p:pic>
      <p:pic>
        <p:nvPicPr>
          <p:cNvPr id="2" name="Picture 1" descr="Universidad Técnica Federico Santa María Logo PNG Vector (SVG) Free Download">
            <a:extLst>
              <a:ext uri="{FF2B5EF4-FFF2-40B4-BE49-F238E27FC236}">
                <a16:creationId xmlns:a16="http://schemas.microsoft.com/office/drawing/2014/main" id="{D6D1FD87-7D3B-FA75-F807-25B6E83148EB}"/>
              </a:ext>
            </a:extLst>
          </p:cNvPr>
          <p:cNvPicPr>
            <a:picLocks noChangeAspect="1"/>
          </p:cNvPicPr>
          <p:nvPr/>
        </p:nvPicPr>
        <p:blipFill>
          <a:blip r:embed="rId3"/>
          <a:srcRect l="11257" t="40623" r="12494" b="40830"/>
          <a:stretch>
            <a:fillRect/>
          </a:stretch>
        </p:blipFill>
        <p:spPr>
          <a:xfrm>
            <a:off x="2965837" y="4261900"/>
            <a:ext cx="2941982" cy="715617"/>
          </a:xfrm>
          <a:prstGeom prst="rect">
            <a:avLst/>
          </a:prstGeom>
        </p:spPr>
      </p:pic>
    </p:spTree>
    <p:extLst>
      <p:ext uri="{BB962C8B-B14F-4D97-AF65-F5344CB8AC3E}">
        <p14:creationId xmlns:p14="http://schemas.microsoft.com/office/powerpoint/2010/main" val="4644336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4441F834-E4E5-9DE8-E6AE-05A500209EB1}"/>
            </a:ext>
          </a:extLst>
        </p:cNvPr>
        <p:cNvGrpSpPr/>
        <p:nvPr/>
      </p:nvGrpSpPr>
      <p:grpSpPr>
        <a:xfrm>
          <a:off x="0" y="0"/>
          <a:ext cx="0" cy="0"/>
          <a:chOff x="0" y="0"/>
          <a:chExt cx="0" cy="0"/>
        </a:xfrm>
      </p:grpSpPr>
      <p:sp>
        <p:nvSpPr>
          <p:cNvPr id="2" name="Slide Number Placeholder 2">
            <a:extLst>
              <a:ext uri="{FF2B5EF4-FFF2-40B4-BE49-F238E27FC236}">
                <a16:creationId xmlns:a16="http://schemas.microsoft.com/office/drawing/2014/main" id="{E571A4F4-CF89-25FD-19D7-FD6073750BF8}"/>
              </a:ext>
            </a:extLst>
          </p:cNvPr>
          <p:cNvSpPr>
            <a:spLocks noGrp="1"/>
          </p:cNvSpPr>
          <p:nvPr>
            <p:ph type="sldNum" sz="quarter" idx="12"/>
          </p:nvPr>
        </p:nvSpPr>
        <p:spPr>
          <a:xfrm>
            <a:off x="6457950" y="4767263"/>
            <a:ext cx="2057400" cy="273844"/>
          </a:xfrm>
        </p:spPr>
        <p:txBody>
          <a:bodyPr/>
          <a:lstStyle/>
          <a:p>
            <a:fld id="{964DA7A4-C80E-2F46-B968-38B4BACCDF09}" type="slidenum">
              <a:rPr lang="en-CL" smtClean="0"/>
              <a:t>2</a:t>
            </a:fld>
            <a:endParaRPr lang="en-CL"/>
          </a:p>
        </p:txBody>
      </p:sp>
      <p:sp>
        <p:nvSpPr>
          <p:cNvPr id="3" name="Slide Number Placeholder 2">
            <a:extLst>
              <a:ext uri="{FF2B5EF4-FFF2-40B4-BE49-F238E27FC236}">
                <a16:creationId xmlns:a16="http://schemas.microsoft.com/office/drawing/2014/main" id="{2D020BCB-406A-4F9A-8738-A327DE7B1266}"/>
              </a:ext>
            </a:extLst>
          </p:cNvPr>
          <p:cNvSpPr txBox="1">
            <a:spLocks/>
          </p:cNvSpPr>
          <p:nvPr/>
        </p:nvSpPr>
        <p:spPr>
          <a:xfrm>
            <a:off x="6457950" y="4767263"/>
            <a:ext cx="2057400" cy="273844"/>
          </a:xfrm>
          <a:prstGeom prst="rect">
            <a:avLst/>
          </a:prstGeom>
        </p:spPr>
        <p:txBody>
          <a:bodyPr vert="horz" lIns="91440" tIns="45720" rIns="91440" bIns="45720" rtlCol="0" anchor="ctr"/>
          <a:lstStyle>
            <a:defPPr>
              <a:defRPr lang="en-CL"/>
            </a:defPPr>
            <a:lvl1pPr marL="0" algn="r" defTabSz="914400" rtl="0" eaLnBrk="1" latinLnBrk="0" hangingPunct="1">
              <a:defRPr sz="9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64DA7A4-C80E-2F46-B968-38B4BACCDF09}" type="slidenum">
              <a:rPr lang="en-CL" smtClean="0"/>
              <a:pPr/>
              <a:t>2</a:t>
            </a:fld>
            <a:endParaRPr lang="en-CL"/>
          </a:p>
        </p:txBody>
      </p:sp>
      <p:sp>
        <p:nvSpPr>
          <p:cNvPr id="4" name="Title 1">
            <a:extLst>
              <a:ext uri="{FF2B5EF4-FFF2-40B4-BE49-F238E27FC236}">
                <a16:creationId xmlns:a16="http://schemas.microsoft.com/office/drawing/2014/main" id="{9EEC3EA1-DFA4-1818-4C06-42194C898212}"/>
              </a:ext>
            </a:extLst>
          </p:cNvPr>
          <p:cNvSpPr txBox="1">
            <a:spLocks/>
          </p:cNvSpPr>
          <p:nvPr/>
        </p:nvSpPr>
        <p:spPr>
          <a:xfrm>
            <a:off x="516804" y="134663"/>
            <a:ext cx="7886700" cy="994172"/>
          </a:xfrm>
          <a:prstGeom prst="rect">
            <a:avLst/>
          </a:prstGeom>
        </p:spPr>
        <p:txBody>
          <a:bodyPr vert="horz" lIns="91440" tIns="45720" rIns="91440" bIns="45720" rtlCol="0" anchor="b">
            <a:normAutofit/>
          </a:bodyPr>
          <a:lstStyle>
            <a:lvl1pPr algn="ctr" defTabSz="685800" rtl="0" eaLnBrk="1" latinLnBrk="0" hangingPunct="1">
              <a:lnSpc>
                <a:spcPct val="90000"/>
              </a:lnSpc>
              <a:spcBef>
                <a:spcPct val="0"/>
              </a:spcBef>
              <a:buNone/>
              <a:defRPr sz="4500" kern="1200">
                <a:solidFill>
                  <a:schemeClr val="tx1"/>
                </a:solidFill>
                <a:latin typeface="+mj-lt"/>
                <a:ea typeface="+mj-ea"/>
                <a:cs typeface="+mj-cs"/>
              </a:defRPr>
            </a:lvl1pPr>
          </a:lstStyle>
          <a:p>
            <a:r>
              <a:rPr lang="en-US" dirty="0">
                <a:solidFill>
                  <a:srgbClr val="FFFF00"/>
                </a:solidFill>
                <a:highlight>
                  <a:srgbClr val="000000"/>
                </a:highlight>
                <a:latin typeface="Calibri" panose="020F0502020204030204" pitchFamily="34" charset="0"/>
                <a:cs typeface="Calibri" panose="020F0502020204030204" pitchFamily="34" charset="0"/>
              </a:rPr>
              <a:t>Computational Photography</a:t>
            </a:r>
            <a:endParaRPr lang="en-CL" dirty="0">
              <a:solidFill>
                <a:srgbClr val="FFFF00"/>
              </a:solidFill>
              <a:highlight>
                <a:srgbClr val="000000"/>
              </a:highlight>
              <a:latin typeface="Calibri" panose="020F0502020204030204" pitchFamily="34" charset="0"/>
              <a:cs typeface="Calibri" panose="020F0502020204030204" pitchFamily="34" charset="0"/>
            </a:endParaRPr>
          </a:p>
        </p:txBody>
      </p:sp>
      <p:pic>
        <p:nvPicPr>
          <p:cNvPr id="2050" name="Picture 2" descr="Computational Photography Group – CPhoto@FIT | Computational Photography  Group at Faculty of Information Technology, Brno University of Technology">
            <a:extLst>
              <a:ext uri="{FF2B5EF4-FFF2-40B4-BE49-F238E27FC236}">
                <a16:creationId xmlns:a16="http://schemas.microsoft.com/office/drawing/2014/main" id="{39596876-1BB3-54F1-ECB6-17E99D5D926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4537" y="1672389"/>
            <a:ext cx="6118762" cy="2922346"/>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D44E6B68-E73F-FFD6-2F0B-3C139AD76B0C}"/>
              </a:ext>
            </a:extLst>
          </p:cNvPr>
          <p:cNvSpPr txBox="1"/>
          <p:nvPr/>
        </p:nvSpPr>
        <p:spPr>
          <a:xfrm>
            <a:off x="6550555" y="1904162"/>
            <a:ext cx="2509224" cy="2585323"/>
          </a:xfrm>
          <a:prstGeom prst="rect">
            <a:avLst/>
          </a:prstGeom>
          <a:noFill/>
        </p:spPr>
        <p:txBody>
          <a:bodyPr wrap="square" rtlCol="0">
            <a:spAutoFit/>
          </a:bodyPr>
          <a:lstStyle/>
          <a:p>
            <a:r>
              <a:rPr lang="en-CL" dirty="0">
                <a:solidFill>
                  <a:schemeClr val="accent6"/>
                </a:solidFill>
              </a:rPr>
              <a:t>Areas:</a:t>
            </a:r>
          </a:p>
          <a:p>
            <a:endParaRPr lang="en-CL" dirty="0">
              <a:solidFill>
                <a:schemeClr val="accent6"/>
              </a:solidFill>
            </a:endParaRPr>
          </a:p>
          <a:p>
            <a:pPr marL="285750" indent="-285750">
              <a:buFont typeface="Arial" panose="020B0604020202020204" pitchFamily="34" charset="0"/>
              <a:buChar char="•"/>
            </a:pPr>
            <a:r>
              <a:rPr lang="en-CL" dirty="0">
                <a:solidFill>
                  <a:schemeClr val="accent6"/>
                </a:solidFill>
              </a:rPr>
              <a:t>Computer Science</a:t>
            </a:r>
          </a:p>
          <a:p>
            <a:pPr marL="285750" indent="-285750">
              <a:buFont typeface="Arial" panose="020B0604020202020204" pitchFamily="34" charset="0"/>
              <a:buChar char="•"/>
            </a:pPr>
            <a:r>
              <a:rPr lang="en-CL" dirty="0">
                <a:solidFill>
                  <a:schemeClr val="accent6"/>
                </a:solidFill>
              </a:rPr>
              <a:t>Electrical Engineering and Electronics</a:t>
            </a:r>
          </a:p>
          <a:p>
            <a:pPr marL="285750" indent="-285750">
              <a:buFont typeface="Arial" panose="020B0604020202020204" pitchFamily="34" charset="0"/>
              <a:buChar char="•"/>
            </a:pPr>
            <a:r>
              <a:rPr lang="en-CL" dirty="0">
                <a:solidFill>
                  <a:schemeClr val="accent6"/>
                </a:solidFill>
              </a:rPr>
              <a:t>Maths</a:t>
            </a:r>
          </a:p>
          <a:p>
            <a:pPr marL="285750" indent="-285750">
              <a:buFont typeface="Arial" panose="020B0604020202020204" pitchFamily="34" charset="0"/>
              <a:buChar char="•"/>
            </a:pPr>
            <a:r>
              <a:rPr lang="en-CL" dirty="0">
                <a:solidFill>
                  <a:schemeClr val="accent6"/>
                </a:solidFill>
              </a:rPr>
              <a:t>Physics (optics)</a:t>
            </a:r>
          </a:p>
          <a:p>
            <a:endParaRPr lang="en-CL" dirty="0">
              <a:solidFill>
                <a:schemeClr val="accent6"/>
              </a:solidFill>
            </a:endParaRPr>
          </a:p>
        </p:txBody>
      </p:sp>
    </p:spTree>
    <p:extLst>
      <p:ext uri="{BB962C8B-B14F-4D97-AF65-F5344CB8AC3E}">
        <p14:creationId xmlns:p14="http://schemas.microsoft.com/office/powerpoint/2010/main" val="2212576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1A371387-350F-2007-A4B1-C09D12A4AE70}"/>
            </a:ext>
          </a:extLst>
        </p:cNvPr>
        <p:cNvGrpSpPr/>
        <p:nvPr/>
      </p:nvGrpSpPr>
      <p:grpSpPr>
        <a:xfrm>
          <a:off x="0" y="0"/>
          <a:ext cx="0" cy="0"/>
          <a:chOff x="0" y="0"/>
          <a:chExt cx="0" cy="0"/>
        </a:xfrm>
      </p:grpSpPr>
      <p:sp>
        <p:nvSpPr>
          <p:cNvPr id="2" name="Slide Number Placeholder 2">
            <a:extLst>
              <a:ext uri="{FF2B5EF4-FFF2-40B4-BE49-F238E27FC236}">
                <a16:creationId xmlns:a16="http://schemas.microsoft.com/office/drawing/2014/main" id="{B42FE26C-46E6-452A-CC32-F008001A1824}"/>
              </a:ext>
            </a:extLst>
          </p:cNvPr>
          <p:cNvSpPr>
            <a:spLocks noGrp="1"/>
          </p:cNvSpPr>
          <p:nvPr>
            <p:ph type="sldNum" sz="quarter" idx="12"/>
          </p:nvPr>
        </p:nvSpPr>
        <p:spPr>
          <a:xfrm>
            <a:off x="6457950" y="4767263"/>
            <a:ext cx="2057400" cy="273844"/>
          </a:xfrm>
        </p:spPr>
        <p:txBody>
          <a:bodyPr/>
          <a:lstStyle/>
          <a:p>
            <a:fld id="{964DA7A4-C80E-2F46-B968-38B4BACCDF09}" type="slidenum">
              <a:rPr lang="en-CL" smtClean="0"/>
              <a:t>3</a:t>
            </a:fld>
            <a:endParaRPr lang="en-CL"/>
          </a:p>
        </p:txBody>
      </p:sp>
      <p:sp>
        <p:nvSpPr>
          <p:cNvPr id="3" name="Slide Number Placeholder 2">
            <a:extLst>
              <a:ext uri="{FF2B5EF4-FFF2-40B4-BE49-F238E27FC236}">
                <a16:creationId xmlns:a16="http://schemas.microsoft.com/office/drawing/2014/main" id="{A5AB450C-63BE-09E1-E38D-65944433788A}"/>
              </a:ext>
            </a:extLst>
          </p:cNvPr>
          <p:cNvSpPr txBox="1">
            <a:spLocks/>
          </p:cNvSpPr>
          <p:nvPr/>
        </p:nvSpPr>
        <p:spPr>
          <a:xfrm>
            <a:off x="6457950" y="4767263"/>
            <a:ext cx="2057400" cy="273844"/>
          </a:xfrm>
          <a:prstGeom prst="rect">
            <a:avLst/>
          </a:prstGeom>
        </p:spPr>
        <p:txBody>
          <a:bodyPr vert="horz" lIns="91440" tIns="45720" rIns="91440" bIns="45720" rtlCol="0" anchor="ctr"/>
          <a:lstStyle>
            <a:defPPr>
              <a:defRPr lang="en-CL"/>
            </a:defPPr>
            <a:lvl1pPr marL="0" algn="r" defTabSz="914400" rtl="0" eaLnBrk="1" latinLnBrk="0" hangingPunct="1">
              <a:defRPr sz="9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64DA7A4-C80E-2F46-B968-38B4BACCDF09}" type="slidenum">
              <a:rPr lang="en-CL" smtClean="0"/>
              <a:pPr/>
              <a:t>3</a:t>
            </a:fld>
            <a:endParaRPr lang="en-CL"/>
          </a:p>
        </p:txBody>
      </p:sp>
      <p:sp>
        <p:nvSpPr>
          <p:cNvPr id="4" name="Title 1">
            <a:extLst>
              <a:ext uri="{FF2B5EF4-FFF2-40B4-BE49-F238E27FC236}">
                <a16:creationId xmlns:a16="http://schemas.microsoft.com/office/drawing/2014/main" id="{F0345257-BB99-F94E-DAC0-0E3CE23C16D1}"/>
              </a:ext>
            </a:extLst>
          </p:cNvPr>
          <p:cNvSpPr txBox="1">
            <a:spLocks/>
          </p:cNvSpPr>
          <p:nvPr/>
        </p:nvSpPr>
        <p:spPr>
          <a:xfrm>
            <a:off x="516804" y="134663"/>
            <a:ext cx="7886700" cy="994172"/>
          </a:xfrm>
          <a:prstGeom prst="rect">
            <a:avLst/>
          </a:prstGeom>
        </p:spPr>
        <p:txBody>
          <a:bodyPr vert="horz" lIns="91440" tIns="45720" rIns="91440" bIns="45720" rtlCol="0" anchor="b">
            <a:normAutofit/>
          </a:bodyPr>
          <a:lstStyle>
            <a:lvl1pPr algn="ctr" defTabSz="685800" rtl="0" eaLnBrk="1" latinLnBrk="0" hangingPunct="1">
              <a:lnSpc>
                <a:spcPct val="90000"/>
              </a:lnSpc>
              <a:spcBef>
                <a:spcPct val="0"/>
              </a:spcBef>
              <a:buNone/>
              <a:defRPr sz="4500" kern="1200">
                <a:solidFill>
                  <a:schemeClr val="tx1"/>
                </a:solidFill>
                <a:latin typeface="+mj-lt"/>
                <a:ea typeface="+mj-ea"/>
                <a:cs typeface="+mj-cs"/>
              </a:defRPr>
            </a:lvl1pPr>
          </a:lstStyle>
          <a:p>
            <a:r>
              <a:rPr lang="en-US" dirty="0">
                <a:solidFill>
                  <a:srgbClr val="FFFF00"/>
                </a:solidFill>
                <a:highlight>
                  <a:srgbClr val="000000"/>
                </a:highlight>
                <a:latin typeface="Calibri" panose="020F0502020204030204" pitchFamily="34" charset="0"/>
                <a:cs typeface="Calibri" panose="020F0502020204030204" pitchFamily="34" charset="0"/>
              </a:rPr>
              <a:t>Computational Photography</a:t>
            </a:r>
            <a:endParaRPr lang="en-CL" dirty="0">
              <a:solidFill>
                <a:srgbClr val="FFFF00"/>
              </a:solidFill>
              <a:highlight>
                <a:srgbClr val="000000"/>
              </a:highlight>
              <a:latin typeface="Calibri" panose="020F0502020204030204" pitchFamily="34" charset="0"/>
              <a:cs typeface="Calibri" panose="020F0502020204030204" pitchFamily="34" charset="0"/>
            </a:endParaRPr>
          </a:p>
        </p:txBody>
      </p:sp>
      <p:pic>
        <p:nvPicPr>
          <p:cNvPr id="13" name="Picture 12">
            <a:extLst>
              <a:ext uri="{FF2B5EF4-FFF2-40B4-BE49-F238E27FC236}">
                <a16:creationId xmlns:a16="http://schemas.microsoft.com/office/drawing/2014/main" id="{E1747799-FDFC-93C4-1035-1D07406E9F17}"/>
              </a:ext>
            </a:extLst>
          </p:cNvPr>
          <p:cNvPicPr>
            <a:picLocks noChangeAspect="1"/>
          </p:cNvPicPr>
          <p:nvPr/>
        </p:nvPicPr>
        <p:blipFill>
          <a:blip r:embed="rId2"/>
          <a:srcRect l="45767"/>
          <a:stretch>
            <a:fillRect/>
          </a:stretch>
        </p:blipFill>
        <p:spPr>
          <a:xfrm>
            <a:off x="382129" y="1319455"/>
            <a:ext cx="5000903" cy="3667957"/>
          </a:xfrm>
          <a:prstGeom prst="rect">
            <a:avLst/>
          </a:prstGeom>
        </p:spPr>
      </p:pic>
      <p:sp>
        <p:nvSpPr>
          <p:cNvPr id="14" name="TextBox 13">
            <a:extLst>
              <a:ext uri="{FF2B5EF4-FFF2-40B4-BE49-F238E27FC236}">
                <a16:creationId xmlns:a16="http://schemas.microsoft.com/office/drawing/2014/main" id="{E791BD6C-0D00-5745-838A-512BDB0DF78B}"/>
              </a:ext>
            </a:extLst>
          </p:cNvPr>
          <p:cNvSpPr txBox="1"/>
          <p:nvPr/>
        </p:nvSpPr>
        <p:spPr>
          <a:xfrm>
            <a:off x="5804598" y="1446962"/>
            <a:ext cx="3339402" cy="3139321"/>
          </a:xfrm>
          <a:prstGeom prst="rect">
            <a:avLst/>
          </a:prstGeom>
          <a:noFill/>
        </p:spPr>
        <p:txBody>
          <a:bodyPr wrap="square" rtlCol="0">
            <a:spAutoFit/>
          </a:bodyPr>
          <a:lstStyle/>
          <a:p>
            <a:r>
              <a:rPr lang="en-CL" dirty="0">
                <a:solidFill>
                  <a:schemeClr val="accent6"/>
                </a:solidFill>
              </a:rPr>
              <a:t>Goal:</a:t>
            </a:r>
          </a:p>
          <a:p>
            <a:endParaRPr lang="en-CL" dirty="0">
              <a:solidFill>
                <a:schemeClr val="accent6"/>
              </a:solidFill>
            </a:endParaRPr>
          </a:p>
          <a:p>
            <a:pPr marL="285750" indent="-285750">
              <a:buFont typeface="Arial" panose="020B0604020202020204" pitchFamily="34" charset="0"/>
              <a:buChar char="•"/>
            </a:pPr>
            <a:r>
              <a:rPr lang="en-CL" dirty="0">
                <a:solidFill>
                  <a:schemeClr val="accent6"/>
                </a:solidFill>
              </a:rPr>
              <a:t>To capture and recover singal in many dimensions</a:t>
            </a:r>
          </a:p>
          <a:p>
            <a:pPr marL="285750" indent="-285750">
              <a:buFont typeface="Arial" panose="020B0604020202020204" pitchFamily="34" charset="0"/>
              <a:buChar char="•"/>
            </a:pPr>
            <a:endParaRPr lang="en-CL" dirty="0">
              <a:solidFill>
                <a:schemeClr val="accent6"/>
              </a:solidFill>
            </a:endParaRPr>
          </a:p>
          <a:p>
            <a:r>
              <a:rPr lang="en-CL" dirty="0">
                <a:solidFill>
                  <a:schemeClr val="accent6"/>
                </a:solidFill>
              </a:rPr>
              <a:t>To design</a:t>
            </a:r>
          </a:p>
          <a:p>
            <a:endParaRPr lang="en-CL" dirty="0">
              <a:solidFill>
                <a:schemeClr val="accent6"/>
              </a:solidFill>
            </a:endParaRPr>
          </a:p>
          <a:p>
            <a:pPr marL="285750" indent="-285750">
              <a:buFont typeface="Arial" panose="020B0604020202020204" pitchFamily="34" charset="0"/>
              <a:buChar char="•"/>
            </a:pPr>
            <a:r>
              <a:rPr lang="en-CL" dirty="0">
                <a:solidFill>
                  <a:schemeClr val="accent6"/>
                </a:solidFill>
              </a:rPr>
              <a:t>Hardward</a:t>
            </a:r>
          </a:p>
          <a:p>
            <a:pPr marL="285750" indent="-285750">
              <a:buFont typeface="Arial" panose="020B0604020202020204" pitchFamily="34" charset="0"/>
              <a:buChar char="•"/>
            </a:pPr>
            <a:r>
              <a:rPr lang="en-CL" dirty="0">
                <a:solidFill>
                  <a:schemeClr val="accent6"/>
                </a:solidFill>
              </a:rPr>
              <a:t>Software--algorithm to solve the inverse problem--</a:t>
            </a:r>
          </a:p>
          <a:p>
            <a:endParaRPr lang="en-CL" dirty="0">
              <a:solidFill>
                <a:schemeClr val="accent6"/>
              </a:solidFill>
            </a:endParaRPr>
          </a:p>
        </p:txBody>
      </p:sp>
    </p:spTree>
    <p:extLst>
      <p:ext uri="{BB962C8B-B14F-4D97-AF65-F5344CB8AC3E}">
        <p14:creationId xmlns:p14="http://schemas.microsoft.com/office/powerpoint/2010/main" val="8131716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736FD64E-7937-4EC8-72D8-8385DAE75F18}"/>
            </a:ext>
          </a:extLst>
        </p:cNvPr>
        <p:cNvGrpSpPr/>
        <p:nvPr/>
      </p:nvGrpSpPr>
      <p:grpSpPr>
        <a:xfrm>
          <a:off x="0" y="0"/>
          <a:ext cx="0" cy="0"/>
          <a:chOff x="0" y="0"/>
          <a:chExt cx="0" cy="0"/>
        </a:xfrm>
      </p:grpSpPr>
      <p:sp>
        <p:nvSpPr>
          <p:cNvPr id="2" name="Slide Number Placeholder 2">
            <a:extLst>
              <a:ext uri="{FF2B5EF4-FFF2-40B4-BE49-F238E27FC236}">
                <a16:creationId xmlns:a16="http://schemas.microsoft.com/office/drawing/2014/main" id="{C9AA2EAC-2DAA-C84C-FA75-AC5EFF3D9C42}"/>
              </a:ext>
            </a:extLst>
          </p:cNvPr>
          <p:cNvSpPr>
            <a:spLocks noGrp="1"/>
          </p:cNvSpPr>
          <p:nvPr>
            <p:ph type="sldNum" sz="quarter" idx="12"/>
          </p:nvPr>
        </p:nvSpPr>
        <p:spPr>
          <a:xfrm>
            <a:off x="275684" y="8093282"/>
            <a:ext cx="2057400" cy="273844"/>
          </a:xfrm>
        </p:spPr>
        <p:txBody>
          <a:bodyPr/>
          <a:lstStyle/>
          <a:p>
            <a:fld id="{964DA7A4-C80E-2F46-B968-38B4BACCDF09}" type="slidenum">
              <a:rPr lang="en-CL" smtClean="0"/>
              <a:t>4</a:t>
            </a:fld>
            <a:endParaRPr lang="en-CL"/>
          </a:p>
        </p:txBody>
      </p:sp>
      <p:sp>
        <p:nvSpPr>
          <p:cNvPr id="3" name="Slide Number Placeholder 2">
            <a:extLst>
              <a:ext uri="{FF2B5EF4-FFF2-40B4-BE49-F238E27FC236}">
                <a16:creationId xmlns:a16="http://schemas.microsoft.com/office/drawing/2014/main" id="{8703F026-F7E3-D642-C2A3-FF4FA267EC59}"/>
              </a:ext>
            </a:extLst>
          </p:cNvPr>
          <p:cNvSpPr txBox="1">
            <a:spLocks/>
          </p:cNvSpPr>
          <p:nvPr/>
        </p:nvSpPr>
        <p:spPr>
          <a:xfrm>
            <a:off x="275684" y="8093282"/>
            <a:ext cx="2057400" cy="273844"/>
          </a:xfrm>
          <a:prstGeom prst="rect">
            <a:avLst/>
          </a:prstGeom>
        </p:spPr>
        <p:txBody>
          <a:bodyPr vert="horz" lIns="91440" tIns="45720" rIns="91440" bIns="45720" rtlCol="0" anchor="ctr"/>
          <a:lstStyle>
            <a:defPPr>
              <a:defRPr lang="en-CL"/>
            </a:defPPr>
            <a:lvl1pPr marL="0" algn="r" defTabSz="914400" rtl="0" eaLnBrk="1" latinLnBrk="0" hangingPunct="1">
              <a:defRPr sz="9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64DA7A4-C80E-2F46-B968-38B4BACCDF09}" type="slidenum">
              <a:rPr lang="en-CL" smtClean="0"/>
              <a:pPr/>
              <a:t>4</a:t>
            </a:fld>
            <a:endParaRPr lang="en-CL"/>
          </a:p>
        </p:txBody>
      </p:sp>
      <p:sp>
        <p:nvSpPr>
          <p:cNvPr id="4" name="Title 1">
            <a:extLst>
              <a:ext uri="{FF2B5EF4-FFF2-40B4-BE49-F238E27FC236}">
                <a16:creationId xmlns:a16="http://schemas.microsoft.com/office/drawing/2014/main" id="{55297C90-7550-B14B-626C-8074EAB43E12}"/>
              </a:ext>
            </a:extLst>
          </p:cNvPr>
          <p:cNvSpPr txBox="1">
            <a:spLocks/>
          </p:cNvSpPr>
          <p:nvPr/>
        </p:nvSpPr>
        <p:spPr>
          <a:xfrm>
            <a:off x="93440" y="-264695"/>
            <a:ext cx="8918213" cy="994172"/>
          </a:xfrm>
          <a:prstGeom prst="rect">
            <a:avLst/>
          </a:prstGeom>
        </p:spPr>
        <p:txBody>
          <a:bodyPr vert="horz" lIns="91440" tIns="45720" rIns="91440" bIns="45720" rtlCol="0" anchor="b">
            <a:normAutofit fontScale="85000" lnSpcReduction="10000"/>
          </a:bodyPr>
          <a:lstStyle>
            <a:lvl1pPr algn="ctr" defTabSz="685800" rtl="0" eaLnBrk="1" latinLnBrk="0" hangingPunct="1">
              <a:lnSpc>
                <a:spcPct val="90000"/>
              </a:lnSpc>
              <a:spcBef>
                <a:spcPct val="0"/>
              </a:spcBef>
              <a:buNone/>
              <a:defRPr sz="4500" kern="1200">
                <a:solidFill>
                  <a:schemeClr val="tx1"/>
                </a:solidFill>
                <a:latin typeface="+mj-lt"/>
                <a:ea typeface="+mj-ea"/>
                <a:cs typeface="+mj-cs"/>
              </a:defRPr>
            </a:lvl1pPr>
          </a:lstStyle>
          <a:p>
            <a:r>
              <a:rPr lang="en-US" dirty="0">
                <a:solidFill>
                  <a:srgbClr val="FFFF00"/>
                </a:solidFill>
                <a:highlight>
                  <a:srgbClr val="000000"/>
                </a:highlight>
                <a:latin typeface="Calibri" panose="020F0502020204030204" pitchFamily="34" charset="0"/>
                <a:cs typeface="Calibri" panose="020F0502020204030204" pitchFamily="34" charset="0"/>
              </a:rPr>
              <a:t>Computational Photography: Applications</a:t>
            </a:r>
            <a:endParaRPr lang="en-CL" dirty="0">
              <a:solidFill>
                <a:srgbClr val="FFFF00"/>
              </a:solidFill>
              <a:highlight>
                <a:srgbClr val="000000"/>
              </a:highlight>
              <a:latin typeface="Calibri" panose="020F0502020204030204" pitchFamily="34" charset="0"/>
              <a:cs typeface="Calibri" panose="020F0502020204030204" pitchFamily="34" charset="0"/>
            </a:endParaRPr>
          </a:p>
        </p:txBody>
      </p:sp>
      <p:grpSp>
        <p:nvGrpSpPr>
          <p:cNvPr id="5" name="Group 4">
            <a:extLst>
              <a:ext uri="{FF2B5EF4-FFF2-40B4-BE49-F238E27FC236}">
                <a16:creationId xmlns:a16="http://schemas.microsoft.com/office/drawing/2014/main" id="{81D59D2C-8371-B13D-C322-5D8DC1A47BC3}"/>
              </a:ext>
            </a:extLst>
          </p:cNvPr>
          <p:cNvGrpSpPr/>
          <p:nvPr/>
        </p:nvGrpSpPr>
        <p:grpSpPr>
          <a:xfrm>
            <a:off x="370146" y="1515487"/>
            <a:ext cx="2843781" cy="1801050"/>
            <a:chOff x="4514497" y="1096058"/>
            <a:chExt cx="2843781" cy="1801050"/>
          </a:xfrm>
        </p:grpSpPr>
        <p:pic>
          <p:nvPicPr>
            <p:cNvPr id="6" name="Picture 5">
              <a:extLst>
                <a:ext uri="{FF2B5EF4-FFF2-40B4-BE49-F238E27FC236}">
                  <a16:creationId xmlns:a16="http://schemas.microsoft.com/office/drawing/2014/main" id="{FC8A81AC-5B02-2879-8385-BC1811B5AB71}"/>
                </a:ext>
              </a:extLst>
            </p:cNvPr>
            <p:cNvPicPr>
              <a:picLocks noChangeAspect="1"/>
            </p:cNvPicPr>
            <p:nvPr/>
          </p:nvPicPr>
          <p:blipFill>
            <a:blip r:embed="rId2"/>
            <a:stretch>
              <a:fillRect/>
            </a:stretch>
          </p:blipFill>
          <p:spPr>
            <a:xfrm>
              <a:off x="5840176" y="1401006"/>
              <a:ext cx="1518102" cy="1496101"/>
            </a:xfrm>
            <a:prstGeom prst="rect">
              <a:avLst/>
            </a:prstGeom>
          </p:spPr>
        </p:pic>
        <p:grpSp>
          <p:nvGrpSpPr>
            <p:cNvPr id="7" name="Group 6">
              <a:extLst>
                <a:ext uri="{FF2B5EF4-FFF2-40B4-BE49-F238E27FC236}">
                  <a16:creationId xmlns:a16="http://schemas.microsoft.com/office/drawing/2014/main" id="{58DF8084-C2E0-6EF6-EC26-3EBEBC0314B8}"/>
                </a:ext>
              </a:extLst>
            </p:cNvPr>
            <p:cNvGrpSpPr/>
            <p:nvPr/>
          </p:nvGrpSpPr>
          <p:grpSpPr>
            <a:xfrm>
              <a:off x="4514497" y="1096058"/>
              <a:ext cx="2218066" cy="1801050"/>
              <a:chOff x="4514497" y="1096058"/>
              <a:chExt cx="2218066" cy="1801050"/>
            </a:xfrm>
          </p:grpSpPr>
          <p:pic>
            <p:nvPicPr>
              <p:cNvPr id="8" name="Picture 7">
                <a:extLst>
                  <a:ext uri="{FF2B5EF4-FFF2-40B4-BE49-F238E27FC236}">
                    <a16:creationId xmlns:a16="http://schemas.microsoft.com/office/drawing/2014/main" id="{6C7FBFA5-AB5D-2123-5226-92C9BA9EAFDA}"/>
                  </a:ext>
                </a:extLst>
              </p:cNvPr>
              <p:cNvPicPr>
                <a:picLocks noChangeAspect="1"/>
              </p:cNvPicPr>
              <p:nvPr/>
            </p:nvPicPr>
            <p:blipFill>
              <a:blip r:embed="rId3"/>
              <a:stretch>
                <a:fillRect/>
              </a:stretch>
            </p:blipFill>
            <p:spPr>
              <a:xfrm>
                <a:off x="4514497" y="1394233"/>
                <a:ext cx="1277444" cy="1502875"/>
              </a:xfrm>
              <a:prstGeom prst="rect">
                <a:avLst/>
              </a:prstGeom>
            </p:spPr>
          </p:pic>
          <p:sp>
            <p:nvSpPr>
              <p:cNvPr id="9" name="Content Placeholder 2">
                <a:extLst>
                  <a:ext uri="{FF2B5EF4-FFF2-40B4-BE49-F238E27FC236}">
                    <a16:creationId xmlns:a16="http://schemas.microsoft.com/office/drawing/2014/main" id="{86C5FD2B-688A-4970-4D99-6B4BFF9B7B28}"/>
                  </a:ext>
                </a:extLst>
              </p:cNvPr>
              <p:cNvSpPr txBox="1">
                <a:spLocks/>
              </p:cNvSpPr>
              <p:nvPr/>
            </p:nvSpPr>
            <p:spPr>
              <a:xfrm>
                <a:off x="5219719" y="1096058"/>
                <a:ext cx="1512844" cy="427923"/>
              </a:xfrm>
              <a:prstGeom prst="rect">
                <a:avLst/>
              </a:prstGeom>
            </p:spPr>
            <p:txBody>
              <a:bodyPr vert="horz" lIns="91440" tIns="45720" rIns="91440" bIns="45720" rtlCol="0">
                <a:no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just"/>
                <a:r>
                  <a:rPr lang="en-US" sz="1400" dirty="0">
                    <a:solidFill>
                      <a:schemeClr val="bg1"/>
                    </a:solidFill>
                    <a:highlight>
                      <a:srgbClr val="000000"/>
                    </a:highlight>
                  </a:rPr>
                  <a:t>Multispectral</a:t>
                </a:r>
                <a:endParaRPr lang="en-US" sz="1400" dirty="0">
                  <a:solidFill>
                    <a:schemeClr val="accent6"/>
                  </a:solidFill>
                  <a:highlight>
                    <a:srgbClr val="000000"/>
                  </a:highlight>
                </a:endParaRPr>
              </a:p>
            </p:txBody>
          </p:sp>
        </p:grpSp>
      </p:grpSp>
      <p:grpSp>
        <p:nvGrpSpPr>
          <p:cNvPr id="10" name="Group 9">
            <a:extLst>
              <a:ext uri="{FF2B5EF4-FFF2-40B4-BE49-F238E27FC236}">
                <a16:creationId xmlns:a16="http://schemas.microsoft.com/office/drawing/2014/main" id="{17289877-0987-CB43-4629-3AD14BC999BF}"/>
              </a:ext>
            </a:extLst>
          </p:cNvPr>
          <p:cNvGrpSpPr/>
          <p:nvPr/>
        </p:nvGrpSpPr>
        <p:grpSpPr>
          <a:xfrm>
            <a:off x="4815666" y="1608124"/>
            <a:ext cx="4054775" cy="1606618"/>
            <a:chOff x="2324714" y="3021865"/>
            <a:chExt cx="4054775" cy="1606618"/>
          </a:xfrm>
        </p:grpSpPr>
        <p:pic>
          <p:nvPicPr>
            <p:cNvPr id="11" name="Picture 10" descr="A diagram of a diagram of a function&#10;&#10;AI-generated content may be incorrect.">
              <a:extLst>
                <a:ext uri="{FF2B5EF4-FFF2-40B4-BE49-F238E27FC236}">
                  <a16:creationId xmlns:a16="http://schemas.microsoft.com/office/drawing/2014/main" id="{9C9521E2-B428-C9B0-E225-E69413F953CF}"/>
                </a:ext>
              </a:extLst>
            </p:cNvPr>
            <p:cNvPicPr>
              <a:picLocks noChangeAspect="1"/>
            </p:cNvPicPr>
            <p:nvPr/>
          </p:nvPicPr>
          <p:blipFill>
            <a:blip r:embed="rId4"/>
            <a:srcRect t="55491"/>
            <a:stretch>
              <a:fillRect/>
            </a:stretch>
          </p:blipFill>
          <p:spPr>
            <a:xfrm>
              <a:off x="2324714" y="3322623"/>
              <a:ext cx="4054775" cy="1305860"/>
            </a:xfrm>
            <a:prstGeom prst="rect">
              <a:avLst/>
            </a:prstGeom>
          </p:spPr>
        </p:pic>
        <p:sp>
          <p:nvSpPr>
            <p:cNvPr id="12" name="Content Placeholder 2">
              <a:extLst>
                <a:ext uri="{FF2B5EF4-FFF2-40B4-BE49-F238E27FC236}">
                  <a16:creationId xmlns:a16="http://schemas.microsoft.com/office/drawing/2014/main" id="{8452AAAC-235D-3DDC-071F-9242CBFF1F2C}"/>
                </a:ext>
              </a:extLst>
            </p:cNvPr>
            <p:cNvSpPr txBox="1">
              <a:spLocks/>
            </p:cNvSpPr>
            <p:nvPr/>
          </p:nvSpPr>
          <p:spPr>
            <a:xfrm>
              <a:off x="3935716" y="3021865"/>
              <a:ext cx="744808" cy="427923"/>
            </a:xfrm>
            <a:prstGeom prst="rect">
              <a:avLst/>
            </a:prstGeom>
          </p:spPr>
          <p:txBody>
            <a:bodyPr vert="horz" lIns="91440" tIns="45720" rIns="91440" bIns="45720" rtlCol="0">
              <a:no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just"/>
              <a:r>
                <a:rPr lang="en-US" sz="1400" dirty="0">
                  <a:solidFill>
                    <a:schemeClr val="bg1"/>
                  </a:solidFill>
                  <a:highlight>
                    <a:srgbClr val="000000"/>
                  </a:highlight>
                </a:rPr>
                <a:t>Video</a:t>
              </a:r>
              <a:endParaRPr lang="en-US" sz="1400" dirty="0">
                <a:solidFill>
                  <a:schemeClr val="accent6"/>
                </a:solidFill>
                <a:highlight>
                  <a:srgbClr val="000000"/>
                </a:highlight>
              </a:endParaRPr>
            </a:p>
          </p:txBody>
        </p:sp>
      </p:grpSp>
      <p:sp>
        <p:nvSpPr>
          <p:cNvPr id="14" name="TextBox 13">
            <a:extLst>
              <a:ext uri="{FF2B5EF4-FFF2-40B4-BE49-F238E27FC236}">
                <a16:creationId xmlns:a16="http://schemas.microsoft.com/office/drawing/2014/main" id="{EBE43194-AD5E-814D-5818-0E56702E67B7}"/>
              </a:ext>
            </a:extLst>
          </p:cNvPr>
          <p:cNvSpPr txBox="1"/>
          <p:nvPr/>
        </p:nvSpPr>
        <p:spPr>
          <a:xfrm>
            <a:off x="2634584" y="676324"/>
            <a:ext cx="4010858" cy="923330"/>
          </a:xfrm>
          <a:prstGeom prst="rect">
            <a:avLst/>
          </a:prstGeom>
          <a:noFill/>
        </p:spPr>
        <p:txBody>
          <a:bodyPr wrap="square" rtlCol="0">
            <a:spAutoFit/>
          </a:bodyPr>
          <a:lstStyle/>
          <a:p>
            <a:pPr marL="285750" indent="-285750">
              <a:buFont typeface="Arial" panose="020B0604020202020204" pitchFamily="34" charset="0"/>
              <a:buChar char="•"/>
            </a:pPr>
            <a:r>
              <a:rPr lang="en-CL" dirty="0">
                <a:solidFill>
                  <a:schemeClr val="accent6"/>
                </a:solidFill>
              </a:rPr>
              <a:t>It can be applied to different signals </a:t>
            </a:r>
          </a:p>
          <a:p>
            <a:pPr marL="285750" indent="-285750">
              <a:buFont typeface="Arial" panose="020B0604020202020204" pitchFamily="34" charset="0"/>
              <a:buChar char="•"/>
            </a:pPr>
            <a:r>
              <a:rPr lang="en-CL" dirty="0">
                <a:solidFill>
                  <a:schemeClr val="accent6"/>
                </a:solidFill>
              </a:rPr>
              <a:t>It use compressive measurements</a:t>
            </a:r>
          </a:p>
          <a:p>
            <a:pPr marL="285750" indent="-285750">
              <a:buFont typeface="Arial" panose="020B0604020202020204" pitchFamily="34" charset="0"/>
              <a:buChar char="•"/>
            </a:pPr>
            <a:r>
              <a:rPr lang="en-CL" dirty="0">
                <a:solidFill>
                  <a:schemeClr val="accent6"/>
                </a:solidFill>
              </a:rPr>
              <a:t>To solve an inverse problem</a:t>
            </a:r>
          </a:p>
        </p:txBody>
      </p:sp>
      <p:grpSp>
        <p:nvGrpSpPr>
          <p:cNvPr id="13" name="Group 12">
            <a:extLst>
              <a:ext uri="{FF2B5EF4-FFF2-40B4-BE49-F238E27FC236}">
                <a16:creationId xmlns:a16="http://schemas.microsoft.com/office/drawing/2014/main" id="{8E6B847D-2373-3F0F-FE33-8A8023A950E5}"/>
              </a:ext>
            </a:extLst>
          </p:cNvPr>
          <p:cNvGrpSpPr/>
          <p:nvPr/>
        </p:nvGrpSpPr>
        <p:grpSpPr>
          <a:xfrm>
            <a:off x="4182952" y="3549629"/>
            <a:ext cx="4439459" cy="1774351"/>
            <a:chOff x="4182952" y="3549629"/>
            <a:chExt cx="4439459" cy="1774351"/>
          </a:xfrm>
        </p:grpSpPr>
        <p:grpSp>
          <p:nvGrpSpPr>
            <p:cNvPr id="15" name="Group 14">
              <a:extLst>
                <a:ext uri="{FF2B5EF4-FFF2-40B4-BE49-F238E27FC236}">
                  <a16:creationId xmlns:a16="http://schemas.microsoft.com/office/drawing/2014/main" id="{88FC55B6-7D1A-86EA-116A-BE247A0FA1D5}"/>
                </a:ext>
              </a:extLst>
            </p:cNvPr>
            <p:cNvGrpSpPr/>
            <p:nvPr/>
          </p:nvGrpSpPr>
          <p:grpSpPr>
            <a:xfrm>
              <a:off x="4182952" y="3788124"/>
              <a:ext cx="3170603" cy="1099772"/>
              <a:chOff x="-214043" y="1004325"/>
              <a:chExt cx="3561750" cy="1355287"/>
            </a:xfrm>
          </p:grpSpPr>
          <p:pic>
            <p:nvPicPr>
              <p:cNvPr id="16" name="Picture 15">
                <a:extLst>
                  <a:ext uri="{FF2B5EF4-FFF2-40B4-BE49-F238E27FC236}">
                    <a16:creationId xmlns:a16="http://schemas.microsoft.com/office/drawing/2014/main" id="{67CE0357-8A89-B715-777F-5C568B9D7623}"/>
                  </a:ext>
                </a:extLst>
              </p:cNvPr>
              <p:cNvPicPr>
                <a:picLocks noChangeAspect="1"/>
              </p:cNvPicPr>
              <p:nvPr/>
            </p:nvPicPr>
            <p:blipFill>
              <a:blip r:embed="rId5"/>
              <a:srcRect b="1108"/>
              <a:stretch/>
            </p:blipFill>
            <p:spPr>
              <a:xfrm>
                <a:off x="1140336" y="1004325"/>
                <a:ext cx="915078" cy="909027"/>
              </a:xfrm>
              <a:prstGeom prst="rect">
                <a:avLst/>
              </a:prstGeom>
            </p:spPr>
          </p:pic>
          <p:sp>
            <p:nvSpPr>
              <p:cNvPr id="17" name="Content Placeholder 2">
                <a:extLst>
                  <a:ext uri="{FF2B5EF4-FFF2-40B4-BE49-F238E27FC236}">
                    <a16:creationId xmlns:a16="http://schemas.microsoft.com/office/drawing/2014/main" id="{7FA9BDA2-D31B-DB5A-5A2B-F5ABC9415680}"/>
                  </a:ext>
                </a:extLst>
              </p:cNvPr>
              <p:cNvSpPr txBox="1">
                <a:spLocks/>
              </p:cNvSpPr>
              <p:nvPr/>
            </p:nvSpPr>
            <p:spPr>
              <a:xfrm>
                <a:off x="-214043" y="1931689"/>
                <a:ext cx="3561750" cy="427923"/>
              </a:xfrm>
              <a:prstGeom prst="rect">
                <a:avLst/>
              </a:prstGeom>
            </p:spPr>
            <p:txBody>
              <a:bodyPr vert="horz" lIns="91440" tIns="45720" rIns="91440" bIns="45720" rtlCol="0">
                <a:no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r>
                  <a:rPr lang="en-CL" sz="1200" dirty="0">
                    <a:solidFill>
                      <a:schemeClr val="bg1"/>
                    </a:solidFill>
                    <a:highlight>
                      <a:srgbClr val="000000"/>
                    </a:highlight>
                  </a:rPr>
                  <a:t>1995 </a:t>
                </a:r>
              </a:p>
              <a:p>
                <a:r>
                  <a:rPr lang="en-CL" sz="1200" dirty="0">
                    <a:solidFill>
                      <a:schemeClr val="bg1"/>
                    </a:solidFill>
                    <a:highlight>
                      <a:srgbClr val="000000"/>
                    </a:highlight>
                  </a:rPr>
                  <a:t>Cubic Phase</a:t>
                </a:r>
              </a:p>
            </p:txBody>
          </p:sp>
        </p:grpSp>
        <p:grpSp>
          <p:nvGrpSpPr>
            <p:cNvPr id="18" name="Group 17">
              <a:extLst>
                <a:ext uri="{FF2B5EF4-FFF2-40B4-BE49-F238E27FC236}">
                  <a16:creationId xmlns:a16="http://schemas.microsoft.com/office/drawing/2014/main" id="{D46A27CC-9E0B-B549-3DF1-3C11B8A1A32A}"/>
                </a:ext>
              </a:extLst>
            </p:cNvPr>
            <p:cNvGrpSpPr/>
            <p:nvPr/>
          </p:nvGrpSpPr>
          <p:grpSpPr>
            <a:xfrm>
              <a:off x="6540139" y="3549629"/>
              <a:ext cx="2082272" cy="1774351"/>
              <a:chOff x="426720" y="3505199"/>
              <a:chExt cx="2082272" cy="1774351"/>
            </a:xfrm>
          </p:grpSpPr>
          <p:pic>
            <p:nvPicPr>
              <p:cNvPr id="19" name="Picture 2" descr="Depth Of Field Definition - What is Depth Of Field by SLR Lounge">
                <a:extLst>
                  <a:ext uri="{FF2B5EF4-FFF2-40B4-BE49-F238E27FC236}">
                    <a16:creationId xmlns:a16="http://schemas.microsoft.com/office/drawing/2014/main" id="{102F89AE-8643-6341-3F9A-C4367CA391CB}"/>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r="49777"/>
              <a:stretch/>
            </p:blipFill>
            <p:spPr bwMode="auto">
              <a:xfrm>
                <a:off x="426720" y="3505567"/>
                <a:ext cx="1035133" cy="1373773"/>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2" descr="Depth Of Field Definition - What is Depth Of Field by SLR Lounge">
                <a:extLst>
                  <a:ext uri="{FF2B5EF4-FFF2-40B4-BE49-F238E27FC236}">
                    <a16:creationId xmlns:a16="http://schemas.microsoft.com/office/drawing/2014/main" id="{573F9D91-64D3-3D8C-44F8-EA98316B3949}"/>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49535"/>
              <a:stretch/>
            </p:blipFill>
            <p:spPr bwMode="auto">
              <a:xfrm>
                <a:off x="1468581" y="3505199"/>
                <a:ext cx="1040411" cy="1374141"/>
              </a:xfrm>
              <a:prstGeom prst="rect">
                <a:avLst/>
              </a:prstGeom>
              <a:noFill/>
              <a:extLst>
                <a:ext uri="{909E8E84-426E-40DD-AFC4-6F175D3DCCD1}">
                  <a14:hiddenFill xmlns:a14="http://schemas.microsoft.com/office/drawing/2010/main">
                    <a:solidFill>
                      <a:srgbClr val="FFFFFF"/>
                    </a:solidFill>
                  </a14:hiddenFill>
                </a:ext>
              </a:extLst>
            </p:spPr>
          </p:pic>
          <p:sp>
            <p:nvSpPr>
              <p:cNvPr id="21" name="Content Placeholder 2">
                <a:extLst>
                  <a:ext uri="{FF2B5EF4-FFF2-40B4-BE49-F238E27FC236}">
                    <a16:creationId xmlns:a16="http://schemas.microsoft.com/office/drawing/2014/main" id="{1C8AC079-3F07-27D6-83CA-2C0BDA4B5D27}"/>
                  </a:ext>
                </a:extLst>
              </p:cNvPr>
              <p:cNvSpPr txBox="1">
                <a:spLocks/>
              </p:cNvSpPr>
              <p:nvPr/>
            </p:nvSpPr>
            <p:spPr>
              <a:xfrm>
                <a:off x="1130982" y="4851627"/>
                <a:ext cx="806352" cy="427923"/>
              </a:xfrm>
              <a:prstGeom prst="rect">
                <a:avLst/>
              </a:prstGeom>
            </p:spPr>
            <p:txBody>
              <a:bodyPr vert="horz" lIns="91440" tIns="45720" rIns="91440" bIns="45720" rtlCol="0">
                <a:no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just"/>
                <a:r>
                  <a:rPr lang="en-US" sz="1400" dirty="0">
                    <a:solidFill>
                      <a:schemeClr val="bg1"/>
                    </a:solidFill>
                    <a:highlight>
                      <a:srgbClr val="000000"/>
                    </a:highlight>
                  </a:rPr>
                  <a:t>Depth</a:t>
                </a:r>
                <a:endParaRPr lang="en-US" sz="1400" dirty="0">
                  <a:solidFill>
                    <a:schemeClr val="accent6"/>
                  </a:solidFill>
                  <a:highlight>
                    <a:srgbClr val="000000"/>
                  </a:highlight>
                </a:endParaRPr>
              </a:p>
            </p:txBody>
          </p:sp>
        </p:grpSp>
      </p:grpSp>
      <p:grpSp>
        <p:nvGrpSpPr>
          <p:cNvPr id="22" name="Group 21">
            <a:extLst>
              <a:ext uri="{FF2B5EF4-FFF2-40B4-BE49-F238E27FC236}">
                <a16:creationId xmlns:a16="http://schemas.microsoft.com/office/drawing/2014/main" id="{784DD419-ACAA-F82E-F75D-00FB2290A295}"/>
              </a:ext>
            </a:extLst>
          </p:cNvPr>
          <p:cNvGrpSpPr/>
          <p:nvPr/>
        </p:nvGrpSpPr>
        <p:grpSpPr>
          <a:xfrm>
            <a:off x="0" y="3431234"/>
            <a:ext cx="5338710" cy="1712266"/>
            <a:chOff x="-2292736" y="6558732"/>
            <a:chExt cx="5338710" cy="1712266"/>
          </a:xfrm>
        </p:grpSpPr>
        <p:pic>
          <p:nvPicPr>
            <p:cNvPr id="28" name="Picture 27" descr="A screenshot of a computer generated image&#10;&#10;AI-generated content may be incorrect.">
              <a:extLst>
                <a:ext uri="{FF2B5EF4-FFF2-40B4-BE49-F238E27FC236}">
                  <a16:creationId xmlns:a16="http://schemas.microsoft.com/office/drawing/2014/main" id="{2BC1FF2B-9395-9034-D487-2884F5C84723}"/>
                </a:ext>
              </a:extLst>
            </p:cNvPr>
            <p:cNvPicPr>
              <a:picLocks noChangeAspect="1"/>
            </p:cNvPicPr>
            <p:nvPr/>
          </p:nvPicPr>
          <p:blipFill>
            <a:blip r:embed="rId7"/>
            <a:srcRect t="3184" b="64907"/>
            <a:stretch>
              <a:fillRect/>
            </a:stretch>
          </p:blipFill>
          <p:spPr>
            <a:xfrm>
              <a:off x="-1499009" y="6920138"/>
              <a:ext cx="4078374" cy="1350860"/>
            </a:xfrm>
            <a:prstGeom prst="rect">
              <a:avLst/>
            </a:prstGeom>
          </p:spPr>
        </p:pic>
        <p:sp>
          <p:nvSpPr>
            <p:cNvPr id="30" name="TextBox 29">
              <a:extLst>
                <a:ext uri="{FF2B5EF4-FFF2-40B4-BE49-F238E27FC236}">
                  <a16:creationId xmlns:a16="http://schemas.microsoft.com/office/drawing/2014/main" id="{96191BF3-64A8-330E-BCAD-61315C63CAC4}"/>
                </a:ext>
              </a:extLst>
            </p:cNvPr>
            <p:cNvSpPr txBox="1"/>
            <p:nvPr/>
          </p:nvSpPr>
          <p:spPr>
            <a:xfrm>
              <a:off x="-2292736" y="7486195"/>
              <a:ext cx="904287" cy="307777"/>
            </a:xfrm>
            <a:prstGeom prst="rect">
              <a:avLst/>
            </a:prstGeom>
            <a:noFill/>
          </p:spPr>
          <p:txBody>
            <a:bodyPr wrap="square" rtlCol="0">
              <a:spAutoFit/>
            </a:bodyPr>
            <a:lstStyle/>
            <a:p>
              <a:r>
                <a:rPr lang="en-CL" sz="1400" dirty="0">
                  <a:solidFill>
                    <a:schemeClr val="bg1"/>
                  </a:solidFill>
                </a:rPr>
                <a:t>A woman</a:t>
              </a:r>
            </a:p>
          </p:txBody>
        </p:sp>
        <p:sp>
          <p:nvSpPr>
            <p:cNvPr id="31" name="TextBox 30">
              <a:extLst>
                <a:ext uri="{FF2B5EF4-FFF2-40B4-BE49-F238E27FC236}">
                  <a16:creationId xmlns:a16="http://schemas.microsoft.com/office/drawing/2014/main" id="{CED2660D-5A44-C0BA-3D28-80AB0611A7C8}"/>
                </a:ext>
              </a:extLst>
            </p:cNvPr>
            <p:cNvSpPr txBox="1"/>
            <p:nvPr/>
          </p:nvSpPr>
          <p:spPr>
            <a:xfrm>
              <a:off x="-1289420" y="6584856"/>
              <a:ext cx="907493" cy="307777"/>
            </a:xfrm>
            <a:prstGeom prst="rect">
              <a:avLst/>
            </a:prstGeom>
            <a:noFill/>
          </p:spPr>
          <p:txBody>
            <a:bodyPr wrap="none" rtlCol="0">
              <a:spAutoFit/>
            </a:bodyPr>
            <a:lstStyle/>
            <a:p>
              <a:r>
                <a:rPr lang="en-CL" sz="1400" dirty="0">
                  <a:solidFill>
                    <a:schemeClr val="bg1"/>
                  </a:solidFill>
                </a:rPr>
                <a:t>GT phase</a:t>
              </a:r>
            </a:p>
          </p:txBody>
        </p:sp>
        <p:sp>
          <p:nvSpPr>
            <p:cNvPr id="32" name="TextBox 31">
              <a:extLst>
                <a:ext uri="{FF2B5EF4-FFF2-40B4-BE49-F238E27FC236}">
                  <a16:creationId xmlns:a16="http://schemas.microsoft.com/office/drawing/2014/main" id="{A5BBA564-16F3-9157-501D-93957E7E5F8D}"/>
                </a:ext>
              </a:extLst>
            </p:cNvPr>
            <p:cNvSpPr txBox="1"/>
            <p:nvPr/>
          </p:nvSpPr>
          <p:spPr>
            <a:xfrm>
              <a:off x="-310320" y="6558732"/>
              <a:ext cx="1550735" cy="307777"/>
            </a:xfrm>
            <a:prstGeom prst="rect">
              <a:avLst/>
            </a:prstGeom>
            <a:noFill/>
          </p:spPr>
          <p:txBody>
            <a:bodyPr wrap="square" rtlCol="0">
              <a:spAutoFit/>
            </a:bodyPr>
            <a:lstStyle/>
            <a:p>
              <a:pPr algn="ctr"/>
              <a:r>
                <a:rPr lang="en-US" sz="1400" dirty="0">
                  <a:solidFill>
                    <a:schemeClr val="bg1"/>
                  </a:solidFill>
                </a:rPr>
                <a:t>R</a:t>
              </a:r>
              <a:r>
                <a:rPr lang="en-CL" sz="1400" dirty="0">
                  <a:solidFill>
                    <a:schemeClr val="bg1"/>
                  </a:solidFill>
                </a:rPr>
                <a:t>ecovered phase</a:t>
              </a:r>
            </a:p>
          </p:txBody>
        </p:sp>
        <p:sp>
          <p:nvSpPr>
            <p:cNvPr id="33" name="TextBox 32">
              <a:extLst>
                <a:ext uri="{FF2B5EF4-FFF2-40B4-BE49-F238E27FC236}">
                  <a16:creationId xmlns:a16="http://schemas.microsoft.com/office/drawing/2014/main" id="{660E1AC7-E858-A016-309D-24D2F61D692E}"/>
                </a:ext>
              </a:extLst>
            </p:cNvPr>
            <p:cNvSpPr txBox="1"/>
            <p:nvPr/>
          </p:nvSpPr>
          <p:spPr>
            <a:xfrm>
              <a:off x="1196878" y="6571795"/>
              <a:ext cx="1849096" cy="307777"/>
            </a:xfrm>
            <a:prstGeom prst="rect">
              <a:avLst/>
            </a:prstGeom>
            <a:noFill/>
          </p:spPr>
          <p:txBody>
            <a:bodyPr wrap="none" rtlCol="0">
              <a:spAutoFit/>
            </a:bodyPr>
            <a:lstStyle/>
            <a:p>
              <a:r>
                <a:rPr lang="en-CL" sz="1400" dirty="0">
                  <a:solidFill>
                    <a:schemeClr val="bg1"/>
                  </a:solidFill>
                </a:rPr>
                <a:t>Recovered Amplitude</a:t>
              </a:r>
            </a:p>
          </p:txBody>
        </p:sp>
      </p:grpSp>
    </p:spTree>
    <p:extLst>
      <p:ext uri="{BB962C8B-B14F-4D97-AF65-F5344CB8AC3E}">
        <p14:creationId xmlns:p14="http://schemas.microsoft.com/office/powerpoint/2010/main" val="39398670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1E7DB5F3-A34F-CB38-A59C-D89166D602C1}"/>
              </a:ext>
            </a:extLst>
          </p:cNvPr>
          <p:cNvSpPr txBox="1">
            <a:spLocks/>
          </p:cNvSpPr>
          <p:nvPr/>
        </p:nvSpPr>
        <p:spPr>
          <a:xfrm>
            <a:off x="510115" y="146845"/>
            <a:ext cx="7886700" cy="994172"/>
          </a:xfrm>
          <a:prstGeom prst="rect">
            <a:avLst/>
          </a:prstGeom>
        </p:spPr>
        <p:txBody>
          <a:bodyPr vert="horz" lIns="91440" tIns="45720" rIns="91440" bIns="45720" rtlCol="0" anchor="b">
            <a:normAutofit fontScale="70000" lnSpcReduction="20000"/>
          </a:bodyPr>
          <a:lstStyle>
            <a:lvl1pPr algn="ctr" defTabSz="685800" rtl="0" eaLnBrk="1" latinLnBrk="0" hangingPunct="1">
              <a:lnSpc>
                <a:spcPct val="90000"/>
              </a:lnSpc>
              <a:spcBef>
                <a:spcPct val="0"/>
              </a:spcBef>
              <a:buNone/>
              <a:defRPr sz="4500" kern="1200">
                <a:solidFill>
                  <a:schemeClr val="tx1"/>
                </a:solidFill>
                <a:latin typeface="+mj-lt"/>
                <a:ea typeface="+mj-ea"/>
                <a:cs typeface="+mj-cs"/>
              </a:defRPr>
            </a:lvl1pPr>
          </a:lstStyle>
          <a:p>
            <a:r>
              <a:rPr lang="en-US" b="0" i="0" dirty="0">
                <a:solidFill>
                  <a:srgbClr val="FFFF00"/>
                </a:solidFill>
                <a:effectLst/>
                <a:highlight>
                  <a:srgbClr val="000000"/>
                </a:highlight>
                <a:latin typeface="Calibri" panose="020F0502020204030204" pitchFamily="34" charset="0"/>
                <a:cs typeface="Calibri" panose="020F0502020204030204" pitchFamily="34" charset="0"/>
              </a:rPr>
              <a:t>Single-mask sphere-packing with implicit neural representation for ultrahigh-speed imaging</a:t>
            </a:r>
            <a:endParaRPr lang="en-CL" dirty="0">
              <a:solidFill>
                <a:srgbClr val="FFFF00"/>
              </a:solidFill>
              <a:highlight>
                <a:srgbClr val="000000"/>
              </a:highlight>
              <a:latin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405D4F84-FF48-B4BA-FFFA-93300190F452}"/>
              </a:ext>
            </a:extLst>
          </p:cNvPr>
          <p:cNvSpPr txBox="1"/>
          <p:nvPr/>
        </p:nvSpPr>
        <p:spPr>
          <a:xfrm>
            <a:off x="69669" y="2685056"/>
            <a:ext cx="9074331" cy="323165"/>
          </a:xfrm>
          <a:prstGeom prst="rect">
            <a:avLst/>
          </a:prstGeom>
          <a:noFill/>
        </p:spPr>
        <p:txBody>
          <a:bodyPr wrap="square" rtlCol="0">
            <a:spAutoFit/>
          </a:bodyPr>
          <a:lstStyle/>
          <a:p>
            <a:r>
              <a:rPr lang="en-CL" sz="1500" dirty="0">
                <a:solidFill>
                  <a:schemeClr val="bg1"/>
                </a:solidFill>
                <a:latin typeface="Calibri" panose="020F0502020204030204" pitchFamily="34" charset="0"/>
                <a:cs typeface="Calibri" panose="020F0502020204030204" pitchFamily="34" charset="0"/>
              </a:rPr>
              <a:t>Nelson Diaz</a:t>
            </a:r>
            <a:r>
              <a:rPr lang="en-CL" sz="1500" baseline="30000" dirty="0">
                <a:solidFill>
                  <a:schemeClr val="bg1"/>
                </a:solidFill>
                <a:latin typeface="Calibri" panose="020F0502020204030204" pitchFamily="34" charset="0"/>
                <a:cs typeface="Calibri" panose="020F0502020204030204" pitchFamily="34" charset="0"/>
              </a:rPr>
              <a:t>1</a:t>
            </a:r>
            <a:r>
              <a:rPr lang="en-CL" sz="1500" dirty="0">
                <a:solidFill>
                  <a:schemeClr val="bg1"/>
                </a:solidFill>
                <a:latin typeface="Calibri" panose="020F0502020204030204" pitchFamily="34" charset="0"/>
                <a:cs typeface="Calibri" panose="020F0502020204030204" pitchFamily="34" charset="0"/>
              </a:rPr>
              <a:t>, Madhu Beniwal</a:t>
            </a:r>
            <a:r>
              <a:rPr lang="en-CL" sz="1500" baseline="30000" dirty="0">
                <a:solidFill>
                  <a:schemeClr val="bg1"/>
                </a:solidFill>
                <a:latin typeface="Calibri" panose="020F0502020204030204" pitchFamily="34" charset="0"/>
                <a:cs typeface="Calibri" panose="020F0502020204030204" pitchFamily="34" charset="0"/>
              </a:rPr>
              <a:t>2</a:t>
            </a:r>
            <a:r>
              <a:rPr lang="en-CL" sz="1500" dirty="0">
                <a:solidFill>
                  <a:schemeClr val="bg1"/>
                </a:solidFill>
                <a:latin typeface="Calibri" panose="020F0502020204030204" pitchFamily="34" charset="0"/>
                <a:cs typeface="Calibri" panose="020F0502020204030204" pitchFamily="34" charset="0"/>
              </a:rPr>
              <a:t>, Miguel Marquez</a:t>
            </a:r>
            <a:r>
              <a:rPr lang="en-CL" sz="1500" baseline="30000" dirty="0">
                <a:solidFill>
                  <a:schemeClr val="bg1"/>
                </a:solidFill>
                <a:latin typeface="Calibri" panose="020F0502020204030204" pitchFamily="34" charset="0"/>
                <a:cs typeface="Calibri" panose="020F0502020204030204" pitchFamily="34" charset="0"/>
              </a:rPr>
              <a:t>2</a:t>
            </a:r>
            <a:r>
              <a:rPr lang="en-CL" sz="1500" dirty="0">
                <a:solidFill>
                  <a:schemeClr val="bg1"/>
                </a:solidFill>
                <a:latin typeface="Calibri" panose="020F0502020204030204" pitchFamily="34" charset="0"/>
                <a:cs typeface="Calibri" panose="020F0502020204030204" pitchFamily="34" charset="0"/>
              </a:rPr>
              <a:t>, Felipe Guzman</a:t>
            </a:r>
            <a:r>
              <a:rPr lang="en-CL" sz="1500" baseline="30000" dirty="0">
                <a:solidFill>
                  <a:schemeClr val="bg1"/>
                </a:solidFill>
                <a:latin typeface="Calibri" panose="020F0502020204030204" pitchFamily="34" charset="0"/>
                <a:cs typeface="Calibri" panose="020F0502020204030204" pitchFamily="34" charset="0"/>
              </a:rPr>
              <a:t>1</a:t>
            </a:r>
            <a:r>
              <a:rPr lang="en-CL" sz="1500" dirty="0">
                <a:solidFill>
                  <a:schemeClr val="bg1"/>
                </a:solidFill>
                <a:latin typeface="Calibri" panose="020F0502020204030204" pitchFamily="34" charset="0"/>
                <a:cs typeface="Calibri" panose="020F0502020204030204" pitchFamily="34" charset="0"/>
              </a:rPr>
              <a:t>, Cheng Jiang</a:t>
            </a:r>
            <a:r>
              <a:rPr lang="en-CL" sz="1500" baseline="30000" dirty="0">
                <a:solidFill>
                  <a:schemeClr val="bg1"/>
                </a:solidFill>
                <a:latin typeface="Calibri" panose="020F0502020204030204" pitchFamily="34" charset="0"/>
                <a:cs typeface="Calibri" panose="020F0502020204030204" pitchFamily="34" charset="0"/>
              </a:rPr>
              <a:t>2</a:t>
            </a:r>
            <a:r>
              <a:rPr lang="en-CL" sz="1500" dirty="0">
                <a:solidFill>
                  <a:schemeClr val="bg1"/>
                </a:solidFill>
                <a:latin typeface="Calibri" panose="020F0502020204030204" pitchFamily="34" charset="0"/>
                <a:cs typeface="Calibri" panose="020F0502020204030204" pitchFamily="34" charset="0"/>
              </a:rPr>
              <a:t>, Esteban Vera</a:t>
            </a:r>
            <a:r>
              <a:rPr lang="en-CL" sz="1500" baseline="30000" dirty="0">
                <a:solidFill>
                  <a:schemeClr val="bg1"/>
                </a:solidFill>
                <a:latin typeface="Calibri" panose="020F0502020204030204" pitchFamily="34" charset="0"/>
                <a:cs typeface="Calibri" panose="020F0502020204030204" pitchFamily="34" charset="0"/>
              </a:rPr>
              <a:t>1</a:t>
            </a:r>
            <a:r>
              <a:rPr lang="en-CL" sz="1500" dirty="0">
                <a:solidFill>
                  <a:schemeClr val="bg1"/>
                </a:solidFill>
                <a:latin typeface="Calibri" panose="020F0502020204030204" pitchFamily="34" charset="0"/>
                <a:cs typeface="Calibri" panose="020F0502020204030204" pitchFamily="34" charset="0"/>
              </a:rPr>
              <a:t>, Jinyang Liang</a:t>
            </a:r>
            <a:r>
              <a:rPr lang="en-CL" sz="1500" baseline="30000" dirty="0">
                <a:solidFill>
                  <a:schemeClr val="bg1"/>
                </a:solidFill>
                <a:latin typeface="Calibri" panose="020F0502020204030204" pitchFamily="34" charset="0"/>
                <a:cs typeface="Calibri" panose="020F0502020204030204" pitchFamily="34" charset="0"/>
              </a:rPr>
              <a:t>2</a:t>
            </a:r>
            <a:r>
              <a:rPr lang="en-CL" sz="1500" dirty="0">
                <a:solidFill>
                  <a:schemeClr val="bg1"/>
                </a:solidFill>
                <a:latin typeface="Calibri" panose="020F0502020204030204" pitchFamily="34" charset="0"/>
                <a:cs typeface="Calibri" panose="020F0502020204030204" pitchFamily="34" charset="0"/>
              </a:rPr>
              <a:t>  </a:t>
            </a:r>
          </a:p>
        </p:txBody>
      </p:sp>
      <p:sp>
        <p:nvSpPr>
          <p:cNvPr id="7" name="TextBox 6">
            <a:extLst>
              <a:ext uri="{FF2B5EF4-FFF2-40B4-BE49-F238E27FC236}">
                <a16:creationId xmlns:a16="http://schemas.microsoft.com/office/drawing/2014/main" id="{10FBDE7D-FD3C-095C-96E0-D54501639EB0}"/>
              </a:ext>
            </a:extLst>
          </p:cNvPr>
          <p:cNvSpPr txBox="1"/>
          <p:nvPr/>
        </p:nvSpPr>
        <p:spPr>
          <a:xfrm>
            <a:off x="393741" y="3272927"/>
            <a:ext cx="8271934" cy="738664"/>
          </a:xfrm>
          <a:prstGeom prst="rect">
            <a:avLst/>
          </a:prstGeom>
          <a:noFill/>
        </p:spPr>
        <p:txBody>
          <a:bodyPr wrap="square" rtlCol="0">
            <a:spAutoFit/>
          </a:bodyPr>
          <a:lstStyle/>
          <a:p>
            <a:pPr algn="ctr"/>
            <a:r>
              <a:rPr lang="en-US" sz="1400" b="0" i="0" baseline="30000" dirty="0">
                <a:solidFill>
                  <a:schemeClr val="bg1"/>
                </a:solidFill>
                <a:effectLst/>
                <a:highlight>
                  <a:srgbClr val="000000"/>
                </a:highlight>
                <a:latin typeface="Arial" panose="020B0604020202020204" pitchFamily="34" charset="0"/>
              </a:rPr>
              <a:t>1 </a:t>
            </a:r>
            <a:r>
              <a:rPr lang="en-US" sz="1400" b="0" i="0" dirty="0">
                <a:solidFill>
                  <a:schemeClr val="bg1"/>
                </a:solidFill>
                <a:effectLst/>
                <a:highlight>
                  <a:srgbClr val="000000"/>
                </a:highlight>
                <a:latin typeface="Arial" panose="020B0604020202020204" pitchFamily="34" charset="0"/>
              </a:rPr>
              <a:t>School of Electrical Engineering, Pontificia Universidad Católica de Valparaíso, Valparaíso, Chile</a:t>
            </a:r>
          </a:p>
          <a:p>
            <a:pPr algn="ctr"/>
            <a:r>
              <a:rPr lang="en-US" sz="1400" b="0" i="0" baseline="30000" dirty="0">
                <a:solidFill>
                  <a:schemeClr val="bg1"/>
                </a:solidFill>
                <a:effectLst/>
                <a:highlight>
                  <a:srgbClr val="000000"/>
                </a:highlight>
                <a:latin typeface="Arial" panose="020B0604020202020204" pitchFamily="34" charset="0"/>
              </a:rPr>
              <a:t>2 </a:t>
            </a:r>
            <a:r>
              <a:rPr lang="en-US" sz="1400" b="0" i="0" dirty="0">
                <a:solidFill>
                  <a:schemeClr val="bg1"/>
                </a:solidFill>
                <a:effectLst/>
                <a:highlight>
                  <a:srgbClr val="000000"/>
                </a:highlight>
                <a:latin typeface="Arial" panose="020B0604020202020204" pitchFamily="34" charset="0"/>
              </a:rPr>
              <a:t>Laboratory of Applied Computational Imaging, Centre </a:t>
            </a:r>
            <a:r>
              <a:rPr lang="en-US" sz="1400" b="0" i="0" dirty="0" err="1">
                <a:solidFill>
                  <a:schemeClr val="bg1"/>
                </a:solidFill>
                <a:effectLst/>
                <a:highlight>
                  <a:srgbClr val="000000"/>
                </a:highlight>
                <a:latin typeface="Arial" panose="020B0604020202020204" pitchFamily="34" charset="0"/>
              </a:rPr>
              <a:t>Énergie</a:t>
            </a:r>
            <a:r>
              <a:rPr lang="en-US" sz="1400" b="0" i="0" dirty="0">
                <a:solidFill>
                  <a:schemeClr val="bg1"/>
                </a:solidFill>
                <a:effectLst/>
                <a:highlight>
                  <a:srgbClr val="000000"/>
                </a:highlight>
                <a:latin typeface="Arial" panose="020B0604020202020204" pitchFamily="34" charset="0"/>
              </a:rPr>
              <a:t> </a:t>
            </a:r>
            <a:r>
              <a:rPr lang="en-US" sz="1400" b="0" i="0" dirty="0" err="1">
                <a:solidFill>
                  <a:schemeClr val="bg1"/>
                </a:solidFill>
                <a:effectLst/>
                <a:highlight>
                  <a:srgbClr val="000000"/>
                </a:highlight>
                <a:latin typeface="Arial" panose="020B0604020202020204" pitchFamily="34" charset="0"/>
              </a:rPr>
              <a:t>Matériaux</a:t>
            </a:r>
            <a:r>
              <a:rPr lang="en-US" sz="1400" b="0" i="0" dirty="0">
                <a:solidFill>
                  <a:schemeClr val="bg1"/>
                </a:solidFill>
                <a:effectLst/>
                <a:highlight>
                  <a:srgbClr val="000000"/>
                </a:highlight>
                <a:latin typeface="Arial" panose="020B0604020202020204" pitchFamily="34" charset="0"/>
              </a:rPr>
              <a:t> </a:t>
            </a:r>
            <a:r>
              <a:rPr lang="en-US" sz="1400" b="0" i="0" dirty="0" err="1">
                <a:solidFill>
                  <a:schemeClr val="bg1"/>
                </a:solidFill>
                <a:effectLst/>
                <a:highlight>
                  <a:srgbClr val="000000"/>
                </a:highlight>
                <a:latin typeface="Arial" panose="020B0604020202020204" pitchFamily="34" charset="0"/>
              </a:rPr>
              <a:t>Télécommunications</a:t>
            </a:r>
            <a:r>
              <a:rPr lang="en-US" sz="1400" b="0" i="0" dirty="0">
                <a:solidFill>
                  <a:schemeClr val="bg1"/>
                </a:solidFill>
                <a:effectLst/>
                <a:highlight>
                  <a:srgbClr val="000000"/>
                </a:highlight>
                <a:latin typeface="Arial" panose="020B0604020202020204" pitchFamily="34" charset="0"/>
              </a:rPr>
              <a:t>, </a:t>
            </a:r>
            <a:r>
              <a:rPr lang="en-US" sz="1400" b="0" i="0" dirty="0" err="1">
                <a:solidFill>
                  <a:schemeClr val="bg1"/>
                </a:solidFill>
                <a:effectLst/>
                <a:highlight>
                  <a:srgbClr val="000000"/>
                </a:highlight>
                <a:latin typeface="Arial" panose="020B0604020202020204" pitchFamily="34" charset="0"/>
              </a:rPr>
              <a:t>Institut</a:t>
            </a:r>
            <a:r>
              <a:rPr lang="en-US" sz="1400" b="0" i="0" dirty="0">
                <a:solidFill>
                  <a:schemeClr val="bg1"/>
                </a:solidFill>
                <a:effectLst/>
                <a:highlight>
                  <a:srgbClr val="000000"/>
                </a:highlight>
                <a:latin typeface="Arial" panose="020B0604020202020204" pitchFamily="34" charset="0"/>
              </a:rPr>
              <a:t> National de la Research </a:t>
            </a:r>
            <a:r>
              <a:rPr lang="en-US" sz="1400" b="0" i="0" dirty="0" err="1">
                <a:solidFill>
                  <a:schemeClr val="bg1"/>
                </a:solidFill>
                <a:effectLst/>
                <a:highlight>
                  <a:srgbClr val="000000"/>
                </a:highlight>
                <a:latin typeface="Arial" panose="020B0604020202020204" pitchFamily="34" charset="0"/>
              </a:rPr>
              <a:t>Scientifique</a:t>
            </a:r>
            <a:r>
              <a:rPr lang="en-US" sz="1400" dirty="0">
                <a:solidFill>
                  <a:schemeClr val="bg1"/>
                </a:solidFill>
                <a:highlight>
                  <a:srgbClr val="000000"/>
                </a:highlight>
                <a:latin typeface="Arial" panose="020B0604020202020204" pitchFamily="34" charset="0"/>
              </a:rPr>
              <a:t>, Montreal, Canada</a:t>
            </a:r>
            <a:endParaRPr lang="en-CL" sz="1400" dirty="0">
              <a:solidFill>
                <a:schemeClr val="bg1"/>
              </a:solidFill>
              <a:highlight>
                <a:srgbClr val="000000"/>
              </a:highlight>
            </a:endParaRPr>
          </a:p>
        </p:txBody>
      </p:sp>
      <p:pic>
        <p:nvPicPr>
          <p:cNvPr id="1026" name="Picture 2" descr="INRS - Plus qu'une université!">
            <a:extLst>
              <a:ext uri="{FF2B5EF4-FFF2-40B4-BE49-F238E27FC236}">
                <a16:creationId xmlns:a16="http://schemas.microsoft.com/office/drawing/2014/main" id="{EFEC39EE-6DB3-6F11-EA4B-551A73844CB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3879125"/>
            <a:ext cx="2080800" cy="1264375"/>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a:extLst>
              <a:ext uri="{FF2B5EF4-FFF2-40B4-BE49-F238E27FC236}">
                <a16:creationId xmlns:a16="http://schemas.microsoft.com/office/drawing/2014/main" id="{6E7392EA-BFAB-46EE-AB7F-C1E90FF6D706}"/>
              </a:ext>
            </a:extLst>
          </p:cNvPr>
          <p:cNvPicPr>
            <a:picLocks noChangeAspect="1"/>
          </p:cNvPicPr>
          <p:nvPr/>
        </p:nvPicPr>
        <p:blipFill>
          <a:blip r:embed="rId3"/>
          <a:stretch>
            <a:fillRect/>
          </a:stretch>
        </p:blipFill>
        <p:spPr>
          <a:xfrm>
            <a:off x="5529600" y="4147650"/>
            <a:ext cx="3549600" cy="887400"/>
          </a:xfrm>
          <a:prstGeom prst="rect">
            <a:avLst/>
          </a:prstGeom>
        </p:spPr>
      </p:pic>
      <p:pic>
        <p:nvPicPr>
          <p:cNvPr id="12" name="Picture 11" descr="A blue logo with text&#10;&#10;Description automatically generated">
            <a:extLst>
              <a:ext uri="{FF2B5EF4-FFF2-40B4-BE49-F238E27FC236}">
                <a16:creationId xmlns:a16="http://schemas.microsoft.com/office/drawing/2014/main" id="{4815C2EC-E607-7BD5-6C91-2CAAA890685A}"/>
              </a:ext>
            </a:extLst>
          </p:cNvPr>
          <p:cNvPicPr>
            <a:picLocks noChangeAspect="1"/>
          </p:cNvPicPr>
          <p:nvPr/>
        </p:nvPicPr>
        <p:blipFill>
          <a:blip r:embed="rId4"/>
          <a:stretch>
            <a:fillRect/>
          </a:stretch>
        </p:blipFill>
        <p:spPr>
          <a:xfrm>
            <a:off x="2167200" y="3931201"/>
            <a:ext cx="3499200" cy="1269899"/>
          </a:xfrm>
          <a:prstGeom prst="rect">
            <a:avLst/>
          </a:prstGeom>
        </p:spPr>
      </p:pic>
      <p:pic>
        <p:nvPicPr>
          <p:cNvPr id="17" name="Picture 16">
            <a:extLst>
              <a:ext uri="{FF2B5EF4-FFF2-40B4-BE49-F238E27FC236}">
                <a16:creationId xmlns:a16="http://schemas.microsoft.com/office/drawing/2014/main" id="{81958FBD-157C-467C-D7D7-C35DE9C010F1}"/>
              </a:ext>
            </a:extLst>
          </p:cNvPr>
          <p:cNvPicPr>
            <a:picLocks noChangeAspect="1"/>
          </p:cNvPicPr>
          <p:nvPr/>
        </p:nvPicPr>
        <p:blipFill rotWithShape="1">
          <a:blip r:embed="rId5"/>
          <a:srcRect l="10898" t="1395" r="11147" b="2684"/>
          <a:stretch/>
        </p:blipFill>
        <p:spPr>
          <a:xfrm>
            <a:off x="2726246" y="1485240"/>
            <a:ext cx="1062446" cy="1261718"/>
          </a:xfrm>
          <a:prstGeom prst="rect">
            <a:avLst/>
          </a:prstGeom>
        </p:spPr>
      </p:pic>
      <p:pic>
        <p:nvPicPr>
          <p:cNvPr id="1028" name="Picture 4">
            <a:extLst>
              <a:ext uri="{FF2B5EF4-FFF2-40B4-BE49-F238E27FC236}">
                <a16:creationId xmlns:a16="http://schemas.microsoft.com/office/drawing/2014/main" id="{C9129606-FF82-F865-F2B0-520458B6A606}"/>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r="18579"/>
          <a:stretch/>
        </p:blipFill>
        <p:spPr bwMode="auto">
          <a:xfrm>
            <a:off x="7620000" y="1528090"/>
            <a:ext cx="896525" cy="1215112"/>
          </a:xfrm>
          <a:prstGeom prst="rect">
            <a:avLst/>
          </a:prstGeom>
          <a:noFill/>
          <a:extLst>
            <a:ext uri="{909E8E84-426E-40DD-AFC4-6F175D3DCCD1}">
              <a14:hiddenFill xmlns:a14="http://schemas.microsoft.com/office/drawing/2010/main">
                <a:solidFill>
                  <a:srgbClr val="FFFFFF"/>
                </a:solidFill>
              </a14:hiddenFill>
            </a:ext>
          </a:extLst>
        </p:spPr>
      </p:pic>
      <p:pic>
        <p:nvPicPr>
          <p:cNvPr id="18" name="Imagen 14">
            <a:extLst>
              <a:ext uri="{FF2B5EF4-FFF2-40B4-BE49-F238E27FC236}">
                <a16:creationId xmlns:a16="http://schemas.microsoft.com/office/drawing/2014/main" id="{9D01B009-A9CA-3BB6-C85B-08F2A7D7BE53}"/>
              </a:ext>
            </a:extLst>
          </p:cNvPr>
          <p:cNvPicPr>
            <a:picLocks noChangeAspect="1"/>
          </p:cNvPicPr>
          <p:nvPr/>
        </p:nvPicPr>
        <p:blipFill>
          <a:blip r:embed="rId7"/>
          <a:stretch>
            <a:fillRect/>
          </a:stretch>
        </p:blipFill>
        <p:spPr>
          <a:xfrm>
            <a:off x="182881" y="1489986"/>
            <a:ext cx="1010194" cy="1225031"/>
          </a:xfrm>
          <a:prstGeom prst="rect">
            <a:avLst/>
          </a:prstGeom>
        </p:spPr>
      </p:pic>
      <p:pic>
        <p:nvPicPr>
          <p:cNvPr id="19" name="Imagen 16">
            <a:extLst>
              <a:ext uri="{FF2B5EF4-FFF2-40B4-BE49-F238E27FC236}">
                <a16:creationId xmlns:a16="http://schemas.microsoft.com/office/drawing/2014/main" id="{8F9BA1DA-0890-B70C-63ED-C8A71560933F}"/>
              </a:ext>
            </a:extLst>
          </p:cNvPr>
          <p:cNvPicPr>
            <a:picLocks noChangeAspect="1"/>
          </p:cNvPicPr>
          <p:nvPr/>
        </p:nvPicPr>
        <p:blipFill rotWithShape="1">
          <a:blip r:embed="rId8"/>
          <a:srcRect l="5882" t="997" b="-1"/>
          <a:stretch>
            <a:fillRect/>
          </a:stretch>
        </p:blipFill>
        <p:spPr>
          <a:xfrm>
            <a:off x="6408133" y="1537316"/>
            <a:ext cx="967392" cy="1233843"/>
          </a:xfrm>
          <a:prstGeom prst="rect">
            <a:avLst/>
          </a:prstGeom>
        </p:spPr>
      </p:pic>
      <p:pic>
        <p:nvPicPr>
          <p:cNvPr id="20" name="Imagen 28">
            <a:extLst>
              <a:ext uri="{FF2B5EF4-FFF2-40B4-BE49-F238E27FC236}">
                <a16:creationId xmlns:a16="http://schemas.microsoft.com/office/drawing/2014/main" id="{60DC05BE-2ADB-FE1E-0A0D-FA307560EEDD}"/>
              </a:ext>
            </a:extLst>
          </p:cNvPr>
          <p:cNvPicPr>
            <a:picLocks noChangeAspect="1"/>
          </p:cNvPicPr>
          <p:nvPr/>
        </p:nvPicPr>
        <p:blipFill>
          <a:blip r:embed="rId9"/>
          <a:stretch>
            <a:fillRect/>
          </a:stretch>
        </p:blipFill>
        <p:spPr>
          <a:xfrm>
            <a:off x="1404833" y="1498259"/>
            <a:ext cx="966652" cy="1244750"/>
          </a:xfrm>
          <a:prstGeom prst="rect">
            <a:avLst/>
          </a:prstGeom>
        </p:spPr>
      </p:pic>
      <p:pic>
        <p:nvPicPr>
          <p:cNvPr id="21" name="Picture 20">
            <a:extLst>
              <a:ext uri="{FF2B5EF4-FFF2-40B4-BE49-F238E27FC236}">
                <a16:creationId xmlns:a16="http://schemas.microsoft.com/office/drawing/2014/main" id="{FF506094-5E41-56AA-B67E-ACD8B6D4515B}"/>
              </a:ext>
            </a:extLst>
          </p:cNvPr>
          <p:cNvPicPr>
            <a:picLocks noChangeAspect="1"/>
          </p:cNvPicPr>
          <p:nvPr/>
        </p:nvPicPr>
        <p:blipFill>
          <a:blip r:embed="rId10"/>
          <a:stretch>
            <a:fillRect/>
          </a:stretch>
        </p:blipFill>
        <p:spPr>
          <a:xfrm>
            <a:off x="4086151" y="1488588"/>
            <a:ext cx="1010195" cy="1244578"/>
          </a:xfrm>
          <a:prstGeom prst="rect">
            <a:avLst/>
          </a:prstGeom>
        </p:spPr>
      </p:pic>
      <p:pic>
        <p:nvPicPr>
          <p:cNvPr id="3" name="Picture 2" descr="A person wearing glasses and smiling&#10;&#10;AI-generated content may be incorrect.">
            <a:extLst>
              <a:ext uri="{FF2B5EF4-FFF2-40B4-BE49-F238E27FC236}">
                <a16:creationId xmlns:a16="http://schemas.microsoft.com/office/drawing/2014/main" id="{BE8FF800-D473-1EE7-CDDB-B78F094706EB}"/>
              </a:ext>
            </a:extLst>
          </p:cNvPr>
          <p:cNvPicPr>
            <a:picLocks noChangeAspect="1"/>
          </p:cNvPicPr>
          <p:nvPr/>
        </p:nvPicPr>
        <p:blipFill>
          <a:blip r:embed="rId11"/>
          <a:srcRect l="9062" r="15522"/>
          <a:stretch>
            <a:fillRect/>
          </a:stretch>
        </p:blipFill>
        <p:spPr>
          <a:xfrm>
            <a:off x="5319578" y="1523604"/>
            <a:ext cx="925647" cy="1227387"/>
          </a:xfrm>
          <a:prstGeom prst="rect">
            <a:avLst/>
          </a:prstGeom>
        </p:spPr>
      </p:pic>
    </p:spTree>
    <p:extLst>
      <p:ext uri="{BB962C8B-B14F-4D97-AF65-F5344CB8AC3E}">
        <p14:creationId xmlns:p14="http://schemas.microsoft.com/office/powerpoint/2010/main" val="20578441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EE41828-540D-7D14-80CC-0A8B68D8619C}"/>
              </a:ext>
            </a:extLst>
          </p:cNvPr>
          <p:cNvSpPr txBox="1">
            <a:spLocks/>
          </p:cNvSpPr>
          <p:nvPr/>
        </p:nvSpPr>
        <p:spPr>
          <a:xfrm>
            <a:off x="61383" y="-406400"/>
            <a:ext cx="9251950" cy="994172"/>
          </a:xfrm>
          <a:prstGeom prst="rect">
            <a:avLst/>
          </a:prstGeom>
        </p:spPr>
        <p:txBody>
          <a:bodyPr vert="horz" lIns="91440" tIns="45720" rIns="91440" bIns="45720" rtlCol="0" anchor="b">
            <a:normAutofit/>
          </a:bodyPr>
          <a:lstStyle>
            <a:lvl1pPr algn="ctr" defTabSz="685800" rtl="0" eaLnBrk="1" latinLnBrk="0" hangingPunct="1">
              <a:lnSpc>
                <a:spcPct val="90000"/>
              </a:lnSpc>
              <a:spcBef>
                <a:spcPct val="0"/>
              </a:spcBef>
              <a:buNone/>
              <a:defRPr sz="4500" kern="1200">
                <a:solidFill>
                  <a:schemeClr val="tx1"/>
                </a:solidFill>
                <a:latin typeface="+mj-lt"/>
                <a:ea typeface="+mj-ea"/>
                <a:cs typeface="+mj-cs"/>
              </a:defRPr>
            </a:lvl1pPr>
          </a:lstStyle>
          <a:p>
            <a:pPr algn="l"/>
            <a:r>
              <a:rPr lang="en-US" sz="3200" dirty="0">
                <a:solidFill>
                  <a:srgbClr val="FFFF00"/>
                </a:solidFill>
                <a:highlight>
                  <a:srgbClr val="000000"/>
                </a:highlight>
                <a:latin typeface="Calibri" panose="020F0502020204030204" pitchFamily="34" charset="0"/>
                <a:cs typeface="Calibri" panose="020F0502020204030204" pitchFamily="34" charset="0"/>
              </a:rPr>
              <a:t>Sensing Transient Events</a:t>
            </a:r>
            <a:endParaRPr lang="en-CL" sz="3200" dirty="0">
              <a:solidFill>
                <a:srgbClr val="FFFF00"/>
              </a:solidFill>
              <a:highlight>
                <a:srgbClr val="000000"/>
              </a:highlight>
              <a:latin typeface="Calibri" panose="020F0502020204030204" pitchFamily="34" charset="0"/>
              <a:cs typeface="Calibri" panose="020F0502020204030204" pitchFamily="34" charset="0"/>
            </a:endParaRPr>
          </a:p>
        </p:txBody>
      </p:sp>
      <p:sp>
        <p:nvSpPr>
          <p:cNvPr id="5" name="Content Placeholder 2">
            <a:extLst>
              <a:ext uri="{FF2B5EF4-FFF2-40B4-BE49-F238E27FC236}">
                <a16:creationId xmlns:a16="http://schemas.microsoft.com/office/drawing/2014/main" id="{337170A6-4BD5-D039-15A5-9C5027CE1D94}"/>
              </a:ext>
            </a:extLst>
          </p:cNvPr>
          <p:cNvSpPr txBox="1">
            <a:spLocks/>
          </p:cNvSpPr>
          <p:nvPr/>
        </p:nvSpPr>
        <p:spPr>
          <a:xfrm>
            <a:off x="4637933" y="3294464"/>
            <a:ext cx="3892550" cy="427923"/>
          </a:xfrm>
          <a:prstGeom prst="rect">
            <a:avLst/>
          </a:prstGeom>
        </p:spPr>
        <p:txBody>
          <a:bodyPr vert="horz" lIns="91440" tIns="45720" rIns="91440" bIns="45720" rtlCol="0">
            <a:normAutofit fontScale="85000" lnSpcReduction="10000"/>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r>
              <a:rPr lang="en-CL" dirty="0">
                <a:solidFill>
                  <a:schemeClr val="bg1"/>
                </a:solidFill>
                <a:highlight>
                  <a:srgbClr val="000000"/>
                </a:highlight>
              </a:rPr>
              <a:t>Neuroscience for monitoring neural activity</a:t>
            </a:r>
          </a:p>
        </p:txBody>
      </p:sp>
      <p:sp>
        <p:nvSpPr>
          <p:cNvPr id="2" name="Content Placeholder 2">
            <a:extLst>
              <a:ext uri="{FF2B5EF4-FFF2-40B4-BE49-F238E27FC236}">
                <a16:creationId xmlns:a16="http://schemas.microsoft.com/office/drawing/2014/main" id="{27E96122-C01F-EFDD-0FC5-142763C489A6}"/>
              </a:ext>
            </a:extLst>
          </p:cNvPr>
          <p:cNvSpPr txBox="1">
            <a:spLocks/>
          </p:cNvSpPr>
          <p:nvPr/>
        </p:nvSpPr>
        <p:spPr>
          <a:xfrm>
            <a:off x="58066" y="3237974"/>
            <a:ext cx="3561750" cy="427923"/>
          </a:xfrm>
          <a:prstGeom prst="rect">
            <a:avLst/>
          </a:prstGeom>
        </p:spPr>
        <p:txBody>
          <a:bodyPr vert="horz" lIns="91440" tIns="45720" rIns="91440" bIns="45720" rtlCol="0">
            <a:normAutofit fontScale="92500"/>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r>
              <a:rPr lang="en-CL" dirty="0">
                <a:solidFill>
                  <a:schemeClr val="bg1"/>
                </a:solidFill>
                <a:highlight>
                  <a:srgbClr val="000000"/>
                </a:highlight>
              </a:rPr>
              <a:t>Nuclear fusion: Fast-heating plasma</a:t>
            </a:r>
          </a:p>
        </p:txBody>
      </p:sp>
      <p:sp>
        <p:nvSpPr>
          <p:cNvPr id="7" name="TextBox 6">
            <a:extLst>
              <a:ext uri="{FF2B5EF4-FFF2-40B4-BE49-F238E27FC236}">
                <a16:creationId xmlns:a16="http://schemas.microsoft.com/office/drawing/2014/main" id="{472CC8C2-98AB-04B7-4BB9-C7C7B2EB4734}"/>
              </a:ext>
            </a:extLst>
          </p:cNvPr>
          <p:cNvSpPr txBox="1"/>
          <p:nvPr/>
        </p:nvSpPr>
        <p:spPr>
          <a:xfrm>
            <a:off x="0" y="4204781"/>
            <a:ext cx="9144000" cy="938719"/>
          </a:xfrm>
          <a:prstGeom prst="rect">
            <a:avLst/>
          </a:prstGeom>
          <a:noFill/>
        </p:spPr>
        <p:txBody>
          <a:bodyPr wrap="square">
            <a:spAutoFit/>
          </a:bodyPr>
          <a:lstStyle/>
          <a:p>
            <a:r>
              <a:rPr lang="en-US" sz="1100" b="0" i="0" dirty="0">
                <a:solidFill>
                  <a:schemeClr val="bg1"/>
                </a:solidFill>
                <a:effectLst/>
                <a:highlight>
                  <a:srgbClr val="000000"/>
                </a:highlight>
                <a:latin typeface="Arial" panose="020B0604020202020204" pitchFamily="34" charset="0"/>
              </a:rPr>
              <a:t>R. Kodama, P. </a:t>
            </a:r>
            <a:r>
              <a:rPr lang="en-US" sz="1100" b="0" i="0" dirty="0" err="1">
                <a:solidFill>
                  <a:schemeClr val="bg1"/>
                </a:solidFill>
                <a:effectLst/>
                <a:highlight>
                  <a:srgbClr val="000000"/>
                </a:highlight>
                <a:latin typeface="Arial" panose="020B0604020202020204" pitchFamily="34" charset="0"/>
              </a:rPr>
              <a:t>Norreys</a:t>
            </a:r>
            <a:r>
              <a:rPr lang="en-US" sz="1100" b="0" i="0" dirty="0">
                <a:solidFill>
                  <a:schemeClr val="bg1"/>
                </a:solidFill>
                <a:effectLst/>
                <a:highlight>
                  <a:srgbClr val="000000"/>
                </a:highlight>
                <a:latin typeface="Arial" panose="020B0604020202020204" pitchFamily="34" charset="0"/>
              </a:rPr>
              <a:t>, K. </a:t>
            </a:r>
            <a:r>
              <a:rPr lang="en-US" sz="1100" b="0" i="0" dirty="0" err="1">
                <a:solidFill>
                  <a:schemeClr val="bg1"/>
                </a:solidFill>
                <a:effectLst/>
                <a:highlight>
                  <a:srgbClr val="000000"/>
                </a:highlight>
                <a:latin typeface="Arial" panose="020B0604020202020204" pitchFamily="34" charset="0"/>
              </a:rPr>
              <a:t>Mima</a:t>
            </a:r>
            <a:r>
              <a:rPr lang="en-US" sz="1100" b="0" i="0" dirty="0">
                <a:solidFill>
                  <a:schemeClr val="bg1"/>
                </a:solidFill>
                <a:effectLst/>
                <a:highlight>
                  <a:srgbClr val="000000"/>
                </a:highlight>
                <a:latin typeface="Arial" panose="020B0604020202020204" pitchFamily="34" charset="0"/>
              </a:rPr>
              <a:t>, A. </a:t>
            </a:r>
            <a:r>
              <a:rPr lang="en-US" sz="1100" b="0" i="0" dirty="0" err="1">
                <a:solidFill>
                  <a:schemeClr val="bg1"/>
                </a:solidFill>
                <a:effectLst/>
                <a:highlight>
                  <a:srgbClr val="000000"/>
                </a:highlight>
                <a:latin typeface="Arial" panose="020B0604020202020204" pitchFamily="34" charset="0"/>
              </a:rPr>
              <a:t>Dangor</a:t>
            </a:r>
            <a:r>
              <a:rPr lang="en-US" sz="1100" b="0" i="0" dirty="0">
                <a:solidFill>
                  <a:schemeClr val="bg1"/>
                </a:solidFill>
                <a:effectLst/>
                <a:highlight>
                  <a:srgbClr val="000000"/>
                </a:highlight>
                <a:latin typeface="Arial" panose="020B0604020202020204" pitchFamily="34" charset="0"/>
              </a:rPr>
              <a:t>, R. Evans, H. Fujita, Y. Kitagawa, K. </a:t>
            </a:r>
            <a:r>
              <a:rPr lang="en-US" sz="1100" b="0" i="0" dirty="0" err="1">
                <a:solidFill>
                  <a:schemeClr val="bg1"/>
                </a:solidFill>
                <a:effectLst/>
                <a:highlight>
                  <a:srgbClr val="000000"/>
                </a:highlight>
                <a:latin typeface="Arial" panose="020B0604020202020204" pitchFamily="34" charset="0"/>
              </a:rPr>
              <a:t>Krushelnick</a:t>
            </a:r>
            <a:r>
              <a:rPr lang="en-US" sz="1100" b="0" i="0" dirty="0">
                <a:solidFill>
                  <a:schemeClr val="bg1"/>
                </a:solidFill>
                <a:effectLst/>
                <a:highlight>
                  <a:srgbClr val="000000"/>
                </a:highlight>
                <a:latin typeface="Arial" panose="020B0604020202020204" pitchFamily="34" charset="0"/>
              </a:rPr>
              <a:t>, T. Miyakoshi, N. </a:t>
            </a:r>
            <a:r>
              <a:rPr lang="en-US" sz="1100" b="0" i="0" dirty="0" err="1">
                <a:solidFill>
                  <a:schemeClr val="bg1"/>
                </a:solidFill>
                <a:effectLst/>
                <a:highlight>
                  <a:srgbClr val="000000"/>
                </a:highlight>
                <a:latin typeface="Arial" panose="020B0604020202020204" pitchFamily="34" charset="0"/>
              </a:rPr>
              <a:t>Miyanaga</a:t>
            </a:r>
            <a:r>
              <a:rPr lang="en-US" sz="1100" b="0" i="0" dirty="0">
                <a:solidFill>
                  <a:schemeClr val="bg1"/>
                </a:solidFill>
                <a:effectLst/>
                <a:highlight>
                  <a:srgbClr val="000000"/>
                </a:highlight>
                <a:latin typeface="Arial" panose="020B0604020202020204" pitchFamily="34" charset="0"/>
              </a:rPr>
              <a:t> et al., “Fast heating of ultrahigh-density plasma as a step towards laser fusion ignition,” Nature 412, 798–802 (2001)</a:t>
            </a:r>
          </a:p>
          <a:p>
            <a:endParaRPr lang="en-US" sz="1100" b="0" i="0" dirty="0">
              <a:solidFill>
                <a:schemeClr val="bg1"/>
              </a:solidFill>
              <a:effectLst/>
              <a:highlight>
                <a:srgbClr val="000000"/>
              </a:highlight>
              <a:latin typeface="Arial" panose="020B0604020202020204" pitchFamily="34" charset="0"/>
            </a:endParaRPr>
          </a:p>
          <a:p>
            <a:r>
              <a:rPr lang="en-US" sz="1100" b="0" i="0" dirty="0">
                <a:solidFill>
                  <a:schemeClr val="bg1"/>
                </a:solidFill>
                <a:effectLst/>
                <a:highlight>
                  <a:srgbClr val="000000"/>
                </a:highlight>
                <a:latin typeface="Arial" panose="020B0604020202020204" pitchFamily="34" charset="0"/>
              </a:rPr>
              <a:t>X. Zhu, Q. Huang, A. DiSpirito, T. Vu, Q. Rong, X. Peng, H. Sheng, X. Shen, Q. Zhou, L. Jiang et al., “Real-time whole-brain imaging of hemodynamics and oxygenation at micro-vessel resolution with ultrafast wide-field photoacoustic microscopy,” Light. Sci. &amp; Appl. 11, 138 (2022).</a:t>
            </a:r>
            <a:endParaRPr lang="en-US" sz="1100" dirty="0">
              <a:solidFill>
                <a:schemeClr val="bg1"/>
              </a:solidFill>
              <a:highlight>
                <a:srgbClr val="000000"/>
              </a:highlight>
              <a:latin typeface="Arial" panose="020B0604020202020204" pitchFamily="34" charset="0"/>
            </a:endParaRPr>
          </a:p>
        </p:txBody>
      </p:sp>
      <p:pic>
        <p:nvPicPr>
          <p:cNvPr id="4102" name="Picture 6" descr="extended data figure 1">
            <a:extLst>
              <a:ext uri="{FF2B5EF4-FFF2-40B4-BE49-F238E27FC236}">
                <a16:creationId xmlns:a16="http://schemas.microsoft.com/office/drawing/2014/main" id="{E9D7C2A8-DA4D-E58F-5726-1245B2451EA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5268" y="611170"/>
            <a:ext cx="3208865" cy="2612345"/>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8" descr="figure 1">
            <a:extLst>
              <a:ext uri="{FF2B5EF4-FFF2-40B4-BE49-F238E27FC236}">
                <a16:creationId xmlns:a16="http://schemas.microsoft.com/office/drawing/2014/main" id="{32D7852C-0C56-4915-0AE0-3FC9353C7C3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61235" r="3913"/>
          <a:stretch/>
        </p:blipFill>
        <p:spPr bwMode="auto">
          <a:xfrm>
            <a:off x="3687473" y="910000"/>
            <a:ext cx="5099128" cy="2222499"/>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D5D3A3AD-FB6C-B03C-A222-A24A6295B222}"/>
              </a:ext>
            </a:extLst>
          </p:cNvPr>
          <p:cNvSpPr txBox="1">
            <a:spLocks/>
          </p:cNvSpPr>
          <p:nvPr/>
        </p:nvSpPr>
        <p:spPr>
          <a:xfrm>
            <a:off x="2248733" y="3756464"/>
            <a:ext cx="3892550" cy="427923"/>
          </a:xfrm>
          <a:prstGeom prst="rect">
            <a:avLst/>
          </a:prstGeom>
        </p:spPr>
        <p:txBody>
          <a:bodyPr vert="horz" lIns="91440" tIns="45720" rIns="91440" bIns="45720" rtlCol="0">
            <a:normAutofit fontScale="85000" lnSpcReduction="10000"/>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r>
              <a:rPr lang="en-CL" dirty="0">
                <a:solidFill>
                  <a:srgbClr val="FF0000"/>
                </a:solidFill>
                <a:highlight>
                  <a:srgbClr val="000000"/>
                </a:highlight>
              </a:rPr>
              <a:t>Conventional cameras capture up to 10</a:t>
            </a:r>
            <a:r>
              <a:rPr lang="en-CL" baseline="30000" dirty="0">
                <a:solidFill>
                  <a:srgbClr val="FF0000"/>
                </a:solidFill>
                <a:highlight>
                  <a:srgbClr val="000000"/>
                </a:highlight>
              </a:rPr>
              <a:t>7</a:t>
            </a:r>
            <a:endParaRPr lang="en-CL" dirty="0">
              <a:solidFill>
                <a:srgbClr val="FF0000"/>
              </a:solidFill>
              <a:highlight>
                <a:srgbClr val="000000"/>
              </a:highlight>
            </a:endParaRPr>
          </a:p>
        </p:txBody>
      </p:sp>
    </p:spTree>
    <p:extLst>
      <p:ext uri="{BB962C8B-B14F-4D97-AF65-F5344CB8AC3E}">
        <p14:creationId xmlns:p14="http://schemas.microsoft.com/office/powerpoint/2010/main" val="38893435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B664FF48-ABEC-4C42-8614-9EAB97DAE257}"/>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45EA0B9B-7DB1-1DA7-74F3-F573BC227635}"/>
              </a:ext>
            </a:extLst>
          </p:cNvPr>
          <p:cNvSpPr txBox="1">
            <a:spLocks/>
          </p:cNvSpPr>
          <p:nvPr/>
        </p:nvSpPr>
        <p:spPr>
          <a:xfrm>
            <a:off x="61383" y="-158427"/>
            <a:ext cx="9251950" cy="994172"/>
          </a:xfrm>
          <a:prstGeom prst="rect">
            <a:avLst/>
          </a:prstGeom>
        </p:spPr>
        <p:txBody>
          <a:bodyPr vert="horz" lIns="91440" tIns="45720" rIns="91440" bIns="45720" rtlCol="0" anchor="b">
            <a:normAutofit/>
          </a:bodyPr>
          <a:lstStyle>
            <a:lvl1pPr algn="ctr" defTabSz="685800" rtl="0" eaLnBrk="1" latinLnBrk="0" hangingPunct="1">
              <a:lnSpc>
                <a:spcPct val="90000"/>
              </a:lnSpc>
              <a:spcBef>
                <a:spcPct val="0"/>
              </a:spcBef>
              <a:buNone/>
              <a:defRPr sz="4500" kern="1200">
                <a:solidFill>
                  <a:schemeClr val="tx1"/>
                </a:solidFill>
                <a:latin typeface="+mj-lt"/>
                <a:ea typeface="+mj-ea"/>
                <a:cs typeface="+mj-cs"/>
              </a:defRPr>
            </a:lvl1pPr>
          </a:lstStyle>
          <a:p>
            <a:pPr algn="l"/>
            <a:r>
              <a:rPr lang="en-US" sz="3200" dirty="0">
                <a:solidFill>
                  <a:srgbClr val="FFFF00"/>
                </a:solidFill>
                <a:highlight>
                  <a:srgbClr val="000000"/>
                </a:highlight>
                <a:latin typeface="Calibri" panose="020F0502020204030204" pitchFamily="34" charset="0"/>
                <a:cs typeface="Calibri" panose="020F0502020204030204" pitchFamily="34" charset="0"/>
              </a:rPr>
              <a:t>Active and Passive illumination</a:t>
            </a:r>
            <a:endParaRPr lang="en-CL" sz="3200" dirty="0">
              <a:solidFill>
                <a:srgbClr val="FFFF00"/>
              </a:solidFill>
              <a:highlight>
                <a:srgbClr val="000000"/>
              </a:highlight>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78208E32-6EBA-8529-268D-19AF11EE1ACA}"/>
              </a:ext>
            </a:extLst>
          </p:cNvPr>
          <p:cNvSpPr txBox="1"/>
          <p:nvPr/>
        </p:nvSpPr>
        <p:spPr>
          <a:xfrm>
            <a:off x="0" y="4712613"/>
            <a:ext cx="9144000" cy="307777"/>
          </a:xfrm>
          <a:prstGeom prst="rect">
            <a:avLst/>
          </a:prstGeom>
          <a:noFill/>
        </p:spPr>
        <p:txBody>
          <a:bodyPr wrap="square">
            <a:spAutoFit/>
          </a:bodyPr>
          <a:lstStyle/>
          <a:p>
            <a:r>
              <a:rPr lang="en-US" sz="1400" dirty="0" err="1">
                <a:solidFill>
                  <a:schemeClr val="bg1"/>
                </a:solidFill>
                <a:highlight>
                  <a:srgbClr val="000000"/>
                </a:highlight>
              </a:rPr>
              <a:t>Jinyang</a:t>
            </a:r>
            <a:r>
              <a:rPr lang="en-US" sz="1400" dirty="0">
                <a:solidFill>
                  <a:schemeClr val="bg1"/>
                </a:solidFill>
                <a:highlight>
                  <a:srgbClr val="000000"/>
                </a:highlight>
              </a:rPr>
              <a:t> Liang and Lihong V. Wang, "Single-shot ultrafast optical imaging," </a:t>
            </a:r>
            <a:r>
              <a:rPr lang="en-US" sz="1400" dirty="0" err="1">
                <a:solidFill>
                  <a:schemeClr val="bg1"/>
                </a:solidFill>
                <a:highlight>
                  <a:srgbClr val="000000"/>
                </a:highlight>
              </a:rPr>
              <a:t>Optica</a:t>
            </a:r>
            <a:r>
              <a:rPr lang="en-US" sz="1400" dirty="0">
                <a:solidFill>
                  <a:schemeClr val="bg1"/>
                </a:solidFill>
                <a:highlight>
                  <a:srgbClr val="000000"/>
                </a:highlight>
              </a:rPr>
              <a:t> 5, 1113-1127 (2018)</a:t>
            </a:r>
            <a:endParaRPr lang="en-US" sz="1400" i="0" dirty="0">
              <a:solidFill>
                <a:schemeClr val="bg1"/>
              </a:solidFill>
              <a:effectLst/>
              <a:highlight>
                <a:srgbClr val="000000"/>
              </a:highlight>
              <a:latin typeface="Arial" panose="020B0604020202020204" pitchFamily="34" charset="0"/>
            </a:endParaRPr>
          </a:p>
        </p:txBody>
      </p:sp>
      <p:pic>
        <p:nvPicPr>
          <p:cNvPr id="9" name="Picture 8" descr="A diagram of a diagram of a detector&#10;&#10;AI-generated content may be incorrect.">
            <a:extLst>
              <a:ext uri="{FF2B5EF4-FFF2-40B4-BE49-F238E27FC236}">
                <a16:creationId xmlns:a16="http://schemas.microsoft.com/office/drawing/2014/main" id="{1288A69C-A3B3-F8F6-F2F9-2C5337F853A8}"/>
              </a:ext>
            </a:extLst>
          </p:cNvPr>
          <p:cNvPicPr>
            <a:picLocks noChangeAspect="1"/>
          </p:cNvPicPr>
          <p:nvPr/>
        </p:nvPicPr>
        <p:blipFill>
          <a:blip r:embed="rId2"/>
          <a:stretch>
            <a:fillRect/>
          </a:stretch>
        </p:blipFill>
        <p:spPr>
          <a:xfrm>
            <a:off x="2025493" y="1022888"/>
            <a:ext cx="4912821" cy="3177153"/>
          </a:xfrm>
          <a:prstGeom prst="rect">
            <a:avLst/>
          </a:prstGeom>
        </p:spPr>
      </p:pic>
      <p:sp>
        <p:nvSpPr>
          <p:cNvPr id="10" name="Content Placeholder 2">
            <a:extLst>
              <a:ext uri="{FF2B5EF4-FFF2-40B4-BE49-F238E27FC236}">
                <a16:creationId xmlns:a16="http://schemas.microsoft.com/office/drawing/2014/main" id="{2E4DFB8C-5F84-8BC0-2A66-0EFFEE09EE10}"/>
              </a:ext>
            </a:extLst>
          </p:cNvPr>
          <p:cNvSpPr txBox="1">
            <a:spLocks/>
          </p:cNvSpPr>
          <p:nvPr/>
        </p:nvSpPr>
        <p:spPr>
          <a:xfrm>
            <a:off x="1538153" y="4175622"/>
            <a:ext cx="3561750" cy="427923"/>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r>
              <a:rPr lang="en-CL" dirty="0">
                <a:solidFill>
                  <a:schemeClr val="bg1"/>
                </a:solidFill>
                <a:highlight>
                  <a:srgbClr val="000000"/>
                </a:highlight>
              </a:rPr>
              <a:t>Active-detection</a:t>
            </a:r>
          </a:p>
        </p:txBody>
      </p:sp>
      <p:sp>
        <p:nvSpPr>
          <p:cNvPr id="11" name="Content Placeholder 2">
            <a:extLst>
              <a:ext uri="{FF2B5EF4-FFF2-40B4-BE49-F238E27FC236}">
                <a16:creationId xmlns:a16="http://schemas.microsoft.com/office/drawing/2014/main" id="{A9A6BB29-1867-6FFB-6657-EB72C7F04E15}"/>
              </a:ext>
            </a:extLst>
          </p:cNvPr>
          <p:cNvSpPr txBox="1">
            <a:spLocks/>
          </p:cNvSpPr>
          <p:nvPr/>
        </p:nvSpPr>
        <p:spPr>
          <a:xfrm>
            <a:off x="3992052" y="4227283"/>
            <a:ext cx="3561750" cy="427923"/>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r>
              <a:rPr lang="en-CL" dirty="0">
                <a:solidFill>
                  <a:schemeClr val="bg1"/>
                </a:solidFill>
                <a:highlight>
                  <a:srgbClr val="000000"/>
                </a:highlight>
              </a:rPr>
              <a:t>Passive-detection</a:t>
            </a:r>
          </a:p>
        </p:txBody>
      </p:sp>
      <p:sp>
        <p:nvSpPr>
          <p:cNvPr id="12" name="Content Placeholder 2">
            <a:extLst>
              <a:ext uri="{FF2B5EF4-FFF2-40B4-BE49-F238E27FC236}">
                <a16:creationId xmlns:a16="http://schemas.microsoft.com/office/drawing/2014/main" id="{4833F46E-7392-BA9E-26B0-7076A39D3A2B}"/>
              </a:ext>
            </a:extLst>
          </p:cNvPr>
          <p:cNvSpPr txBox="1">
            <a:spLocks/>
          </p:cNvSpPr>
          <p:nvPr/>
        </p:nvSpPr>
        <p:spPr>
          <a:xfrm>
            <a:off x="0" y="1862928"/>
            <a:ext cx="2030278" cy="2267369"/>
          </a:xfrm>
          <a:prstGeom prst="rect">
            <a:avLst/>
          </a:prstGeom>
        </p:spPr>
        <p:txBody>
          <a:bodyPr vert="horz" lIns="91440" tIns="45720" rIns="91440" bIns="45720" rtlCol="0">
            <a:no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marL="171450" indent="-171450" algn="just">
              <a:buFont typeface="Arial" panose="020B0604020202020204" pitchFamily="34" charset="0"/>
              <a:buChar char="•"/>
            </a:pPr>
            <a:r>
              <a:rPr lang="en-CL" sz="1200" dirty="0">
                <a:solidFill>
                  <a:schemeClr val="bg1"/>
                </a:solidFill>
                <a:highlight>
                  <a:srgbClr val="000000"/>
                </a:highlight>
              </a:rPr>
              <a:t>A pulse </a:t>
            </a:r>
            <a:r>
              <a:rPr lang="en-CL" sz="1200" dirty="0">
                <a:solidFill>
                  <a:schemeClr val="accent6"/>
                </a:solidFill>
                <a:highlight>
                  <a:srgbClr val="000000"/>
                </a:highlight>
              </a:rPr>
              <a:t>probe</a:t>
            </a:r>
            <a:r>
              <a:rPr lang="en-CL" sz="1200" dirty="0">
                <a:solidFill>
                  <a:schemeClr val="bg1"/>
                </a:solidFill>
                <a:highlight>
                  <a:srgbClr val="000000"/>
                </a:highlight>
              </a:rPr>
              <a:t> for a transient event.</a:t>
            </a:r>
          </a:p>
          <a:p>
            <a:pPr marL="171450" indent="-171450" algn="just">
              <a:buFont typeface="Arial" panose="020B0604020202020204" pitchFamily="34" charset="0"/>
              <a:buChar char="•"/>
            </a:pPr>
            <a:r>
              <a:rPr lang="en-CL" sz="1200" dirty="0">
                <a:solidFill>
                  <a:schemeClr val="bg1"/>
                </a:solidFill>
                <a:highlight>
                  <a:srgbClr val="000000"/>
                </a:highlight>
              </a:rPr>
              <a:t>An </a:t>
            </a:r>
            <a:r>
              <a:rPr lang="en-CL" sz="1200" dirty="0">
                <a:solidFill>
                  <a:schemeClr val="accent6"/>
                </a:solidFill>
                <a:highlight>
                  <a:srgbClr val="000000"/>
                </a:highlight>
              </a:rPr>
              <a:t>optical marker </a:t>
            </a:r>
            <a:r>
              <a:rPr lang="en-CL" sz="1200" dirty="0">
                <a:solidFill>
                  <a:schemeClr val="bg1"/>
                </a:solidFill>
                <a:highlight>
                  <a:srgbClr val="000000"/>
                </a:highlight>
              </a:rPr>
              <a:t>e.g.  </a:t>
            </a:r>
            <a:r>
              <a:rPr lang="en-US" sz="1200" dirty="0">
                <a:solidFill>
                  <a:schemeClr val="bg1"/>
                </a:solidFill>
                <a:highlight>
                  <a:srgbClr val="000000"/>
                </a:highlight>
              </a:rPr>
              <a:t>s</a:t>
            </a:r>
            <a:r>
              <a:rPr lang="en-CL" sz="1200" dirty="0">
                <a:solidFill>
                  <a:schemeClr val="bg1"/>
                </a:solidFill>
                <a:highlight>
                  <a:srgbClr val="000000"/>
                </a:highlight>
              </a:rPr>
              <a:t>patial division, or angle division </a:t>
            </a:r>
            <a:r>
              <a:rPr lang="en-CL" sz="1200" dirty="0">
                <a:solidFill>
                  <a:schemeClr val="accent6"/>
                </a:solidFill>
                <a:highlight>
                  <a:srgbClr val="000000"/>
                </a:highlight>
              </a:rPr>
              <a:t>divide </a:t>
            </a:r>
            <a:r>
              <a:rPr lang="en-CL" sz="1200" dirty="0">
                <a:solidFill>
                  <a:schemeClr val="bg1"/>
                </a:solidFill>
                <a:highlight>
                  <a:srgbClr val="000000"/>
                </a:highlight>
              </a:rPr>
              <a:t>the transmitted probe pulses</a:t>
            </a:r>
          </a:p>
          <a:p>
            <a:pPr marL="171450" indent="-171450" algn="just">
              <a:buFont typeface="Arial" panose="020B0604020202020204" pitchFamily="34" charset="0"/>
              <a:buChar char="•"/>
            </a:pPr>
            <a:r>
              <a:rPr lang="en-CL" sz="1200" dirty="0">
                <a:solidFill>
                  <a:schemeClr val="bg1"/>
                </a:solidFill>
                <a:highlight>
                  <a:srgbClr val="000000"/>
                </a:highlight>
              </a:rPr>
              <a:t>After the transient scene in the spatial frequency domain </a:t>
            </a:r>
            <a:r>
              <a:rPr lang="en-CL" sz="1200" dirty="0">
                <a:solidFill>
                  <a:schemeClr val="accent6"/>
                </a:solidFill>
                <a:highlight>
                  <a:srgbClr val="000000"/>
                </a:highlight>
              </a:rPr>
              <a:t>to recover the 3D spatio-temporal datacube</a:t>
            </a:r>
            <a:r>
              <a:rPr lang="en-CL" sz="1200" dirty="0">
                <a:solidFill>
                  <a:schemeClr val="bg1"/>
                </a:solidFill>
                <a:highlight>
                  <a:srgbClr val="000000"/>
                </a:highlight>
              </a:rPr>
              <a:t>.</a:t>
            </a:r>
          </a:p>
        </p:txBody>
      </p:sp>
      <p:sp>
        <p:nvSpPr>
          <p:cNvPr id="13" name="Content Placeholder 2">
            <a:extLst>
              <a:ext uri="{FF2B5EF4-FFF2-40B4-BE49-F238E27FC236}">
                <a16:creationId xmlns:a16="http://schemas.microsoft.com/office/drawing/2014/main" id="{E849E3ED-2A8B-5D70-0CCA-C75FE3062DE6}"/>
              </a:ext>
            </a:extLst>
          </p:cNvPr>
          <p:cNvSpPr txBox="1">
            <a:spLocks/>
          </p:cNvSpPr>
          <p:nvPr/>
        </p:nvSpPr>
        <p:spPr>
          <a:xfrm>
            <a:off x="6909660" y="1775105"/>
            <a:ext cx="2164597" cy="2267369"/>
          </a:xfrm>
          <a:prstGeom prst="rect">
            <a:avLst/>
          </a:prstGeom>
        </p:spPr>
        <p:txBody>
          <a:bodyPr vert="horz" lIns="91440" tIns="45720" rIns="91440" bIns="45720" rtlCol="0">
            <a:no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marL="171450" indent="-171450" algn="just">
              <a:buFont typeface="Arial" panose="020B0604020202020204" pitchFamily="34" charset="0"/>
              <a:buChar char="•"/>
            </a:pPr>
            <a:r>
              <a:rPr lang="en-CL" sz="1200" dirty="0">
                <a:solidFill>
                  <a:schemeClr val="bg1"/>
                </a:solidFill>
                <a:highlight>
                  <a:srgbClr val="000000"/>
                </a:highlight>
              </a:rPr>
              <a:t>Passive detection </a:t>
            </a:r>
            <a:r>
              <a:rPr lang="en-CL" sz="1200" dirty="0">
                <a:solidFill>
                  <a:schemeClr val="accent6"/>
                </a:solidFill>
                <a:highlight>
                  <a:srgbClr val="000000"/>
                </a:highlight>
              </a:rPr>
              <a:t>can overcome active </a:t>
            </a:r>
            <a:r>
              <a:rPr lang="en-CL" sz="1200" dirty="0">
                <a:solidFill>
                  <a:schemeClr val="bg1"/>
                </a:solidFill>
                <a:highlight>
                  <a:srgbClr val="000000"/>
                </a:highlight>
              </a:rPr>
              <a:t>illumination.</a:t>
            </a:r>
          </a:p>
          <a:p>
            <a:pPr marL="171450" indent="-171450" algn="just">
              <a:buFont typeface="Arial" panose="020B0604020202020204" pitchFamily="34" charset="0"/>
              <a:buChar char="•"/>
            </a:pPr>
            <a:r>
              <a:rPr lang="en-CL" sz="1200" dirty="0">
                <a:solidFill>
                  <a:schemeClr val="bg1"/>
                </a:solidFill>
                <a:highlight>
                  <a:srgbClr val="000000"/>
                </a:highlight>
              </a:rPr>
              <a:t>The detector only </a:t>
            </a:r>
            <a:r>
              <a:rPr lang="en-CL" sz="1200" dirty="0">
                <a:solidFill>
                  <a:schemeClr val="accent6"/>
                </a:solidFill>
                <a:highlight>
                  <a:srgbClr val="000000"/>
                </a:highlight>
              </a:rPr>
              <a:t>receive and record</a:t>
            </a:r>
            <a:r>
              <a:rPr lang="en-CL" sz="1200" dirty="0">
                <a:solidFill>
                  <a:schemeClr val="bg1"/>
                </a:solidFill>
                <a:highlight>
                  <a:srgbClr val="000000"/>
                </a:highlight>
              </a:rPr>
              <a:t> the emitted and/or scattered photons from the scene. </a:t>
            </a:r>
          </a:p>
        </p:txBody>
      </p:sp>
    </p:spTree>
    <p:extLst>
      <p:ext uri="{BB962C8B-B14F-4D97-AF65-F5344CB8AC3E}">
        <p14:creationId xmlns:p14="http://schemas.microsoft.com/office/powerpoint/2010/main" val="25302367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EE41828-540D-7D14-80CC-0A8B68D8619C}"/>
              </a:ext>
            </a:extLst>
          </p:cNvPr>
          <p:cNvSpPr txBox="1">
            <a:spLocks/>
          </p:cNvSpPr>
          <p:nvPr/>
        </p:nvSpPr>
        <p:spPr>
          <a:xfrm>
            <a:off x="61383" y="-406400"/>
            <a:ext cx="9251950" cy="994172"/>
          </a:xfrm>
          <a:prstGeom prst="rect">
            <a:avLst/>
          </a:prstGeom>
        </p:spPr>
        <p:txBody>
          <a:bodyPr vert="horz" lIns="91440" tIns="45720" rIns="91440" bIns="45720" rtlCol="0" anchor="b">
            <a:normAutofit/>
          </a:bodyPr>
          <a:lstStyle>
            <a:lvl1pPr algn="ctr" defTabSz="685800" rtl="0" eaLnBrk="1" latinLnBrk="0" hangingPunct="1">
              <a:lnSpc>
                <a:spcPct val="90000"/>
              </a:lnSpc>
              <a:spcBef>
                <a:spcPct val="0"/>
              </a:spcBef>
              <a:buNone/>
              <a:defRPr sz="4500" kern="1200">
                <a:solidFill>
                  <a:schemeClr val="tx1"/>
                </a:solidFill>
                <a:latin typeface="+mj-lt"/>
                <a:ea typeface="+mj-ea"/>
                <a:cs typeface="+mj-cs"/>
              </a:defRPr>
            </a:lvl1pPr>
          </a:lstStyle>
          <a:p>
            <a:pPr algn="l"/>
            <a:r>
              <a:rPr lang="en-US" sz="3200" dirty="0">
                <a:solidFill>
                  <a:srgbClr val="FFFF00"/>
                </a:solidFill>
                <a:highlight>
                  <a:srgbClr val="000000"/>
                </a:highlight>
                <a:latin typeface="Calibri" panose="020F0502020204030204" pitchFamily="34" charset="0"/>
                <a:cs typeface="Calibri" panose="020F0502020204030204" pitchFamily="34" charset="0"/>
              </a:rPr>
              <a:t>Single snapshot compressive spectral imaging</a:t>
            </a:r>
            <a:endParaRPr lang="en-CL" sz="3200" dirty="0">
              <a:solidFill>
                <a:srgbClr val="FFFF00"/>
              </a:solidFill>
              <a:highlight>
                <a:srgbClr val="000000"/>
              </a:highlight>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472CC8C2-98AB-04B7-4BB9-C7C7B2EB4734}"/>
              </a:ext>
            </a:extLst>
          </p:cNvPr>
          <p:cNvSpPr txBox="1"/>
          <p:nvPr/>
        </p:nvSpPr>
        <p:spPr>
          <a:xfrm>
            <a:off x="110066" y="4606835"/>
            <a:ext cx="8695267" cy="461665"/>
          </a:xfrm>
          <a:prstGeom prst="rect">
            <a:avLst/>
          </a:prstGeom>
          <a:noFill/>
        </p:spPr>
        <p:txBody>
          <a:bodyPr wrap="square">
            <a:spAutoFit/>
          </a:bodyPr>
          <a:lstStyle/>
          <a:p>
            <a:r>
              <a:rPr lang="en-US" sz="1200" dirty="0">
                <a:solidFill>
                  <a:schemeClr val="bg1"/>
                </a:solidFill>
                <a:highlight>
                  <a:srgbClr val="000000"/>
                </a:highlight>
              </a:rPr>
              <a:t>Ashwin </a:t>
            </a:r>
            <a:r>
              <a:rPr lang="en-US" sz="1200" dirty="0" err="1">
                <a:solidFill>
                  <a:schemeClr val="bg1"/>
                </a:solidFill>
                <a:highlight>
                  <a:srgbClr val="000000"/>
                </a:highlight>
              </a:rPr>
              <a:t>Wagadarikar</a:t>
            </a:r>
            <a:r>
              <a:rPr lang="en-US" sz="1200" dirty="0">
                <a:solidFill>
                  <a:schemeClr val="bg1"/>
                </a:solidFill>
                <a:highlight>
                  <a:srgbClr val="000000"/>
                </a:highlight>
              </a:rPr>
              <a:t>, Renu John, Rebecca Willett, and David Brady, "Single disperser design for coded aperture snapshot spectral imaging," Appl. Opt. 47, B44-B51 (2008)</a:t>
            </a:r>
            <a:endParaRPr lang="en-CL" sz="1200" dirty="0">
              <a:solidFill>
                <a:schemeClr val="bg1"/>
              </a:solidFill>
              <a:highlight>
                <a:srgbClr val="000000"/>
              </a:highlight>
            </a:endParaRPr>
          </a:p>
        </p:txBody>
      </p:sp>
      <p:sp>
        <p:nvSpPr>
          <p:cNvPr id="9" name="TextBox 8">
            <a:extLst>
              <a:ext uri="{FF2B5EF4-FFF2-40B4-BE49-F238E27FC236}">
                <a16:creationId xmlns:a16="http://schemas.microsoft.com/office/drawing/2014/main" id="{DF898B24-6FE8-B0E2-8C65-6A4CC6A80951}"/>
              </a:ext>
            </a:extLst>
          </p:cNvPr>
          <p:cNvSpPr txBox="1"/>
          <p:nvPr/>
        </p:nvSpPr>
        <p:spPr>
          <a:xfrm>
            <a:off x="0" y="699709"/>
            <a:ext cx="9311950" cy="584775"/>
          </a:xfrm>
          <a:prstGeom prst="rect">
            <a:avLst/>
          </a:prstGeom>
          <a:noFill/>
        </p:spPr>
        <p:txBody>
          <a:bodyPr wrap="square">
            <a:spAutoFit/>
          </a:bodyPr>
          <a:lstStyle/>
          <a:p>
            <a:r>
              <a:rPr lang="en-US" sz="1600" b="0" i="0" dirty="0">
                <a:solidFill>
                  <a:schemeClr val="bg1"/>
                </a:solidFill>
                <a:effectLst/>
                <a:highlight>
                  <a:srgbClr val="000000"/>
                </a:highlight>
                <a:latin typeface="Arial" panose="020B0604020202020204" pitchFamily="34" charset="0"/>
              </a:rPr>
              <a:t>The scene is encoded using a </a:t>
            </a:r>
            <a:r>
              <a:rPr lang="en-US" sz="1600" b="0" i="0" dirty="0">
                <a:solidFill>
                  <a:srgbClr val="00B050"/>
                </a:solidFill>
                <a:effectLst/>
                <a:highlight>
                  <a:srgbClr val="000000"/>
                </a:highlight>
                <a:latin typeface="Arial" panose="020B0604020202020204" pitchFamily="34" charset="0"/>
              </a:rPr>
              <a:t>binary coded aperture</a:t>
            </a:r>
            <a:r>
              <a:rPr lang="en-US" sz="1600" b="0" i="0" dirty="0">
                <a:solidFill>
                  <a:schemeClr val="bg1"/>
                </a:solidFill>
                <a:effectLst/>
                <a:highlight>
                  <a:srgbClr val="000000"/>
                </a:highlight>
                <a:latin typeface="Arial" panose="020B0604020202020204" pitchFamily="34" charset="0"/>
              </a:rPr>
              <a:t>. Then, the encoded scene is </a:t>
            </a:r>
            <a:r>
              <a:rPr lang="en-US" sz="1600" b="0" i="0" dirty="0">
                <a:solidFill>
                  <a:srgbClr val="00B050"/>
                </a:solidFill>
                <a:effectLst/>
                <a:highlight>
                  <a:srgbClr val="000000"/>
                </a:highlight>
                <a:latin typeface="Arial" panose="020B0604020202020204" pitchFamily="34" charset="0"/>
              </a:rPr>
              <a:t>sheared</a:t>
            </a:r>
            <a:r>
              <a:rPr lang="en-US" sz="1600" b="0" i="0" dirty="0">
                <a:solidFill>
                  <a:schemeClr val="bg1"/>
                </a:solidFill>
                <a:effectLst/>
                <a:highlight>
                  <a:srgbClr val="000000"/>
                </a:highlight>
                <a:latin typeface="Arial" panose="020B0604020202020204" pitchFamily="34" charset="0"/>
              </a:rPr>
              <a:t> by the temporal </a:t>
            </a:r>
            <a:r>
              <a:rPr lang="en-US" sz="1600" b="0" i="0" dirty="0">
                <a:solidFill>
                  <a:srgbClr val="00B050"/>
                </a:solidFill>
                <a:effectLst/>
                <a:highlight>
                  <a:srgbClr val="000000"/>
                </a:highlight>
                <a:latin typeface="Arial" panose="020B0604020202020204" pitchFamily="34" charset="0"/>
              </a:rPr>
              <a:t>shearing operator</a:t>
            </a:r>
            <a:r>
              <a:rPr lang="en-US" sz="1600" b="0" i="0" dirty="0">
                <a:solidFill>
                  <a:schemeClr val="bg1"/>
                </a:solidFill>
                <a:effectLst/>
                <a:highlight>
                  <a:srgbClr val="000000"/>
                </a:highlight>
                <a:latin typeface="Arial" panose="020B0604020202020204" pitchFamily="34" charset="0"/>
              </a:rPr>
              <a:t>. The encoded and sheared scene is captured in the </a:t>
            </a:r>
            <a:r>
              <a:rPr lang="en-US" sz="1600" b="0" i="0" dirty="0">
                <a:solidFill>
                  <a:srgbClr val="00B050"/>
                </a:solidFill>
                <a:effectLst/>
                <a:highlight>
                  <a:srgbClr val="000000"/>
                </a:highlight>
                <a:latin typeface="Arial" panose="020B0604020202020204" pitchFamily="34" charset="0"/>
              </a:rPr>
              <a:t>detector.</a:t>
            </a:r>
            <a:endParaRPr lang="en-CL" sz="1600" dirty="0">
              <a:solidFill>
                <a:srgbClr val="00B050"/>
              </a:solidFill>
              <a:highlight>
                <a:srgbClr val="000000"/>
              </a:highlight>
            </a:endParaRPr>
          </a:p>
        </p:txBody>
      </p:sp>
      <p:pic>
        <p:nvPicPr>
          <p:cNvPr id="3" name="Picture 2" descr="A diagram of a lens&#10;&#10;AI-generated content may be incorrect.">
            <a:extLst>
              <a:ext uri="{FF2B5EF4-FFF2-40B4-BE49-F238E27FC236}">
                <a16:creationId xmlns:a16="http://schemas.microsoft.com/office/drawing/2014/main" id="{E4543359-64C4-1170-C0AD-9C9C21501930}"/>
              </a:ext>
            </a:extLst>
          </p:cNvPr>
          <p:cNvPicPr>
            <a:picLocks noChangeAspect="1"/>
          </p:cNvPicPr>
          <p:nvPr/>
        </p:nvPicPr>
        <p:blipFill>
          <a:blip r:embed="rId2"/>
          <a:stretch>
            <a:fillRect/>
          </a:stretch>
        </p:blipFill>
        <p:spPr>
          <a:xfrm>
            <a:off x="1521610" y="1423045"/>
            <a:ext cx="5512799" cy="2022529"/>
          </a:xfrm>
          <a:prstGeom prst="rect">
            <a:avLst/>
          </a:prstGeom>
        </p:spPr>
      </p:pic>
      <p:pic>
        <p:nvPicPr>
          <p:cNvPr id="5" name="Picture 4" descr="A math equation with numbers and symbols&#10;&#10;AI-generated content may be incorrect.">
            <a:extLst>
              <a:ext uri="{FF2B5EF4-FFF2-40B4-BE49-F238E27FC236}">
                <a16:creationId xmlns:a16="http://schemas.microsoft.com/office/drawing/2014/main" id="{0AAAACC6-E6B9-D794-30E0-7305BF1A99F5}"/>
              </a:ext>
            </a:extLst>
          </p:cNvPr>
          <p:cNvPicPr>
            <a:picLocks noChangeAspect="1"/>
          </p:cNvPicPr>
          <p:nvPr/>
        </p:nvPicPr>
        <p:blipFill>
          <a:blip r:embed="rId3"/>
          <a:stretch>
            <a:fillRect/>
          </a:stretch>
        </p:blipFill>
        <p:spPr>
          <a:xfrm>
            <a:off x="2326821" y="3679372"/>
            <a:ext cx="3771900" cy="622300"/>
          </a:xfrm>
          <a:prstGeom prst="rect">
            <a:avLst/>
          </a:prstGeom>
        </p:spPr>
      </p:pic>
    </p:spTree>
    <p:extLst>
      <p:ext uri="{BB962C8B-B14F-4D97-AF65-F5344CB8AC3E}">
        <p14:creationId xmlns:p14="http://schemas.microsoft.com/office/powerpoint/2010/main" val="35746817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B73FB588-2B4F-45B9-4D23-D2298F858948}"/>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29556869-0B6C-6DC1-FDC1-7EF64C879028}"/>
              </a:ext>
            </a:extLst>
          </p:cNvPr>
          <p:cNvSpPr txBox="1">
            <a:spLocks/>
          </p:cNvSpPr>
          <p:nvPr/>
        </p:nvSpPr>
        <p:spPr>
          <a:xfrm>
            <a:off x="61383" y="-406400"/>
            <a:ext cx="9251950" cy="994172"/>
          </a:xfrm>
          <a:prstGeom prst="rect">
            <a:avLst/>
          </a:prstGeom>
        </p:spPr>
        <p:txBody>
          <a:bodyPr vert="horz" lIns="91440" tIns="45720" rIns="91440" bIns="45720" rtlCol="0" anchor="b">
            <a:normAutofit/>
          </a:bodyPr>
          <a:lstStyle>
            <a:lvl1pPr algn="ctr" defTabSz="685800" rtl="0" eaLnBrk="1" latinLnBrk="0" hangingPunct="1">
              <a:lnSpc>
                <a:spcPct val="90000"/>
              </a:lnSpc>
              <a:spcBef>
                <a:spcPct val="0"/>
              </a:spcBef>
              <a:buNone/>
              <a:defRPr sz="4500" kern="1200">
                <a:solidFill>
                  <a:schemeClr val="tx1"/>
                </a:solidFill>
                <a:latin typeface="+mj-lt"/>
                <a:ea typeface="+mj-ea"/>
                <a:cs typeface="+mj-cs"/>
              </a:defRPr>
            </a:lvl1pPr>
          </a:lstStyle>
          <a:p>
            <a:pPr algn="l"/>
            <a:r>
              <a:rPr lang="en-US" sz="3200" dirty="0">
                <a:solidFill>
                  <a:srgbClr val="FFFF00"/>
                </a:solidFill>
                <a:highlight>
                  <a:srgbClr val="000000"/>
                </a:highlight>
                <a:latin typeface="Calibri" panose="020F0502020204030204" pitchFamily="34" charset="0"/>
                <a:cs typeface="Calibri" panose="020F0502020204030204" pitchFamily="34" charset="0"/>
              </a:rPr>
              <a:t>Compressive Ultrafast Photography (CUP)</a:t>
            </a:r>
            <a:endParaRPr lang="en-CL" sz="3200" dirty="0">
              <a:solidFill>
                <a:srgbClr val="FFFF00"/>
              </a:solidFill>
              <a:highlight>
                <a:srgbClr val="000000"/>
              </a:highlight>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F7769B11-F44C-8599-4313-6B036845B890}"/>
              </a:ext>
            </a:extLst>
          </p:cNvPr>
          <p:cNvSpPr txBox="1"/>
          <p:nvPr/>
        </p:nvSpPr>
        <p:spPr>
          <a:xfrm>
            <a:off x="110066" y="4606835"/>
            <a:ext cx="8695267" cy="430887"/>
          </a:xfrm>
          <a:prstGeom prst="rect">
            <a:avLst/>
          </a:prstGeom>
          <a:noFill/>
        </p:spPr>
        <p:txBody>
          <a:bodyPr wrap="square">
            <a:spAutoFit/>
          </a:bodyPr>
          <a:lstStyle/>
          <a:p>
            <a:r>
              <a:rPr lang="en-US" sz="1100" b="0" i="0" dirty="0">
                <a:solidFill>
                  <a:schemeClr val="bg1"/>
                </a:solidFill>
                <a:effectLst/>
                <a:highlight>
                  <a:srgbClr val="000000"/>
                </a:highlight>
                <a:latin typeface="Arial" panose="020B0604020202020204" pitchFamily="34" charset="0"/>
              </a:rPr>
              <a:t>L. Gao, J. Liang, C. Li, and L. V. Wang, “Single-shot compressed ultrafast photography at one hundred billion frames per second,” Nature 516, 74–77 (2014).</a:t>
            </a:r>
            <a:endParaRPr lang="en-CL" sz="1100" dirty="0">
              <a:solidFill>
                <a:schemeClr val="bg1"/>
              </a:solidFill>
              <a:highlight>
                <a:srgbClr val="000000"/>
              </a:highlight>
            </a:endParaRPr>
          </a:p>
        </p:txBody>
      </p:sp>
      <p:pic>
        <p:nvPicPr>
          <p:cNvPr id="6" name="Picture 5" descr="Diagram of a laser beam&#10;&#10;Description automatically generated">
            <a:extLst>
              <a:ext uri="{FF2B5EF4-FFF2-40B4-BE49-F238E27FC236}">
                <a16:creationId xmlns:a16="http://schemas.microsoft.com/office/drawing/2014/main" id="{CC422B44-9A92-B133-3031-50130287B228}"/>
              </a:ext>
            </a:extLst>
          </p:cNvPr>
          <p:cNvPicPr>
            <a:picLocks noChangeAspect="1"/>
          </p:cNvPicPr>
          <p:nvPr/>
        </p:nvPicPr>
        <p:blipFill>
          <a:blip r:embed="rId2"/>
          <a:stretch>
            <a:fillRect/>
          </a:stretch>
        </p:blipFill>
        <p:spPr>
          <a:xfrm>
            <a:off x="2369772" y="1425083"/>
            <a:ext cx="3933452" cy="3100345"/>
          </a:xfrm>
          <a:prstGeom prst="rect">
            <a:avLst/>
          </a:prstGeom>
        </p:spPr>
      </p:pic>
      <p:sp>
        <p:nvSpPr>
          <p:cNvPr id="9" name="TextBox 8">
            <a:extLst>
              <a:ext uri="{FF2B5EF4-FFF2-40B4-BE49-F238E27FC236}">
                <a16:creationId xmlns:a16="http://schemas.microsoft.com/office/drawing/2014/main" id="{BCDE0E70-C291-4475-D065-B7B1698DEA09}"/>
              </a:ext>
            </a:extLst>
          </p:cNvPr>
          <p:cNvSpPr txBox="1"/>
          <p:nvPr/>
        </p:nvSpPr>
        <p:spPr>
          <a:xfrm>
            <a:off x="0" y="699709"/>
            <a:ext cx="9311950" cy="584775"/>
          </a:xfrm>
          <a:prstGeom prst="rect">
            <a:avLst/>
          </a:prstGeom>
          <a:noFill/>
        </p:spPr>
        <p:txBody>
          <a:bodyPr wrap="square">
            <a:spAutoFit/>
          </a:bodyPr>
          <a:lstStyle/>
          <a:p>
            <a:r>
              <a:rPr lang="en-US" sz="1600" b="0" i="0" dirty="0">
                <a:solidFill>
                  <a:schemeClr val="bg1"/>
                </a:solidFill>
                <a:effectLst/>
                <a:highlight>
                  <a:srgbClr val="000000"/>
                </a:highlight>
                <a:latin typeface="Arial" panose="020B0604020202020204" pitchFamily="34" charset="0"/>
              </a:rPr>
              <a:t>The scene is encoded using a </a:t>
            </a:r>
            <a:r>
              <a:rPr lang="en-US" sz="1600" b="0" i="0" dirty="0">
                <a:solidFill>
                  <a:srgbClr val="00B050"/>
                </a:solidFill>
                <a:effectLst/>
                <a:highlight>
                  <a:srgbClr val="000000"/>
                </a:highlight>
                <a:latin typeface="Arial" panose="020B0604020202020204" pitchFamily="34" charset="0"/>
              </a:rPr>
              <a:t>binary coded aperture</a:t>
            </a:r>
            <a:r>
              <a:rPr lang="en-US" sz="1600" b="0" i="0" dirty="0">
                <a:solidFill>
                  <a:schemeClr val="bg1"/>
                </a:solidFill>
                <a:effectLst/>
                <a:highlight>
                  <a:srgbClr val="000000"/>
                </a:highlight>
                <a:latin typeface="Arial" panose="020B0604020202020204" pitchFamily="34" charset="0"/>
              </a:rPr>
              <a:t>. Then, the encoded scene is </a:t>
            </a:r>
            <a:r>
              <a:rPr lang="en-US" sz="1600" b="0" i="0" dirty="0">
                <a:solidFill>
                  <a:srgbClr val="00B050"/>
                </a:solidFill>
                <a:effectLst/>
                <a:highlight>
                  <a:srgbClr val="000000"/>
                </a:highlight>
                <a:latin typeface="Arial" panose="020B0604020202020204" pitchFamily="34" charset="0"/>
              </a:rPr>
              <a:t>sheared</a:t>
            </a:r>
            <a:r>
              <a:rPr lang="en-US" sz="1600" b="0" i="0" dirty="0">
                <a:solidFill>
                  <a:schemeClr val="bg1"/>
                </a:solidFill>
                <a:effectLst/>
                <a:highlight>
                  <a:srgbClr val="000000"/>
                </a:highlight>
                <a:latin typeface="Arial" panose="020B0604020202020204" pitchFamily="34" charset="0"/>
              </a:rPr>
              <a:t> by the temporal </a:t>
            </a:r>
            <a:r>
              <a:rPr lang="en-US" sz="1600" b="0" i="0" dirty="0">
                <a:solidFill>
                  <a:srgbClr val="00B050"/>
                </a:solidFill>
                <a:effectLst/>
                <a:highlight>
                  <a:srgbClr val="000000"/>
                </a:highlight>
                <a:latin typeface="Arial" panose="020B0604020202020204" pitchFamily="34" charset="0"/>
              </a:rPr>
              <a:t>shearing operator</a:t>
            </a:r>
            <a:r>
              <a:rPr lang="en-US" sz="1600" b="0" i="0" dirty="0">
                <a:solidFill>
                  <a:schemeClr val="bg1"/>
                </a:solidFill>
                <a:effectLst/>
                <a:highlight>
                  <a:srgbClr val="000000"/>
                </a:highlight>
                <a:latin typeface="Arial" panose="020B0604020202020204" pitchFamily="34" charset="0"/>
              </a:rPr>
              <a:t>. The encoded and sheared scene is captured in the </a:t>
            </a:r>
            <a:r>
              <a:rPr lang="en-US" sz="1600" b="0" i="0" dirty="0">
                <a:solidFill>
                  <a:srgbClr val="00B050"/>
                </a:solidFill>
                <a:effectLst/>
                <a:highlight>
                  <a:srgbClr val="000000"/>
                </a:highlight>
                <a:latin typeface="Arial" panose="020B0604020202020204" pitchFamily="34" charset="0"/>
              </a:rPr>
              <a:t>detector.</a:t>
            </a:r>
            <a:endParaRPr lang="en-CL" sz="1600" dirty="0">
              <a:solidFill>
                <a:srgbClr val="00B050"/>
              </a:solidFill>
              <a:highlight>
                <a:srgbClr val="000000"/>
              </a:highlight>
            </a:endParaRPr>
          </a:p>
        </p:txBody>
      </p:sp>
      <p:sp>
        <p:nvSpPr>
          <p:cNvPr id="2" name="Content Placeholder 2">
            <a:extLst>
              <a:ext uri="{FF2B5EF4-FFF2-40B4-BE49-F238E27FC236}">
                <a16:creationId xmlns:a16="http://schemas.microsoft.com/office/drawing/2014/main" id="{F9E10806-A0B3-5FAE-8592-80CA73160CD8}"/>
              </a:ext>
            </a:extLst>
          </p:cNvPr>
          <p:cNvSpPr txBox="1">
            <a:spLocks/>
          </p:cNvSpPr>
          <p:nvPr/>
        </p:nvSpPr>
        <p:spPr>
          <a:xfrm>
            <a:off x="6909660" y="1775105"/>
            <a:ext cx="2164597" cy="2267369"/>
          </a:xfrm>
          <a:prstGeom prst="rect">
            <a:avLst/>
          </a:prstGeom>
        </p:spPr>
        <p:txBody>
          <a:bodyPr vert="horz" lIns="91440" tIns="45720" rIns="91440" bIns="45720" rtlCol="0">
            <a:no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marL="171450" indent="-171450" algn="just">
              <a:buFont typeface="Arial" panose="020B0604020202020204" pitchFamily="34" charset="0"/>
              <a:buChar char="•"/>
            </a:pPr>
            <a:r>
              <a:rPr lang="en-CL" sz="1200" dirty="0">
                <a:solidFill>
                  <a:schemeClr val="bg1"/>
                </a:solidFill>
                <a:highlight>
                  <a:srgbClr val="000000"/>
                </a:highlight>
              </a:rPr>
              <a:t>It is a </a:t>
            </a:r>
            <a:r>
              <a:rPr lang="en-CL" sz="1200" dirty="0">
                <a:solidFill>
                  <a:schemeClr val="accent6"/>
                </a:solidFill>
                <a:highlight>
                  <a:srgbClr val="000000"/>
                </a:highlight>
              </a:rPr>
              <a:t>passive-detector</a:t>
            </a:r>
            <a:r>
              <a:rPr lang="en-CL" sz="1200" dirty="0">
                <a:solidFill>
                  <a:schemeClr val="bg1"/>
                </a:solidFill>
                <a:highlight>
                  <a:srgbClr val="000000"/>
                </a:highlight>
              </a:rPr>
              <a:t> approach</a:t>
            </a:r>
          </a:p>
          <a:p>
            <a:pPr marL="171450" indent="-171450" algn="just">
              <a:buFont typeface="Arial" panose="020B0604020202020204" pitchFamily="34" charset="0"/>
              <a:buChar char="•"/>
            </a:pPr>
            <a:endParaRPr lang="en-CL" sz="1200" dirty="0">
              <a:solidFill>
                <a:schemeClr val="bg1"/>
              </a:solidFill>
              <a:highlight>
                <a:srgbClr val="000000"/>
              </a:highlight>
            </a:endParaRPr>
          </a:p>
        </p:txBody>
      </p:sp>
    </p:spTree>
    <p:extLst>
      <p:ext uri="{BB962C8B-B14F-4D97-AF65-F5344CB8AC3E}">
        <p14:creationId xmlns:p14="http://schemas.microsoft.com/office/powerpoint/2010/main" val="22799910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EE41828-540D-7D14-80CC-0A8B68D8619C}"/>
              </a:ext>
            </a:extLst>
          </p:cNvPr>
          <p:cNvSpPr txBox="1">
            <a:spLocks/>
          </p:cNvSpPr>
          <p:nvPr/>
        </p:nvSpPr>
        <p:spPr>
          <a:xfrm>
            <a:off x="61383" y="-406400"/>
            <a:ext cx="9251950" cy="994172"/>
          </a:xfrm>
          <a:prstGeom prst="rect">
            <a:avLst/>
          </a:prstGeom>
        </p:spPr>
        <p:txBody>
          <a:bodyPr vert="horz" lIns="91440" tIns="45720" rIns="91440" bIns="45720" rtlCol="0" anchor="b">
            <a:normAutofit/>
          </a:bodyPr>
          <a:lstStyle>
            <a:lvl1pPr algn="ctr" defTabSz="685800" rtl="0" eaLnBrk="1" latinLnBrk="0" hangingPunct="1">
              <a:lnSpc>
                <a:spcPct val="90000"/>
              </a:lnSpc>
              <a:spcBef>
                <a:spcPct val="0"/>
              </a:spcBef>
              <a:buNone/>
              <a:defRPr sz="4500" kern="1200">
                <a:solidFill>
                  <a:schemeClr val="tx1"/>
                </a:solidFill>
                <a:latin typeface="+mj-lt"/>
                <a:ea typeface="+mj-ea"/>
                <a:cs typeface="+mj-cs"/>
              </a:defRPr>
            </a:lvl1pPr>
          </a:lstStyle>
          <a:p>
            <a:pPr algn="l"/>
            <a:r>
              <a:rPr lang="en-US" sz="3200" dirty="0">
                <a:solidFill>
                  <a:srgbClr val="FFFF00"/>
                </a:solidFill>
                <a:highlight>
                  <a:srgbClr val="000000"/>
                </a:highlight>
                <a:latin typeface="Calibri" panose="020F0502020204030204" pitchFamily="34" charset="0"/>
                <a:cs typeface="Calibri" panose="020F0502020204030204" pitchFamily="34" charset="0"/>
              </a:rPr>
              <a:t>Compressive Ultrafast Photography (CUP) Applications</a:t>
            </a:r>
            <a:endParaRPr lang="en-CL" sz="3200" dirty="0">
              <a:solidFill>
                <a:srgbClr val="FFFF00"/>
              </a:solidFill>
              <a:highlight>
                <a:srgbClr val="000000"/>
              </a:highlight>
              <a:latin typeface="Calibri" panose="020F0502020204030204" pitchFamily="34" charset="0"/>
              <a:cs typeface="Calibri" panose="020F0502020204030204" pitchFamily="34" charset="0"/>
            </a:endParaRPr>
          </a:p>
        </p:txBody>
      </p:sp>
      <p:sp>
        <p:nvSpPr>
          <p:cNvPr id="5" name="Content Placeholder 2">
            <a:extLst>
              <a:ext uri="{FF2B5EF4-FFF2-40B4-BE49-F238E27FC236}">
                <a16:creationId xmlns:a16="http://schemas.microsoft.com/office/drawing/2014/main" id="{337170A6-4BD5-D039-15A5-9C5027CE1D94}"/>
              </a:ext>
            </a:extLst>
          </p:cNvPr>
          <p:cNvSpPr txBox="1">
            <a:spLocks/>
          </p:cNvSpPr>
          <p:nvPr/>
        </p:nvSpPr>
        <p:spPr>
          <a:xfrm>
            <a:off x="5216067" y="3899997"/>
            <a:ext cx="3561750" cy="427923"/>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r>
              <a:rPr lang="en-CL" dirty="0">
                <a:solidFill>
                  <a:schemeClr val="bg1"/>
                </a:solidFill>
                <a:highlight>
                  <a:srgbClr val="000000"/>
                </a:highlight>
              </a:rPr>
              <a:t>Single-shot CUP pulse refraction</a:t>
            </a:r>
          </a:p>
        </p:txBody>
      </p:sp>
      <p:pic>
        <p:nvPicPr>
          <p:cNvPr id="4098" name="Picture 2" descr="cup_refraction">
            <a:extLst>
              <a:ext uri="{FF2B5EF4-FFF2-40B4-BE49-F238E27FC236}">
                <a16:creationId xmlns:a16="http://schemas.microsoft.com/office/drawing/2014/main" id="{7E8D5640-0553-5D62-2F54-99EE6ED0F07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3000" b="1250"/>
          <a:stretch/>
        </p:blipFill>
        <p:spPr bwMode="auto">
          <a:xfrm>
            <a:off x="5528734" y="1064678"/>
            <a:ext cx="2810933" cy="2861647"/>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a:extLst>
              <a:ext uri="{FF2B5EF4-FFF2-40B4-BE49-F238E27FC236}">
                <a16:creationId xmlns:a16="http://schemas.microsoft.com/office/drawing/2014/main" id="{69159CA6-74F0-E69D-159A-E70E75664AC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6617" y="1185331"/>
            <a:ext cx="4142140" cy="2751669"/>
          </a:xfrm>
          <a:prstGeom prst="rect">
            <a:avLst/>
          </a:prstGeom>
          <a:noFill/>
          <a:extLst>
            <a:ext uri="{909E8E84-426E-40DD-AFC4-6F175D3DCCD1}">
              <a14:hiddenFill xmlns:a14="http://schemas.microsoft.com/office/drawing/2010/main">
                <a:solidFill>
                  <a:srgbClr val="FFFFFF"/>
                </a:solidFill>
              </a14:hiddenFill>
            </a:ext>
          </a:extLst>
        </p:spPr>
      </p:pic>
      <p:sp>
        <p:nvSpPr>
          <p:cNvPr id="2" name="Content Placeholder 2">
            <a:extLst>
              <a:ext uri="{FF2B5EF4-FFF2-40B4-BE49-F238E27FC236}">
                <a16:creationId xmlns:a16="http://schemas.microsoft.com/office/drawing/2014/main" id="{27E96122-C01F-EFDD-0FC5-142763C489A6}"/>
              </a:ext>
            </a:extLst>
          </p:cNvPr>
          <p:cNvSpPr txBox="1">
            <a:spLocks/>
          </p:cNvSpPr>
          <p:nvPr/>
        </p:nvSpPr>
        <p:spPr>
          <a:xfrm>
            <a:off x="660999" y="3962042"/>
            <a:ext cx="3561750" cy="427923"/>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r>
              <a:rPr lang="en-CL" dirty="0">
                <a:solidFill>
                  <a:schemeClr val="bg1"/>
                </a:solidFill>
                <a:highlight>
                  <a:srgbClr val="000000"/>
                </a:highlight>
              </a:rPr>
              <a:t>Optical Mach cone using CUP</a:t>
            </a:r>
          </a:p>
        </p:txBody>
      </p:sp>
      <p:sp>
        <p:nvSpPr>
          <p:cNvPr id="7" name="TextBox 6">
            <a:extLst>
              <a:ext uri="{FF2B5EF4-FFF2-40B4-BE49-F238E27FC236}">
                <a16:creationId xmlns:a16="http://schemas.microsoft.com/office/drawing/2014/main" id="{472CC8C2-98AB-04B7-4BB9-C7C7B2EB4734}"/>
              </a:ext>
            </a:extLst>
          </p:cNvPr>
          <p:cNvSpPr txBox="1"/>
          <p:nvPr/>
        </p:nvSpPr>
        <p:spPr>
          <a:xfrm>
            <a:off x="110066" y="4606835"/>
            <a:ext cx="8695267" cy="430887"/>
          </a:xfrm>
          <a:prstGeom prst="rect">
            <a:avLst/>
          </a:prstGeom>
          <a:noFill/>
        </p:spPr>
        <p:txBody>
          <a:bodyPr wrap="square">
            <a:spAutoFit/>
          </a:bodyPr>
          <a:lstStyle/>
          <a:p>
            <a:r>
              <a:rPr lang="en-US" sz="1100" b="0" i="0" dirty="0">
                <a:solidFill>
                  <a:schemeClr val="bg1"/>
                </a:solidFill>
                <a:effectLst/>
                <a:highlight>
                  <a:srgbClr val="000000"/>
                </a:highlight>
                <a:latin typeface="Arial" panose="020B0604020202020204" pitchFamily="34" charset="0"/>
              </a:rPr>
              <a:t>L. Gao, J. Liang, C. Li, and L. V. Wang, “Single-shot compressed ultrafast photography at one hundred billion frames per second,” Nature 516, 74–77 (2014).</a:t>
            </a:r>
            <a:endParaRPr lang="en-CL" sz="1100" dirty="0">
              <a:solidFill>
                <a:schemeClr val="bg1"/>
              </a:solidFill>
              <a:highlight>
                <a:srgbClr val="000000"/>
              </a:highlight>
            </a:endParaRPr>
          </a:p>
        </p:txBody>
      </p:sp>
      <p:sp>
        <p:nvSpPr>
          <p:cNvPr id="3" name="Content Placeholder 2">
            <a:extLst>
              <a:ext uri="{FF2B5EF4-FFF2-40B4-BE49-F238E27FC236}">
                <a16:creationId xmlns:a16="http://schemas.microsoft.com/office/drawing/2014/main" id="{24F97789-0B87-C96C-2D5C-1ECAC557BF38}"/>
              </a:ext>
            </a:extLst>
          </p:cNvPr>
          <p:cNvSpPr txBox="1">
            <a:spLocks/>
          </p:cNvSpPr>
          <p:nvPr/>
        </p:nvSpPr>
        <p:spPr>
          <a:xfrm>
            <a:off x="2133532" y="4332464"/>
            <a:ext cx="4850467" cy="427923"/>
          </a:xfrm>
          <a:prstGeom prst="rect">
            <a:avLst/>
          </a:prstGeom>
        </p:spPr>
        <p:txBody>
          <a:bodyPr vert="horz" lIns="91440" tIns="45720" rIns="91440" bIns="45720" rtlCol="0">
            <a:normAutofit fontScale="92500"/>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r>
              <a:rPr lang="en-US" dirty="0">
                <a:solidFill>
                  <a:srgbClr val="FF0000"/>
                </a:solidFill>
                <a:highlight>
                  <a:srgbClr val="000000"/>
                </a:highlight>
              </a:rPr>
              <a:t>Real-time applications is limited by reconstruction</a:t>
            </a:r>
            <a:endParaRPr lang="en-CL" dirty="0">
              <a:solidFill>
                <a:srgbClr val="FF0000"/>
              </a:solidFill>
              <a:highlight>
                <a:srgbClr val="000000"/>
              </a:highlight>
            </a:endParaRPr>
          </a:p>
        </p:txBody>
      </p:sp>
    </p:spTree>
    <p:extLst>
      <p:ext uri="{BB962C8B-B14F-4D97-AF65-F5344CB8AC3E}">
        <p14:creationId xmlns:p14="http://schemas.microsoft.com/office/powerpoint/2010/main" val="28346523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F0A77705-81D1-28B5-7B6A-7AA877854E43}"/>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ADC33DF9-C37B-E58E-8682-E13ECCD312E9}"/>
              </a:ext>
            </a:extLst>
          </p:cNvPr>
          <p:cNvSpPr txBox="1">
            <a:spLocks/>
          </p:cNvSpPr>
          <p:nvPr/>
        </p:nvSpPr>
        <p:spPr>
          <a:xfrm>
            <a:off x="61383" y="-406400"/>
            <a:ext cx="8846873" cy="994172"/>
          </a:xfrm>
          <a:prstGeom prst="rect">
            <a:avLst/>
          </a:prstGeom>
        </p:spPr>
        <p:txBody>
          <a:bodyPr vert="horz" lIns="91440" tIns="45720" rIns="91440" bIns="45720" rtlCol="0" anchor="b">
            <a:normAutofit/>
          </a:bodyPr>
          <a:lstStyle>
            <a:lvl1pPr algn="ctr" defTabSz="685800" rtl="0" eaLnBrk="1" latinLnBrk="0" hangingPunct="1">
              <a:lnSpc>
                <a:spcPct val="90000"/>
              </a:lnSpc>
              <a:spcBef>
                <a:spcPct val="0"/>
              </a:spcBef>
              <a:buNone/>
              <a:defRPr sz="4500" kern="1200">
                <a:solidFill>
                  <a:schemeClr val="tx1"/>
                </a:solidFill>
                <a:latin typeface="+mj-lt"/>
                <a:ea typeface="+mj-ea"/>
                <a:cs typeface="+mj-cs"/>
              </a:defRPr>
            </a:lvl1pPr>
          </a:lstStyle>
          <a:p>
            <a:pPr algn="l"/>
            <a:r>
              <a:rPr lang="en-US" sz="2400" dirty="0" err="1">
                <a:solidFill>
                  <a:srgbClr val="FFFF00"/>
                </a:solidFill>
                <a:highlight>
                  <a:srgbClr val="000000"/>
                </a:highlight>
                <a:latin typeface="Helvetica" pitchFamily="2" charset="0"/>
                <a:cs typeface="Calibri" panose="020F0502020204030204" pitchFamily="34" charset="0"/>
              </a:rPr>
              <a:t>Representación</a:t>
            </a:r>
            <a:r>
              <a:rPr lang="en-US" sz="2400" dirty="0">
                <a:solidFill>
                  <a:srgbClr val="FFFF00"/>
                </a:solidFill>
                <a:highlight>
                  <a:srgbClr val="000000"/>
                </a:highlight>
                <a:latin typeface="Helvetica" pitchFamily="2" charset="0"/>
                <a:cs typeface="Calibri" panose="020F0502020204030204" pitchFamily="34" charset="0"/>
              </a:rPr>
              <a:t> neuronal </a:t>
            </a:r>
            <a:r>
              <a:rPr lang="en-US" sz="2400" dirty="0" err="1">
                <a:solidFill>
                  <a:srgbClr val="FFFF00"/>
                </a:solidFill>
                <a:highlight>
                  <a:srgbClr val="000000"/>
                </a:highlight>
                <a:latin typeface="Helvetica" pitchFamily="2" charset="0"/>
                <a:cs typeface="Calibri" panose="020F0502020204030204" pitchFamily="34" charset="0"/>
              </a:rPr>
              <a:t>implicita</a:t>
            </a:r>
            <a:r>
              <a:rPr lang="en-US" sz="2400" dirty="0">
                <a:solidFill>
                  <a:srgbClr val="FFFF00"/>
                </a:solidFill>
                <a:highlight>
                  <a:srgbClr val="000000"/>
                </a:highlight>
                <a:latin typeface="Helvetica" pitchFamily="2" charset="0"/>
                <a:cs typeface="Calibri" panose="020F0502020204030204" pitchFamily="34" charset="0"/>
              </a:rPr>
              <a:t> para video </a:t>
            </a:r>
            <a:r>
              <a:rPr lang="en-US" sz="2400" dirty="0" err="1">
                <a:solidFill>
                  <a:srgbClr val="FFFF00"/>
                </a:solidFill>
                <a:highlight>
                  <a:srgbClr val="000000"/>
                </a:highlight>
                <a:latin typeface="Helvetica" pitchFamily="2" charset="0"/>
                <a:cs typeface="Calibri" panose="020F0502020204030204" pitchFamily="34" charset="0"/>
              </a:rPr>
              <a:t>ultrarápido</a:t>
            </a:r>
            <a:endParaRPr lang="en-CL" sz="2400" dirty="0">
              <a:solidFill>
                <a:srgbClr val="FFFF00"/>
              </a:solidFill>
              <a:highlight>
                <a:srgbClr val="000000"/>
              </a:highlight>
              <a:latin typeface="Helvetica" pitchFamily="2" charset="0"/>
              <a:cs typeface="Calibri" panose="020F0502020204030204" pitchFamily="34" charset="0"/>
            </a:endParaRPr>
          </a:p>
        </p:txBody>
      </p:sp>
      <p:sp>
        <p:nvSpPr>
          <p:cNvPr id="7" name="TextBox 6">
            <a:extLst>
              <a:ext uri="{FF2B5EF4-FFF2-40B4-BE49-F238E27FC236}">
                <a16:creationId xmlns:a16="http://schemas.microsoft.com/office/drawing/2014/main" id="{B3A2C1CE-7B52-E81B-5878-3C5BBDC0EF67}"/>
              </a:ext>
            </a:extLst>
          </p:cNvPr>
          <p:cNvSpPr txBox="1"/>
          <p:nvPr/>
        </p:nvSpPr>
        <p:spPr>
          <a:xfrm>
            <a:off x="110066" y="4606835"/>
            <a:ext cx="8695267" cy="461665"/>
          </a:xfrm>
          <a:prstGeom prst="rect">
            <a:avLst/>
          </a:prstGeom>
          <a:noFill/>
        </p:spPr>
        <p:txBody>
          <a:bodyPr wrap="square">
            <a:spAutoFit/>
          </a:bodyPr>
          <a:lstStyle/>
          <a:p>
            <a:r>
              <a:rPr lang="en-US" sz="1200" b="1" dirty="0">
                <a:solidFill>
                  <a:schemeClr val="bg1"/>
                </a:solidFill>
                <a:highlight>
                  <a:srgbClr val="000000"/>
                </a:highlight>
              </a:rPr>
              <a:t>N. Diaz</a:t>
            </a:r>
            <a:r>
              <a:rPr lang="en-US" sz="1200" dirty="0">
                <a:solidFill>
                  <a:schemeClr val="bg1"/>
                </a:solidFill>
                <a:highlight>
                  <a:srgbClr val="000000"/>
                </a:highlight>
              </a:rPr>
              <a:t>, M. Beniwal, M. Marquez, F. Guzmán, C. Jiang, J. Liang, and E. Vera, “Single-mask sphere-packing with implicit neural representation reconstruction for ultrahigh-speed imaging,” </a:t>
            </a:r>
            <a:r>
              <a:rPr lang="en-US" sz="1200" i="1" dirty="0">
                <a:solidFill>
                  <a:schemeClr val="bg1"/>
                </a:solidFill>
                <a:highlight>
                  <a:srgbClr val="000000"/>
                </a:highlight>
              </a:rPr>
              <a:t>Optics Express 33,</a:t>
            </a:r>
            <a:r>
              <a:rPr lang="en-US" sz="1200" dirty="0">
                <a:solidFill>
                  <a:schemeClr val="bg1"/>
                </a:solidFill>
                <a:highlight>
                  <a:srgbClr val="000000"/>
                </a:highlight>
              </a:rPr>
              <a:t> pp. 24027–24038, 2025.</a:t>
            </a:r>
            <a:endParaRPr lang="en-CL" sz="1200" dirty="0">
              <a:solidFill>
                <a:schemeClr val="bg1"/>
              </a:solidFill>
              <a:highlight>
                <a:srgbClr val="000000"/>
              </a:highlight>
            </a:endParaRPr>
          </a:p>
        </p:txBody>
      </p:sp>
      <p:pic>
        <p:nvPicPr>
          <p:cNvPr id="6" name="Picture 5" descr="A diagram of a diagram of a function&#10;&#10;AI-generated content may be incorrect.">
            <a:extLst>
              <a:ext uri="{FF2B5EF4-FFF2-40B4-BE49-F238E27FC236}">
                <a16:creationId xmlns:a16="http://schemas.microsoft.com/office/drawing/2014/main" id="{9043B030-FE5D-8089-B46D-DBD4B10A49A4}"/>
              </a:ext>
            </a:extLst>
          </p:cNvPr>
          <p:cNvPicPr>
            <a:picLocks noChangeAspect="1"/>
          </p:cNvPicPr>
          <p:nvPr/>
        </p:nvPicPr>
        <p:blipFill>
          <a:blip r:embed="rId2"/>
          <a:stretch>
            <a:fillRect/>
          </a:stretch>
        </p:blipFill>
        <p:spPr>
          <a:xfrm>
            <a:off x="1642005" y="760578"/>
            <a:ext cx="5243825" cy="3794313"/>
          </a:xfrm>
          <a:prstGeom prst="rect">
            <a:avLst/>
          </a:prstGeom>
        </p:spPr>
      </p:pic>
    </p:spTree>
    <p:extLst>
      <p:ext uri="{BB962C8B-B14F-4D97-AF65-F5344CB8AC3E}">
        <p14:creationId xmlns:p14="http://schemas.microsoft.com/office/powerpoint/2010/main" val="39412681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EE41828-540D-7D14-80CC-0A8B68D8619C}"/>
              </a:ext>
            </a:extLst>
          </p:cNvPr>
          <p:cNvSpPr txBox="1">
            <a:spLocks/>
          </p:cNvSpPr>
          <p:nvPr/>
        </p:nvSpPr>
        <p:spPr>
          <a:xfrm>
            <a:off x="0" y="-361533"/>
            <a:ext cx="7886700" cy="994172"/>
          </a:xfrm>
          <a:prstGeom prst="rect">
            <a:avLst/>
          </a:prstGeom>
        </p:spPr>
        <p:txBody>
          <a:bodyPr vert="horz" lIns="91440" tIns="45720" rIns="91440" bIns="45720" rtlCol="0" anchor="b">
            <a:normAutofit/>
          </a:bodyPr>
          <a:lstStyle>
            <a:lvl1pPr algn="ctr" defTabSz="685800" rtl="0" eaLnBrk="1" latinLnBrk="0" hangingPunct="1">
              <a:lnSpc>
                <a:spcPct val="90000"/>
              </a:lnSpc>
              <a:spcBef>
                <a:spcPct val="0"/>
              </a:spcBef>
              <a:buNone/>
              <a:defRPr sz="4500" kern="1200">
                <a:solidFill>
                  <a:schemeClr val="tx1"/>
                </a:solidFill>
                <a:latin typeface="+mj-lt"/>
                <a:ea typeface="+mj-ea"/>
                <a:cs typeface="+mj-cs"/>
              </a:defRPr>
            </a:lvl1pPr>
          </a:lstStyle>
          <a:p>
            <a:pPr algn="l"/>
            <a:r>
              <a:rPr lang="en-US" sz="3200" dirty="0">
                <a:solidFill>
                  <a:srgbClr val="FFFF00"/>
                </a:solidFill>
                <a:highlight>
                  <a:srgbClr val="000000"/>
                </a:highlight>
                <a:latin typeface="Calibri" panose="020F0502020204030204" pitchFamily="34" charset="0"/>
                <a:cs typeface="Calibri" panose="020F0502020204030204" pitchFamily="34" charset="0"/>
              </a:rPr>
              <a:t>COSUP Discrete Model</a:t>
            </a:r>
            <a:endParaRPr lang="en-CL" sz="3200" dirty="0">
              <a:solidFill>
                <a:srgbClr val="FFFF00"/>
              </a:solidFill>
              <a:highlight>
                <a:srgbClr val="000000"/>
              </a:highlight>
              <a:latin typeface="Calibri" panose="020F0502020204030204" pitchFamily="34" charset="0"/>
              <a:cs typeface="Calibri" panose="020F0502020204030204" pitchFamily="34" charset="0"/>
            </a:endParaRPr>
          </a:p>
        </p:txBody>
      </p:sp>
      <p:sp>
        <p:nvSpPr>
          <p:cNvPr id="7" name="Content Placeholder 2">
            <a:extLst>
              <a:ext uri="{FF2B5EF4-FFF2-40B4-BE49-F238E27FC236}">
                <a16:creationId xmlns:a16="http://schemas.microsoft.com/office/drawing/2014/main" id="{848CDD65-4783-C3E9-4A5C-7B13A9865404}"/>
              </a:ext>
            </a:extLst>
          </p:cNvPr>
          <p:cNvSpPr txBox="1">
            <a:spLocks/>
          </p:cNvSpPr>
          <p:nvPr/>
        </p:nvSpPr>
        <p:spPr>
          <a:xfrm>
            <a:off x="2846544" y="4426754"/>
            <a:ext cx="3561750" cy="427923"/>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r>
              <a:rPr lang="en-US" dirty="0">
                <a:solidFill>
                  <a:srgbClr val="FF0000"/>
                </a:solidFill>
                <a:highlight>
                  <a:srgbClr val="000000"/>
                </a:highlight>
              </a:rPr>
              <a:t>traditional coded aperture</a:t>
            </a:r>
            <a:endParaRPr lang="en-CL" dirty="0">
              <a:solidFill>
                <a:srgbClr val="FF0000"/>
              </a:solidFill>
              <a:highlight>
                <a:srgbClr val="000000"/>
              </a:highlight>
            </a:endParaRPr>
          </a:p>
        </p:txBody>
      </p:sp>
      <p:sp>
        <p:nvSpPr>
          <p:cNvPr id="16" name="Content Placeholder 2">
            <a:extLst>
              <a:ext uri="{FF2B5EF4-FFF2-40B4-BE49-F238E27FC236}">
                <a16:creationId xmlns:a16="http://schemas.microsoft.com/office/drawing/2014/main" id="{2C8F3588-9724-9324-07DF-AE07C81079A0}"/>
              </a:ext>
            </a:extLst>
          </p:cNvPr>
          <p:cNvSpPr txBox="1">
            <a:spLocks/>
          </p:cNvSpPr>
          <p:nvPr/>
        </p:nvSpPr>
        <p:spPr>
          <a:xfrm>
            <a:off x="-101308" y="4439816"/>
            <a:ext cx="3561750" cy="427923"/>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r>
              <a:rPr lang="en-US" dirty="0">
                <a:solidFill>
                  <a:schemeClr val="bg1"/>
                </a:solidFill>
                <a:highlight>
                  <a:srgbClr val="000000"/>
                </a:highlight>
              </a:rPr>
              <a:t>measurement</a:t>
            </a:r>
            <a:endParaRPr lang="en-CL" dirty="0">
              <a:solidFill>
                <a:schemeClr val="bg1"/>
              </a:solidFill>
              <a:highlight>
                <a:srgbClr val="000000"/>
              </a:highlight>
            </a:endParaRPr>
          </a:p>
        </p:txBody>
      </p:sp>
      <p:sp>
        <p:nvSpPr>
          <p:cNvPr id="17" name="Content Placeholder 2">
            <a:extLst>
              <a:ext uri="{FF2B5EF4-FFF2-40B4-BE49-F238E27FC236}">
                <a16:creationId xmlns:a16="http://schemas.microsoft.com/office/drawing/2014/main" id="{DB0215AF-32A7-13D7-0344-CD4CACF86046}"/>
              </a:ext>
            </a:extLst>
          </p:cNvPr>
          <p:cNvSpPr txBox="1">
            <a:spLocks/>
          </p:cNvSpPr>
          <p:nvPr/>
        </p:nvSpPr>
        <p:spPr>
          <a:xfrm>
            <a:off x="5811812" y="4439817"/>
            <a:ext cx="3561750" cy="427923"/>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r>
              <a:rPr lang="en-US" dirty="0">
                <a:solidFill>
                  <a:schemeClr val="bg1"/>
                </a:solidFill>
                <a:highlight>
                  <a:srgbClr val="000000"/>
                </a:highlight>
              </a:rPr>
              <a:t>video</a:t>
            </a:r>
            <a:endParaRPr lang="en-CL" dirty="0">
              <a:solidFill>
                <a:schemeClr val="bg1"/>
              </a:solidFill>
              <a:highlight>
                <a:srgbClr val="000000"/>
              </a:highlight>
            </a:endParaRPr>
          </a:p>
        </p:txBody>
      </p: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12B59868-022A-1F6C-0506-7D04A19297DF}"/>
                  </a:ext>
                </a:extLst>
              </p:cNvPr>
              <p:cNvSpPr txBox="1"/>
              <p:nvPr/>
            </p:nvSpPr>
            <p:spPr>
              <a:xfrm>
                <a:off x="2471907" y="669012"/>
                <a:ext cx="2942793" cy="77912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CL" i="1" smtClean="0">
                              <a:solidFill>
                                <a:schemeClr val="bg1"/>
                              </a:solidFill>
                              <a:latin typeface="Cambria Math" panose="02040503050406030204" pitchFamily="18" charset="0"/>
                            </a:rPr>
                          </m:ctrlPr>
                        </m:sSubPr>
                        <m:e>
                          <m:r>
                            <a:rPr lang="es-ES" b="0" i="1" smtClean="0">
                              <a:solidFill>
                                <a:schemeClr val="bg1"/>
                              </a:solidFill>
                              <a:latin typeface="Cambria Math" panose="02040503050406030204" pitchFamily="18" charset="0"/>
                            </a:rPr>
                            <m:t>𝑌</m:t>
                          </m:r>
                        </m:e>
                        <m:sub>
                          <m:r>
                            <a:rPr lang="es-ES" b="0" i="1" smtClean="0">
                              <a:solidFill>
                                <a:schemeClr val="bg1"/>
                              </a:solidFill>
                              <a:latin typeface="Cambria Math" panose="02040503050406030204" pitchFamily="18" charset="0"/>
                            </a:rPr>
                            <m:t>(:,</m:t>
                          </m:r>
                          <m:acc>
                            <m:accPr>
                              <m:chr m:val="̅"/>
                              <m:ctrlPr>
                                <a:rPr lang="es-ES" b="0" i="1" smtClean="0">
                                  <a:solidFill>
                                    <a:schemeClr val="bg1"/>
                                  </a:solidFill>
                                  <a:latin typeface="Cambria Math" panose="02040503050406030204" pitchFamily="18" charset="0"/>
                                </a:rPr>
                              </m:ctrlPr>
                            </m:accPr>
                            <m:e>
                              <m:r>
                                <a:rPr lang="es-ES" b="0" i="1" smtClean="0">
                                  <a:solidFill>
                                    <a:schemeClr val="bg1"/>
                                  </a:solidFill>
                                  <a:latin typeface="Cambria Math" panose="02040503050406030204" pitchFamily="18" charset="0"/>
                                </a:rPr>
                                <m:t>𝑡</m:t>
                              </m:r>
                            </m:e>
                          </m:acc>
                          <m:r>
                            <a:rPr lang="es-ES" b="0" i="1" smtClean="0">
                              <a:solidFill>
                                <a:schemeClr val="bg1"/>
                              </a:solidFill>
                              <a:latin typeface="Cambria Math" panose="02040503050406030204" pitchFamily="18" charset="0"/>
                            </a:rPr>
                            <m:t>)</m:t>
                          </m:r>
                        </m:sub>
                      </m:sSub>
                      <m:r>
                        <a:rPr lang="es-ES" b="0" i="1" smtClean="0">
                          <a:solidFill>
                            <a:schemeClr val="bg1"/>
                          </a:solidFill>
                          <a:latin typeface="Cambria Math" panose="02040503050406030204" pitchFamily="18" charset="0"/>
                        </a:rPr>
                        <m:t>=</m:t>
                      </m:r>
                      <m:nary>
                        <m:naryPr>
                          <m:chr m:val="∑"/>
                          <m:ctrlPr>
                            <a:rPr lang="es-ES" b="0" i="1" smtClean="0">
                              <a:solidFill>
                                <a:schemeClr val="bg1"/>
                              </a:solidFill>
                              <a:latin typeface="Cambria Math" panose="02040503050406030204" pitchFamily="18" charset="0"/>
                            </a:rPr>
                          </m:ctrlPr>
                        </m:naryPr>
                        <m:sub>
                          <m:r>
                            <m:rPr>
                              <m:brk m:alnAt="23"/>
                            </m:rPr>
                            <a:rPr lang="es-ES" b="0" i="1" smtClean="0">
                              <a:solidFill>
                                <a:schemeClr val="bg1"/>
                              </a:solidFill>
                              <a:latin typeface="Cambria Math" panose="02040503050406030204" pitchFamily="18" charset="0"/>
                            </a:rPr>
                            <m:t>𝑡</m:t>
                          </m:r>
                          <m:r>
                            <a:rPr lang="es-ES" b="0" i="1" smtClean="0">
                              <a:solidFill>
                                <a:schemeClr val="bg1"/>
                              </a:solidFill>
                              <a:latin typeface="Cambria Math" panose="02040503050406030204" pitchFamily="18" charset="0"/>
                            </a:rPr>
                            <m:t>=0</m:t>
                          </m:r>
                        </m:sub>
                        <m:sup>
                          <m:r>
                            <a:rPr lang="es-ES" b="0" i="1" smtClean="0">
                              <a:solidFill>
                                <a:schemeClr val="bg1"/>
                              </a:solidFill>
                              <a:latin typeface="Cambria Math" panose="02040503050406030204" pitchFamily="18" charset="0"/>
                            </a:rPr>
                            <m:t>𝑇</m:t>
                          </m:r>
                          <m:r>
                            <a:rPr lang="es-ES" b="0" i="1" smtClean="0">
                              <a:solidFill>
                                <a:schemeClr val="bg1"/>
                              </a:solidFill>
                              <a:latin typeface="Cambria Math" panose="02040503050406030204" pitchFamily="18" charset="0"/>
                            </a:rPr>
                            <m:t>−1</m:t>
                          </m:r>
                        </m:sup>
                        <m:e>
                          <m:sSub>
                            <m:sSubPr>
                              <m:ctrlPr>
                                <a:rPr lang="es-ES" b="0" i="1" smtClean="0">
                                  <a:solidFill>
                                    <a:schemeClr val="bg1"/>
                                  </a:solidFill>
                                  <a:latin typeface="Cambria Math" panose="02040503050406030204" pitchFamily="18" charset="0"/>
                                </a:rPr>
                              </m:ctrlPr>
                            </m:sSubPr>
                            <m:e>
                              <m:r>
                                <a:rPr lang="es-ES" b="0" i="1" smtClean="0">
                                  <a:solidFill>
                                    <a:schemeClr val="bg1"/>
                                  </a:solidFill>
                                  <a:latin typeface="Cambria Math" panose="02040503050406030204" pitchFamily="18" charset="0"/>
                                </a:rPr>
                                <m:t>𝑋</m:t>
                              </m:r>
                            </m:e>
                            <m:sub>
                              <m:r>
                                <a:rPr lang="es-ES" b="0" i="1" smtClean="0">
                                  <a:solidFill>
                                    <a:schemeClr val="bg1"/>
                                  </a:solidFill>
                                  <a:latin typeface="Cambria Math" panose="02040503050406030204" pitchFamily="18" charset="0"/>
                                </a:rPr>
                                <m:t>(:,:,</m:t>
                              </m:r>
                              <m:acc>
                                <m:accPr>
                                  <m:chr m:val="̅"/>
                                  <m:ctrlPr>
                                    <a:rPr lang="es-ES" b="0" i="1" smtClean="0">
                                      <a:solidFill>
                                        <a:schemeClr val="bg1"/>
                                      </a:solidFill>
                                      <a:latin typeface="Cambria Math" panose="02040503050406030204" pitchFamily="18" charset="0"/>
                                    </a:rPr>
                                  </m:ctrlPr>
                                </m:accPr>
                                <m:e>
                                  <m:r>
                                    <a:rPr lang="es-ES" b="0" i="1" smtClean="0">
                                      <a:solidFill>
                                        <a:schemeClr val="bg1"/>
                                      </a:solidFill>
                                      <a:latin typeface="Cambria Math" panose="02040503050406030204" pitchFamily="18" charset="0"/>
                                    </a:rPr>
                                    <m:t>𝑡</m:t>
                                  </m:r>
                                </m:e>
                              </m:acc>
                              <m:r>
                                <a:rPr lang="es-ES" b="0" i="1" smtClean="0">
                                  <a:solidFill>
                                    <a:schemeClr val="bg1"/>
                                  </a:solidFill>
                                  <a:latin typeface="Cambria Math" panose="02040503050406030204" pitchFamily="18" charset="0"/>
                                </a:rPr>
                                <m:t>)</m:t>
                              </m:r>
                            </m:sub>
                          </m:sSub>
                          <m:r>
                            <a:rPr lang="es-ES" i="1">
                              <a:solidFill>
                                <a:schemeClr val="bg1"/>
                              </a:solidFill>
                              <a:latin typeface="Cambria Math" panose="02040503050406030204" pitchFamily="18" charset="0"/>
                              <a:ea typeface="Cambria Math" panose="02040503050406030204" pitchFamily="18" charset="0"/>
                            </a:rPr>
                            <m:t>⊙</m:t>
                          </m:r>
                        </m:e>
                      </m:nary>
                      <m:sSub>
                        <m:sSubPr>
                          <m:ctrlPr>
                            <a:rPr lang="es-ES" i="1" smtClean="0">
                              <a:solidFill>
                                <a:srgbClr val="FF0000"/>
                              </a:solidFill>
                              <a:latin typeface="Cambria Math" panose="02040503050406030204" pitchFamily="18" charset="0"/>
                            </a:rPr>
                          </m:ctrlPr>
                        </m:sSubPr>
                        <m:e>
                          <m:r>
                            <a:rPr lang="es-ES" b="0" i="1" smtClean="0">
                              <a:solidFill>
                                <a:srgbClr val="FF0000"/>
                              </a:solidFill>
                              <a:latin typeface="Cambria Math" panose="02040503050406030204" pitchFamily="18" charset="0"/>
                            </a:rPr>
                            <m:t>𝐶</m:t>
                          </m:r>
                        </m:e>
                        <m:sub>
                          <m:r>
                            <a:rPr lang="es-ES" i="1">
                              <a:solidFill>
                                <a:srgbClr val="FF0000"/>
                              </a:solidFill>
                              <a:latin typeface="Cambria Math" panose="02040503050406030204" pitchFamily="18" charset="0"/>
                            </a:rPr>
                            <m:t>(:,:,</m:t>
                          </m:r>
                          <m:acc>
                            <m:accPr>
                              <m:chr m:val="̅"/>
                              <m:ctrlPr>
                                <a:rPr lang="es-ES" i="1">
                                  <a:solidFill>
                                    <a:srgbClr val="FF0000"/>
                                  </a:solidFill>
                                  <a:latin typeface="Cambria Math" panose="02040503050406030204" pitchFamily="18" charset="0"/>
                                </a:rPr>
                              </m:ctrlPr>
                            </m:accPr>
                            <m:e>
                              <m:r>
                                <a:rPr lang="es-ES" i="1">
                                  <a:solidFill>
                                    <a:srgbClr val="FF0000"/>
                                  </a:solidFill>
                                  <a:latin typeface="Cambria Math" panose="02040503050406030204" pitchFamily="18" charset="0"/>
                                </a:rPr>
                                <m:t>𝑡</m:t>
                              </m:r>
                            </m:e>
                          </m:acc>
                          <m:r>
                            <a:rPr lang="es-ES" i="1">
                              <a:solidFill>
                                <a:srgbClr val="FF0000"/>
                              </a:solidFill>
                              <a:latin typeface="Cambria Math" panose="02040503050406030204" pitchFamily="18" charset="0"/>
                            </a:rPr>
                            <m:t>)</m:t>
                          </m:r>
                        </m:sub>
                      </m:sSub>
                      <m:r>
                        <a:rPr lang="es-ES" b="0" i="1" smtClean="0">
                          <a:solidFill>
                            <a:schemeClr val="bg2"/>
                          </a:solidFill>
                          <a:latin typeface="Cambria Math" panose="02040503050406030204" pitchFamily="18" charset="0"/>
                        </a:rPr>
                        <m:t>+</m:t>
                      </m:r>
                      <m:r>
                        <m:rPr>
                          <m:sty m:val="p"/>
                        </m:rPr>
                        <a:rPr lang="el-GR" b="0" i="1" smtClean="0">
                          <a:solidFill>
                            <a:schemeClr val="bg2"/>
                          </a:solidFill>
                          <a:latin typeface="Cambria Math" panose="02040503050406030204" pitchFamily="18" charset="0"/>
                          <a:ea typeface="Cambria Math" panose="02040503050406030204" pitchFamily="18" charset="0"/>
                        </a:rPr>
                        <m:t>Ω</m:t>
                      </m:r>
                    </m:oMath>
                  </m:oMathPara>
                </a14:m>
                <a:endParaRPr lang="en-CL" dirty="0"/>
              </a:p>
            </p:txBody>
          </p:sp>
        </mc:Choice>
        <mc:Fallback xmlns="">
          <p:sp>
            <p:nvSpPr>
              <p:cNvPr id="18" name="TextBox 17">
                <a:extLst>
                  <a:ext uri="{FF2B5EF4-FFF2-40B4-BE49-F238E27FC236}">
                    <a16:creationId xmlns:a16="http://schemas.microsoft.com/office/drawing/2014/main" id="{12B59868-022A-1F6C-0506-7D04A19297DF}"/>
                  </a:ext>
                </a:extLst>
              </p:cNvPr>
              <p:cNvSpPr txBox="1">
                <a:spLocks noRot="1" noChangeAspect="1" noMove="1" noResize="1" noEditPoints="1" noAdjustHandles="1" noChangeArrowheads="1" noChangeShapeType="1" noTextEdit="1"/>
              </p:cNvSpPr>
              <p:nvPr/>
            </p:nvSpPr>
            <p:spPr>
              <a:xfrm>
                <a:off x="2471907" y="669012"/>
                <a:ext cx="2942793" cy="779124"/>
              </a:xfrm>
              <a:prstGeom prst="rect">
                <a:avLst/>
              </a:prstGeom>
              <a:blipFill>
                <a:blip r:embed="rId4"/>
                <a:stretch>
                  <a:fillRect l="-3863" t="-109524" r="-1288" b="-169841"/>
                </a:stretch>
              </a:blipFill>
            </p:spPr>
            <p:txBody>
              <a:bodyPr/>
              <a:lstStyle/>
              <a:p>
                <a:r>
                  <a:rPr lang="en-CL">
                    <a:noFill/>
                  </a:rPr>
                  <a:t> </a:t>
                </a:r>
              </a:p>
            </p:txBody>
          </p:sp>
        </mc:Fallback>
      </mc:AlternateContent>
      <p:pic>
        <p:nvPicPr>
          <p:cNvPr id="19" name="video">
            <a:hlinkClick r:id="" action="ppaction://media"/>
            <a:extLst>
              <a:ext uri="{FF2B5EF4-FFF2-40B4-BE49-F238E27FC236}">
                <a16:creationId xmlns:a16="http://schemas.microsoft.com/office/drawing/2014/main" id="{461E9455-F078-F668-3C4D-599F4127895E}"/>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6127740" y="1629240"/>
            <a:ext cx="2758440" cy="2758440"/>
          </a:xfrm>
          <a:prstGeom prst="rect">
            <a:avLst/>
          </a:prstGeom>
        </p:spPr>
      </p:pic>
      <p:pic>
        <p:nvPicPr>
          <p:cNvPr id="23" name="Picture 22" descr="A black and white speckled background&#10;&#10;Description automatically generated">
            <a:extLst>
              <a:ext uri="{FF2B5EF4-FFF2-40B4-BE49-F238E27FC236}">
                <a16:creationId xmlns:a16="http://schemas.microsoft.com/office/drawing/2014/main" id="{EA412745-88D3-9E40-452D-7BA99726BB1F}"/>
              </a:ext>
            </a:extLst>
          </p:cNvPr>
          <p:cNvPicPr>
            <a:picLocks noChangeAspect="1"/>
          </p:cNvPicPr>
          <p:nvPr/>
        </p:nvPicPr>
        <p:blipFill>
          <a:blip r:embed="rId6"/>
          <a:stretch>
            <a:fillRect/>
          </a:stretch>
        </p:blipFill>
        <p:spPr>
          <a:xfrm>
            <a:off x="3247944" y="1633333"/>
            <a:ext cx="2775656" cy="2775656"/>
          </a:xfrm>
          <a:prstGeom prst="rect">
            <a:avLst/>
          </a:prstGeom>
        </p:spPr>
      </p:pic>
      <p:pic>
        <p:nvPicPr>
          <p:cNvPr id="29" name="Picture 28" descr="A black spot in water&#10;&#10;Description automatically generated">
            <a:extLst>
              <a:ext uri="{FF2B5EF4-FFF2-40B4-BE49-F238E27FC236}">
                <a16:creationId xmlns:a16="http://schemas.microsoft.com/office/drawing/2014/main" id="{42B7DB17-67CA-5E79-DA3F-62F2813E61F2}"/>
              </a:ext>
            </a:extLst>
          </p:cNvPr>
          <p:cNvPicPr>
            <a:picLocks noChangeAspect="1"/>
          </p:cNvPicPr>
          <p:nvPr/>
        </p:nvPicPr>
        <p:blipFill>
          <a:blip r:embed="rId7"/>
          <a:stretch>
            <a:fillRect/>
          </a:stretch>
        </p:blipFill>
        <p:spPr>
          <a:xfrm>
            <a:off x="133521" y="1644842"/>
            <a:ext cx="2955472" cy="2802225"/>
          </a:xfrm>
          <a:prstGeom prst="rect">
            <a:avLst/>
          </a:prstGeom>
        </p:spPr>
      </p:pic>
      <p:sp>
        <p:nvSpPr>
          <p:cNvPr id="2" name="Content Placeholder 2">
            <a:extLst>
              <a:ext uri="{FF2B5EF4-FFF2-40B4-BE49-F238E27FC236}">
                <a16:creationId xmlns:a16="http://schemas.microsoft.com/office/drawing/2014/main" id="{69DC4AC3-8F39-DD49-8567-42F6AB087FE9}"/>
              </a:ext>
            </a:extLst>
          </p:cNvPr>
          <p:cNvSpPr txBox="1">
            <a:spLocks/>
          </p:cNvSpPr>
          <p:nvPr/>
        </p:nvSpPr>
        <p:spPr>
          <a:xfrm>
            <a:off x="2898144" y="4715577"/>
            <a:ext cx="3561750" cy="427923"/>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endParaRPr lang="en-CL" dirty="0">
              <a:solidFill>
                <a:srgbClr val="FF0000"/>
              </a:solidFill>
              <a:highlight>
                <a:srgbClr val="000000"/>
              </a:highlight>
            </a:endParaRPr>
          </a:p>
        </p:txBody>
      </p:sp>
      <p:sp>
        <p:nvSpPr>
          <p:cNvPr id="3" name="Content Placeholder 2">
            <a:extLst>
              <a:ext uri="{FF2B5EF4-FFF2-40B4-BE49-F238E27FC236}">
                <a16:creationId xmlns:a16="http://schemas.microsoft.com/office/drawing/2014/main" id="{4963BED3-D55E-709B-95AC-BD102C2F2F47}"/>
              </a:ext>
            </a:extLst>
          </p:cNvPr>
          <p:cNvSpPr txBox="1">
            <a:spLocks/>
          </p:cNvSpPr>
          <p:nvPr/>
        </p:nvSpPr>
        <p:spPr>
          <a:xfrm>
            <a:off x="5864544" y="899954"/>
            <a:ext cx="2674656" cy="427923"/>
          </a:xfrm>
          <a:prstGeom prst="rect">
            <a:avLst/>
          </a:prstGeom>
        </p:spPr>
        <p:txBody>
          <a:bodyPr vert="horz" lIns="91440" tIns="45720" rIns="91440" bIns="45720" rtlCol="0">
            <a:normAutofit fontScale="70000" lnSpcReduction="20000"/>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r>
              <a:rPr lang="en-US" dirty="0">
                <a:solidFill>
                  <a:srgbClr val="FF0000"/>
                </a:solidFill>
                <a:highlight>
                  <a:srgbClr val="000000"/>
                </a:highlight>
              </a:rPr>
              <a:t>designing the encoding is critical for real-time applications</a:t>
            </a:r>
            <a:endParaRPr lang="en-CL" dirty="0">
              <a:solidFill>
                <a:srgbClr val="FF0000"/>
              </a:solidFill>
              <a:highlight>
                <a:srgbClr val="000000"/>
              </a:highlight>
            </a:endParaRPr>
          </a:p>
        </p:txBody>
      </p:sp>
    </p:spTree>
    <p:extLst>
      <p:ext uri="{BB962C8B-B14F-4D97-AF65-F5344CB8AC3E}">
        <p14:creationId xmlns:p14="http://schemas.microsoft.com/office/powerpoint/2010/main" val="30447441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666" fill="hold"/>
                                        <p:tgtEl>
                                          <p:spTgt spid="19"/>
                                        </p:tgtEl>
                                      </p:cBhvr>
                                    </p:cmd>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repeatCount="indefinite" fill="hold" display="0">
                  <p:stCondLst>
                    <p:cond delay="indefinite"/>
                  </p:stCondLst>
                </p:cTn>
                <p:tgtEl>
                  <p:spTgt spid="19"/>
                </p:tgtEl>
              </p:cMediaNode>
            </p:video>
            <p:seq concurrent="1" nextAc="seek">
              <p:cTn id="12" restart="whenNotActive" fill="hold" evtFilter="cancelBubble" nodeType="interactiveSeq">
                <p:stCondLst>
                  <p:cond evt="onClick" delay="0">
                    <p:tgtEl>
                      <p:spTgt spid="19"/>
                    </p:tgtEl>
                  </p:cond>
                </p:stCondLst>
                <p:endSync evt="end" delay="0">
                  <p:rtn val="all"/>
                </p:endSync>
                <p:childTnLst>
                  <p:par>
                    <p:cTn id="13" fill="hold">
                      <p:stCondLst>
                        <p:cond delay="0"/>
                      </p:stCondLst>
                      <p:childTnLst>
                        <p:par>
                          <p:cTn id="14" fill="hold">
                            <p:stCondLst>
                              <p:cond delay="0"/>
                            </p:stCondLst>
                            <p:childTnLst>
                              <p:par>
                                <p:cTn id="15" presetID="2" presetClass="mediacall" presetSubtype="0" fill="hold" nodeType="clickEffect">
                                  <p:stCondLst>
                                    <p:cond delay="0"/>
                                  </p:stCondLst>
                                  <p:childTnLst>
                                    <p:cmd type="call" cmd="togglePause">
                                      <p:cBhvr>
                                        <p:cTn id="16" dur="1" fill="hold"/>
                                        <p:tgtEl>
                                          <p:spTgt spid="19"/>
                                        </p:tgtEl>
                                      </p:cBhvr>
                                    </p:cmd>
                                  </p:childTnLst>
                                </p:cTn>
                              </p:par>
                            </p:childTnLst>
                          </p:cTn>
                        </p:par>
                      </p:childTnLst>
                    </p:cTn>
                  </p:par>
                </p:childTnLst>
              </p:cTn>
              <p:nextCondLst>
                <p:cond evt="onClick" delay="0">
                  <p:tgtEl>
                    <p:spTgt spid="19"/>
                  </p:tgtEl>
                </p:cond>
              </p:nextCondLst>
            </p:seq>
          </p:childTnLst>
        </p:cTn>
      </p:par>
    </p:tnLst>
    <p:bldLst>
      <p:bldP spid="3" grpId="0"/>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EE41828-540D-7D14-80CC-0A8B68D8619C}"/>
              </a:ext>
            </a:extLst>
          </p:cNvPr>
          <p:cNvSpPr txBox="1">
            <a:spLocks/>
          </p:cNvSpPr>
          <p:nvPr/>
        </p:nvSpPr>
        <p:spPr>
          <a:xfrm>
            <a:off x="0" y="-361533"/>
            <a:ext cx="7886700" cy="994172"/>
          </a:xfrm>
          <a:prstGeom prst="rect">
            <a:avLst/>
          </a:prstGeom>
        </p:spPr>
        <p:txBody>
          <a:bodyPr vert="horz" lIns="91440" tIns="45720" rIns="91440" bIns="45720" rtlCol="0" anchor="b">
            <a:normAutofit/>
          </a:bodyPr>
          <a:lstStyle>
            <a:lvl1pPr algn="ctr" defTabSz="685800" rtl="0" eaLnBrk="1" latinLnBrk="0" hangingPunct="1">
              <a:lnSpc>
                <a:spcPct val="90000"/>
              </a:lnSpc>
              <a:spcBef>
                <a:spcPct val="0"/>
              </a:spcBef>
              <a:buNone/>
              <a:defRPr sz="4500" kern="1200">
                <a:solidFill>
                  <a:schemeClr val="tx1"/>
                </a:solidFill>
                <a:latin typeface="+mj-lt"/>
                <a:ea typeface="+mj-ea"/>
                <a:cs typeface="+mj-cs"/>
              </a:defRPr>
            </a:lvl1pPr>
          </a:lstStyle>
          <a:p>
            <a:pPr algn="l"/>
            <a:r>
              <a:rPr lang="en-US" sz="3200" dirty="0">
                <a:solidFill>
                  <a:srgbClr val="FFFF00"/>
                </a:solidFill>
                <a:highlight>
                  <a:srgbClr val="000000"/>
                </a:highlight>
                <a:latin typeface="Calibri" panose="020F0502020204030204" pitchFamily="34" charset="0"/>
                <a:cs typeface="Calibri" panose="020F0502020204030204" pitchFamily="34" charset="0"/>
              </a:rPr>
              <a:t>Discrete model</a:t>
            </a:r>
            <a:endParaRPr lang="en-CL" sz="3200" dirty="0">
              <a:solidFill>
                <a:srgbClr val="FFFF00"/>
              </a:solidFill>
              <a:highlight>
                <a:srgbClr val="000000"/>
              </a:highlight>
              <a:latin typeface="Calibri" panose="020F0502020204030204" pitchFamily="34" charset="0"/>
              <a:cs typeface="Calibri" panose="020F0502020204030204" pitchFamily="34" charset="0"/>
            </a:endParaRPr>
          </a:p>
        </p:txBody>
      </p:sp>
      <p:sp>
        <p:nvSpPr>
          <p:cNvPr id="7" name="Content Placeholder 2">
            <a:extLst>
              <a:ext uri="{FF2B5EF4-FFF2-40B4-BE49-F238E27FC236}">
                <a16:creationId xmlns:a16="http://schemas.microsoft.com/office/drawing/2014/main" id="{848CDD65-4783-C3E9-4A5C-7B13A9865404}"/>
              </a:ext>
            </a:extLst>
          </p:cNvPr>
          <p:cNvSpPr txBox="1">
            <a:spLocks/>
          </p:cNvSpPr>
          <p:nvPr/>
        </p:nvSpPr>
        <p:spPr>
          <a:xfrm>
            <a:off x="2868144" y="4793954"/>
            <a:ext cx="3561750" cy="427923"/>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r>
              <a:rPr lang="en-US" dirty="0">
                <a:solidFill>
                  <a:schemeClr val="bg1"/>
                </a:solidFill>
                <a:highlight>
                  <a:srgbClr val="000000"/>
                </a:highlight>
              </a:rPr>
              <a:t>coded aperture</a:t>
            </a:r>
            <a:endParaRPr lang="en-CL" dirty="0">
              <a:solidFill>
                <a:schemeClr val="bg1"/>
              </a:solidFill>
              <a:highlight>
                <a:srgbClr val="000000"/>
              </a:highlight>
            </a:endParaRPr>
          </a:p>
        </p:txBody>
      </p:sp>
      <p:pic>
        <p:nvPicPr>
          <p:cNvPr id="11" name="Picture 10" descr="A black and white image of a circle&#10;&#10;Description automatically generated">
            <a:extLst>
              <a:ext uri="{FF2B5EF4-FFF2-40B4-BE49-F238E27FC236}">
                <a16:creationId xmlns:a16="http://schemas.microsoft.com/office/drawing/2014/main" id="{C49BBF4A-151E-A416-7ADE-512C5684C4DF}"/>
              </a:ext>
            </a:extLst>
          </p:cNvPr>
          <p:cNvPicPr>
            <a:picLocks noChangeAspect="1"/>
          </p:cNvPicPr>
          <p:nvPr/>
        </p:nvPicPr>
        <p:blipFill>
          <a:blip r:embed="rId4"/>
          <a:stretch>
            <a:fillRect/>
          </a:stretch>
        </p:blipFill>
        <p:spPr>
          <a:xfrm>
            <a:off x="161652" y="1967956"/>
            <a:ext cx="2976072" cy="2821757"/>
          </a:xfrm>
          <a:prstGeom prst="rect">
            <a:avLst/>
          </a:prstGeom>
        </p:spPr>
      </p:pic>
      <p:pic>
        <p:nvPicPr>
          <p:cNvPr id="15" name="Picture 14" descr="A black and white background with small white dots&#10;&#10;Description automatically generated">
            <a:extLst>
              <a:ext uri="{FF2B5EF4-FFF2-40B4-BE49-F238E27FC236}">
                <a16:creationId xmlns:a16="http://schemas.microsoft.com/office/drawing/2014/main" id="{164BECA4-EAC1-FF80-D8AE-B39E94ADFB5F}"/>
              </a:ext>
            </a:extLst>
          </p:cNvPr>
          <p:cNvPicPr>
            <a:picLocks noChangeAspect="1"/>
          </p:cNvPicPr>
          <p:nvPr/>
        </p:nvPicPr>
        <p:blipFill>
          <a:blip r:embed="rId5"/>
          <a:stretch>
            <a:fillRect/>
          </a:stretch>
        </p:blipFill>
        <p:spPr>
          <a:xfrm>
            <a:off x="3219266" y="1967955"/>
            <a:ext cx="2830467" cy="2830467"/>
          </a:xfrm>
          <a:prstGeom prst="rect">
            <a:avLst/>
          </a:prstGeom>
        </p:spPr>
      </p:pic>
      <p:sp>
        <p:nvSpPr>
          <p:cNvPr id="16" name="Content Placeholder 2">
            <a:extLst>
              <a:ext uri="{FF2B5EF4-FFF2-40B4-BE49-F238E27FC236}">
                <a16:creationId xmlns:a16="http://schemas.microsoft.com/office/drawing/2014/main" id="{2C8F3588-9724-9324-07DF-AE07C81079A0}"/>
              </a:ext>
            </a:extLst>
          </p:cNvPr>
          <p:cNvSpPr txBox="1">
            <a:spLocks/>
          </p:cNvSpPr>
          <p:nvPr/>
        </p:nvSpPr>
        <p:spPr>
          <a:xfrm>
            <a:off x="-79708" y="4807016"/>
            <a:ext cx="3561750" cy="427923"/>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r>
              <a:rPr lang="en-US" dirty="0">
                <a:solidFill>
                  <a:schemeClr val="bg1"/>
                </a:solidFill>
                <a:highlight>
                  <a:srgbClr val="000000"/>
                </a:highlight>
              </a:rPr>
              <a:t>measurements</a:t>
            </a:r>
            <a:endParaRPr lang="en-CL" dirty="0">
              <a:solidFill>
                <a:schemeClr val="bg1"/>
              </a:solidFill>
              <a:highlight>
                <a:srgbClr val="000000"/>
              </a:highlight>
            </a:endParaRPr>
          </a:p>
        </p:txBody>
      </p:sp>
      <p:sp>
        <p:nvSpPr>
          <p:cNvPr id="17" name="Content Placeholder 2">
            <a:extLst>
              <a:ext uri="{FF2B5EF4-FFF2-40B4-BE49-F238E27FC236}">
                <a16:creationId xmlns:a16="http://schemas.microsoft.com/office/drawing/2014/main" id="{DB0215AF-32A7-13D7-0344-CD4CACF86046}"/>
              </a:ext>
            </a:extLst>
          </p:cNvPr>
          <p:cNvSpPr txBox="1">
            <a:spLocks/>
          </p:cNvSpPr>
          <p:nvPr/>
        </p:nvSpPr>
        <p:spPr>
          <a:xfrm>
            <a:off x="5833412" y="4807017"/>
            <a:ext cx="3561750" cy="427923"/>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r>
              <a:rPr lang="en-US" dirty="0">
                <a:solidFill>
                  <a:schemeClr val="bg1"/>
                </a:solidFill>
                <a:highlight>
                  <a:srgbClr val="000000"/>
                </a:highlight>
              </a:rPr>
              <a:t>video</a:t>
            </a:r>
            <a:endParaRPr lang="en-CL" dirty="0">
              <a:solidFill>
                <a:schemeClr val="bg1"/>
              </a:solidFill>
              <a:highlight>
                <a:srgbClr val="000000"/>
              </a:highlight>
            </a:endParaRPr>
          </a:p>
        </p:txBody>
      </p:sp>
      <p:pic>
        <p:nvPicPr>
          <p:cNvPr id="19" name="video">
            <a:hlinkClick r:id="" action="ppaction://media"/>
            <a:extLst>
              <a:ext uri="{FF2B5EF4-FFF2-40B4-BE49-F238E27FC236}">
                <a16:creationId xmlns:a16="http://schemas.microsoft.com/office/drawing/2014/main" id="{461E9455-F078-F668-3C4D-599F4127895E}"/>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6149340" y="1996440"/>
            <a:ext cx="2758440" cy="2758440"/>
          </a:xfrm>
          <a:prstGeom prst="rect">
            <a:avLst/>
          </a:prstGeom>
        </p:spPr>
      </p:pic>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AE7428C1-F7E3-0484-0967-78272B9F025B}"/>
                  </a:ext>
                </a:extLst>
              </p:cNvPr>
              <p:cNvSpPr txBox="1"/>
              <p:nvPr/>
            </p:nvSpPr>
            <p:spPr>
              <a:xfrm>
                <a:off x="3343107" y="957012"/>
                <a:ext cx="2942793" cy="77912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CL" i="1" smtClean="0">
                              <a:solidFill>
                                <a:schemeClr val="bg1"/>
                              </a:solidFill>
                              <a:latin typeface="Cambria Math" panose="02040503050406030204" pitchFamily="18" charset="0"/>
                            </a:rPr>
                          </m:ctrlPr>
                        </m:sSubPr>
                        <m:e>
                          <m:r>
                            <a:rPr lang="es-ES" b="0" i="1" smtClean="0">
                              <a:solidFill>
                                <a:schemeClr val="bg1"/>
                              </a:solidFill>
                              <a:latin typeface="Cambria Math" panose="02040503050406030204" pitchFamily="18" charset="0"/>
                            </a:rPr>
                            <m:t>𝑌</m:t>
                          </m:r>
                        </m:e>
                        <m:sub>
                          <m:r>
                            <a:rPr lang="es-ES" b="0" i="1" smtClean="0">
                              <a:solidFill>
                                <a:schemeClr val="bg1"/>
                              </a:solidFill>
                              <a:latin typeface="Cambria Math" panose="02040503050406030204" pitchFamily="18" charset="0"/>
                            </a:rPr>
                            <m:t>(:,</m:t>
                          </m:r>
                          <m:acc>
                            <m:accPr>
                              <m:chr m:val="̅"/>
                              <m:ctrlPr>
                                <a:rPr lang="es-ES" b="0" i="1" smtClean="0">
                                  <a:solidFill>
                                    <a:schemeClr val="bg1"/>
                                  </a:solidFill>
                                  <a:latin typeface="Cambria Math" panose="02040503050406030204" pitchFamily="18" charset="0"/>
                                </a:rPr>
                              </m:ctrlPr>
                            </m:accPr>
                            <m:e>
                              <m:r>
                                <a:rPr lang="es-ES" b="0" i="1" smtClean="0">
                                  <a:solidFill>
                                    <a:schemeClr val="bg1"/>
                                  </a:solidFill>
                                  <a:latin typeface="Cambria Math" panose="02040503050406030204" pitchFamily="18" charset="0"/>
                                </a:rPr>
                                <m:t>𝑡</m:t>
                              </m:r>
                            </m:e>
                          </m:acc>
                          <m:r>
                            <a:rPr lang="es-ES" b="0" i="1" smtClean="0">
                              <a:solidFill>
                                <a:schemeClr val="bg1"/>
                              </a:solidFill>
                              <a:latin typeface="Cambria Math" panose="02040503050406030204" pitchFamily="18" charset="0"/>
                            </a:rPr>
                            <m:t>)</m:t>
                          </m:r>
                        </m:sub>
                      </m:sSub>
                      <m:r>
                        <a:rPr lang="es-ES" b="0" i="1" smtClean="0">
                          <a:solidFill>
                            <a:schemeClr val="bg1"/>
                          </a:solidFill>
                          <a:latin typeface="Cambria Math" panose="02040503050406030204" pitchFamily="18" charset="0"/>
                        </a:rPr>
                        <m:t>=</m:t>
                      </m:r>
                      <m:nary>
                        <m:naryPr>
                          <m:chr m:val="∑"/>
                          <m:ctrlPr>
                            <a:rPr lang="es-ES" b="0" i="1" smtClean="0">
                              <a:solidFill>
                                <a:schemeClr val="bg1"/>
                              </a:solidFill>
                              <a:latin typeface="Cambria Math" panose="02040503050406030204" pitchFamily="18" charset="0"/>
                            </a:rPr>
                          </m:ctrlPr>
                        </m:naryPr>
                        <m:sub>
                          <m:r>
                            <m:rPr>
                              <m:brk m:alnAt="23"/>
                            </m:rPr>
                            <a:rPr lang="es-ES" b="0" i="1" smtClean="0">
                              <a:solidFill>
                                <a:schemeClr val="bg1"/>
                              </a:solidFill>
                              <a:latin typeface="Cambria Math" panose="02040503050406030204" pitchFamily="18" charset="0"/>
                            </a:rPr>
                            <m:t>𝑡</m:t>
                          </m:r>
                          <m:r>
                            <a:rPr lang="es-ES" b="0" i="1" smtClean="0">
                              <a:solidFill>
                                <a:schemeClr val="bg1"/>
                              </a:solidFill>
                              <a:latin typeface="Cambria Math" panose="02040503050406030204" pitchFamily="18" charset="0"/>
                            </a:rPr>
                            <m:t>=0</m:t>
                          </m:r>
                        </m:sub>
                        <m:sup>
                          <m:r>
                            <a:rPr lang="es-ES" b="0" i="1" smtClean="0">
                              <a:solidFill>
                                <a:schemeClr val="bg1"/>
                              </a:solidFill>
                              <a:latin typeface="Cambria Math" panose="02040503050406030204" pitchFamily="18" charset="0"/>
                            </a:rPr>
                            <m:t>𝑇</m:t>
                          </m:r>
                          <m:r>
                            <a:rPr lang="es-ES" b="0" i="1" smtClean="0">
                              <a:solidFill>
                                <a:schemeClr val="bg1"/>
                              </a:solidFill>
                              <a:latin typeface="Cambria Math" panose="02040503050406030204" pitchFamily="18" charset="0"/>
                            </a:rPr>
                            <m:t>−1</m:t>
                          </m:r>
                        </m:sup>
                        <m:e>
                          <m:sSub>
                            <m:sSubPr>
                              <m:ctrlPr>
                                <a:rPr lang="es-ES" b="0" i="1" smtClean="0">
                                  <a:solidFill>
                                    <a:schemeClr val="bg1"/>
                                  </a:solidFill>
                                  <a:latin typeface="Cambria Math" panose="02040503050406030204" pitchFamily="18" charset="0"/>
                                </a:rPr>
                              </m:ctrlPr>
                            </m:sSubPr>
                            <m:e>
                              <m:r>
                                <a:rPr lang="es-ES" b="0" i="1" smtClean="0">
                                  <a:solidFill>
                                    <a:schemeClr val="bg1"/>
                                  </a:solidFill>
                                  <a:latin typeface="Cambria Math" panose="02040503050406030204" pitchFamily="18" charset="0"/>
                                </a:rPr>
                                <m:t>𝑋</m:t>
                              </m:r>
                            </m:e>
                            <m:sub>
                              <m:r>
                                <a:rPr lang="es-ES" b="0" i="1" smtClean="0">
                                  <a:solidFill>
                                    <a:schemeClr val="bg1"/>
                                  </a:solidFill>
                                  <a:latin typeface="Cambria Math" panose="02040503050406030204" pitchFamily="18" charset="0"/>
                                </a:rPr>
                                <m:t>(:,:,</m:t>
                              </m:r>
                              <m:acc>
                                <m:accPr>
                                  <m:chr m:val="̅"/>
                                  <m:ctrlPr>
                                    <a:rPr lang="es-ES" b="0" i="1" smtClean="0">
                                      <a:solidFill>
                                        <a:schemeClr val="bg1"/>
                                      </a:solidFill>
                                      <a:latin typeface="Cambria Math" panose="02040503050406030204" pitchFamily="18" charset="0"/>
                                    </a:rPr>
                                  </m:ctrlPr>
                                </m:accPr>
                                <m:e>
                                  <m:r>
                                    <a:rPr lang="es-ES" b="0" i="1" smtClean="0">
                                      <a:solidFill>
                                        <a:schemeClr val="bg1"/>
                                      </a:solidFill>
                                      <a:latin typeface="Cambria Math" panose="02040503050406030204" pitchFamily="18" charset="0"/>
                                    </a:rPr>
                                    <m:t>𝑡</m:t>
                                  </m:r>
                                </m:e>
                              </m:acc>
                              <m:r>
                                <a:rPr lang="es-ES" b="0" i="1" smtClean="0">
                                  <a:solidFill>
                                    <a:schemeClr val="bg1"/>
                                  </a:solidFill>
                                  <a:latin typeface="Cambria Math" panose="02040503050406030204" pitchFamily="18" charset="0"/>
                                </a:rPr>
                                <m:t>)</m:t>
                              </m:r>
                            </m:sub>
                          </m:sSub>
                          <m:r>
                            <a:rPr lang="es-ES" i="1">
                              <a:solidFill>
                                <a:schemeClr val="bg1"/>
                              </a:solidFill>
                              <a:latin typeface="Cambria Math" panose="02040503050406030204" pitchFamily="18" charset="0"/>
                              <a:ea typeface="Cambria Math" panose="02040503050406030204" pitchFamily="18" charset="0"/>
                            </a:rPr>
                            <m:t>⊙</m:t>
                          </m:r>
                        </m:e>
                      </m:nary>
                      <m:sSub>
                        <m:sSubPr>
                          <m:ctrlPr>
                            <a:rPr lang="es-ES" i="1" smtClean="0">
                              <a:solidFill>
                                <a:srgbClr val="00B050"/>
                              </a:solidFill>
                              <a:latin typeface="Cambria Math" panose="02040503050406030204" pitchFamily="18" charset="0"/>
                            </a:rPr>
                          </m:ctrlPr>
                        </m:sSubPr>
                        <m:e>
                          <m:r>
                            <a:rPr lang="es-ES" b="0" i="1" smtClean="0">
                              <a:solidFill>
                                <a:srgbClr val="00B050"/>
                              </a:solidFill>
                              <a:latin typeface="Cambria Math" panose="02040503050406030204" pitchFamily="18" charset="0"/>
                            </a:rPr>
                            <m:t>𝐶</m:t>
                          </m:r>
                        </m:e>
                        <m:sub>
                          <m:r>
                            <a:rPr lang="es-ES" i="1">
                              <a:solidFill>
                                <a:srgbClr val="00B050"/>
                              </a:solidFill>
                              <a:latin typeface="Cambria Math" panose="02040503050406030204" pitchFamily="18" charset="0"/>
                            </a:rPr>
                            <m:t>(:,:,</m:t>
                          </m:r>
                          <m:acc>
                            <m:accPr>
                              <m:chr m:val="̅"/>
                              <m:ctrlPr>
                                <a:rPr lang="es-ES" i="1">
                                  <a:solidFill>
                                    <a:srgbClr val="00B050"/>
                                  </a:solidFill>
                                  <a:latin typeface="Cambria Math" panose="02040503050406030204" pitchFamily="18" charset="0"/>
                                </a:rPr>
                              </m:ctrlPr>
                            </m:accPr>
                            <m:e>
                              <m:r>
                                <a:rPr lang="es-ES" i="1">
                                  <a:solidFill>
                                    <a:srgbClr val="00B050"/>
                                  </a:solidFill>
                                  <a:latin typeface="Cambria Math" panose="02040503050406030204" pitchFamily="18" charset="0"/>
                                </a:rPr>
                                <m:t>𝑡</m:t>
                              </m:r>
                            </m:e>
                          </m:acc>
                          <m:r>
                            <a:rPr lang="es-ES" i="1">
                              <a:solidFill>
                                <a:srgbClr val="00B050"/>
                              </a:solidFill>
                              <a:latin typeface="Cambria Math" panose="02040503050406030204" pitchFamily="18" charset="0"/>
                            </a:rPr>
                            <m:t>)</m:t>
                          </m:r>
                        </m:sub>
                      </m:sSub>
                      <m:r>
                        <a:rPr lang="es-ES" b="0" i="1" smtClean="0">
                          <a:solidFill>
                            <a:schemeClr val="bg2"/>
                          </a:solidFill>
                          <a:latin typeface="Cambria Math" panose="02040503050406030204" pitchFamily="18" charset="0"/>
                        </a:rPr>
                        <m:t>+</m:t>
                      </m:r>
                      <m:r>
                        <m:rPr>
                          <m:sty m:val="p"/>
                        </m:rPr>
                        <a:rPr lang="el-GR" b="0" i="1" smtClean="0">
                          <a:solidFill>
                            <a:schemeClr val="bg2"/>
                          </a:solidFill>
                          <a:latin typeface="Cambria Math" panose="02040503050406030204" pitchFamily="18" charset="0"/>
                          <a:ea typeface="Cambria Math" panose="02040503050406030204" pitchFamily="18" charset="0"/>
                        </a:rPr>
                        <m:t>Ω</m:t>
                      </m:r>
                    </m:oMath>
                  </m:oMathPara>
                </a14:m>
                <a:endParaRPr lang="en-CL" dirty="0"/>
              </a:p>
            </p:txBody>
          </p:sp>
        </mc:Choice>
        <mc:Fallback xmlns="">
          <p:sp>
            <p:nvSpPr>
              <p:cNvPr id="2" name="TextBox 1">
                <a:extLst>
                  <a:ext uri="{FF2B5EF4-FFF2-40B4-BE49-F238E27FC236}">
                    <a16:creationId xmlns:a16="http://schemas.microsoft.com/office/drawing/2014/main" id="{AE7428C1-F7E3-0484-0967-78272B9F025B}"/>
                  </a:ext>
                </a:extLst>
              </p:cNvPr>
              <p:cNvSpPr txBox="1">
                <a:spLocks noRot="1" noChangeAspect="1" noMove="1" noResize="1" noEditPoints="1" noAdjustHandles="1" noChangeArrowheads="1" noChangeShapeType="1" noTextEdit="1"/>
              </p:cNvSpPr>
              <p:nvPr/>
            </p:nvSpPr>
            <p:spPr>
              <a:xfrm>
                <a:off x="3343107" y="957012"/>
                <a:ext cx="2942793" cy="779124"/>
              </a:xfrm>
              <a:prstGeom prst="rect">
                <a:avLst/>
              </a:prstGeom>
              <a:blipFill>
                <a:blip r:embed="rId7"/>
                <a:stretch>
                  <a:fillRect l="-3879" t="-111290" r="-1724" b="-174194"/>
                </a:stretch>
              </a:blipFill>
            </p:spPr>
            <p:txBody>
              <a:bodyPr/>
              <a:lstStyle/>
              <a:p>
                <a:r>
                  <a:rPr lang="en-CL">
                    <a:noFill/>
                  </a:rPr>
                  <a:t> </a:t>
                </a:r>
              </a:p>
            </p:txBody>
          </p:sp>
        </mc:Fallback>
      </mc:AlternateContent>
      <p:sp>
        <p:nvSpPr>
          <p:cNvPr id="3" name="Content Placeholder 2">
            <a:extLst>
              <a:ext uri="{FF2B5EF4-FFF2-40B4-BE49-F238E27FC236}">
                <a16:creationId xmlns:a16="http://schemas.microsoft.com/office/drawing/2014/main" id="{D2A5D95E-0219-7364-0E97-1C104932436D}"/>
              </a:ext>
            </a:extLst>
          </p:cNvPr>
          <p:cNvSpPr txBox="1">
            <a:spLocks/>
          </p:cNvSpPr>
          <p:nvPr/>
        </p:nvSpPr>
        <p:spPr>
          <a:xfrm>
            <a:off x="6217344" y="1166354"/>
            <a:ext cx="2674656" cy="427923"/>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r>
              <a:rPr lang="en-US" dirty="0">
                <a:solidFill>
                  <a:srgbClr val="00B050"/>
                </a:solidFill>
                <a:highlight>
                  <a:srgbClr val="000000"/>
                </a:highlight>
              </a:rPr>
              <a:t>novel aperture design</a:t>
            </a:r>
          </a:p>
        </p:txBody>
      </p:sp>
    </p:spTree>
    <p:extLst>
      <p:ext uri="{BB962C8B-B14F-4D97-AF65-F5344CB8AC3E}">
        <p14:creationId xmlns:p14="http://schemas.microsoft.com/office/powerpoint/2010/main" val="30108699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666" fill="hold"/>
                                        <p:tgtEl>
                                          <p:spTgt spid="19"/>
                                        </p:tgtEl>
                                      </p:cBhvr>
                                    </p:cmd>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1"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5" repeatCount="indefinite" fill="hold" display="0">
                  <p:stCondLst>
                    <p:cond delay="indefinite"/>
                  </p:stCondLst>
                </p:cTn>
                <p:tgtEl>
                  <p:spTgt spid="19"/>
                </p:tgtEl>
              </p:cMediaNode>
            </p:video>
            <p:seq concurrent="1" nextAc="seek">
              <p:cTn id="16" restart="whenNotActive" fill="hold" evtFilter="cancelBubble" nodeType="interactiveSeq">
                <p:stCondLst>
                  <p:cond evt="onClick" delay="0">
                    <p:tgtEl>
                      <p:spTgt spid="19"/>
                    </p:tgtEl>
                  </p:cond>
                </p:stCondLst>
                <p:endSync evt="end" delay="0">
                  <p:rtn val="all"/>
                </p:endSync>
                <p:childTnLst>
                  <p:par>
                    <p:cTn id="17" fill="hold">
                      <p:stCondLst>
                        <p:cond delay="0"/>
                      </p:stCondLst>
                      <p:childTnLst>
                        <p:par>
                          <p:cTn id="18" fill="hold">
                            <p:stCondLst>
                              <p:cond delay="0"/>
                            </p:stCondLst>
                            <p:childTnLst>
                              <p:par>
                                <p:cTn id="19" presetID="2" presetClass="mediacall" presetSubtype="0" fill="hold" nodeType="clickEffect">
                                  <p:stCondLst>
                                    <p:cond delay="0"/>
                                  </p:stCondLst>
                                  <p:childTnLst>
                                    <p:cmd type="call" cmd="togglePause">
                                      <p:cBhvr>
                                        <p:cTn id="20" dur="1" fill="hold"/>
                                        <p:tgtEl>
                                          <p:spTgt spid="19"/>
                                        </p:tgtEl>
                                      </p:cBhvr>
                                    </p:cmd>
                                  </p:childTnLst>
                                </p:cTn>
                              </p:par>
                            </p:childTnLst>
                          </p:cTn>
                        </p:par>
                      </p:childTnLst>
                    </p:cTn>
                  </p:par>
                </p:childTnLst>
              </p:cTn>
              <p:nextCondLst>
                <p:cond evt="onClick" delay="0">
                  <p:tgtEl>
                    <p:spTgt spid="19"/>
                  </p:tgtEl>
                </p:cond>
              </p:nextCondLst>
            </p:seq>
          </p:childTnLst>
        </p:cTn>
      </p:par>
    </p:tnLst>
    <p:bldLst>
      <p:bldP spid="3" grpId="0"/>
      <p:bldP spid="3" grpId="1"/>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EE41828-540D-7D14-80CC-0A8B68D8619C}"/>
              </a:ext>
            </a:extLst>
          </p:cNvPr>
          <p:cNvSpPr txBox="1">
            <a:spLocks/>
          </p:cNvSpPr>
          <p:nvPr/>
        </p:nvSpPr>
        <p:spPr>
          <a:xfrm>
            <a:off x="-1788017" y="-337706"/>
            <a:ext cx="7886700" cy="994172"/>
          </a:xfrm>
          <a:prstGeom prst="rect">
            <a:avLst/>
          </a:prstGeom>
        </p:spPr>
        <p:txBody>
          <a:bodyPr vert="horz" lIns="91440" tIns="45720" rIns="91440" bIns="45720" rtlCol="0" anchor="b">
            <a:normAutofit/>
          </a:bodyPr>
          <a:lstStyle>
            <a:lvl1pPr algn="ctr" defTabSz="685800" rtl="0" eaLnBrk="1" latinLnBrk="0" hangingPunct="1">
              <a:lnSpc>
                <a:spcPct val="90000"/>
              </a:lnSpc>
              <a:spcBef>
                <a:spcPct val="0"/>
              </a:spcBef>
              <a:buNone/>
              <a:defRPr sz="4500" kern="1200">
                <a:solidFill>
                  <a:schemeClr val="tx1"/>
                </a:solidFill>
                <a:latin typeface="+mj-lt"/>
                <a:ea typeface="+mj-ea"/>
                <a:cs typeface="+mj-cs"/>
              </a:defRPr>
            </a:lvl1pPr>
          </a:lstStyle>
          <a:p>
            <a:r>
              <a:rPr lang="en-US" sz="3200" dirty="0">
                <a:solidFill>
                  <a:srgbClr val="FFFF00"/>
                </a:solidFill>
                <a:highlight>
                  <a:srgbClr val="000000"/>
                </a:highlight>
                <a:latin typeface="Calibri" panose="020F0502020204030204" pitchFamily="34" charset="0"/>
                <a:cs typeface="Calibri" panose="020F0502020204030204" pitchFamily="34" charset="0"/>
              </a:rPr>
              <a:t>What is Sphere Packing?</a:t>
            </a:r>
            <a:endParaRPr lang="en-CL" sz="3200" dirty="0">
              <a:solidFill>
                <a:srgbClr val="FFFF00"/>
              </a:solidFill>
              <a:highlight>
                <a:srgbClr val="000000"/>
              </a:highlight>
              <a:latin typeface="Calibri" panose="020F0502020204030204" pitchFamily="34" charset="0"/>
              <a:cs typeface="Calibri" panose="020F0502020204030204" pitchFamily="34" charset="0"/>
            </a:endParaRPr>
          </a:p>
        </p:txBody>
      </p:sp>
      <p:pic>
        <p:nvPicPr>
          <p:cNvPr id="2050" name="Picture 2" descr="undefined">
            <a:extLst>
              <a:ext uri="{FF2B5EF4-FFF2-40B4-BE49-F238E27FC236}">
                <a16:creationId xmlns:a16="http://schemas.microsoft.com/office/drawing/2014/main" id="{FE73D31B-EB08-65A0-C4D2-29CF7CEE602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0121" y="1690209"/>
            <a:ext cx="3284931" cy="2542566"/>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6" name="Content Placeholder 2">
                <a:extLst>
                  <a:ext uri="{FF2B5EF4-FFF2-40B4-BE49-F238E27FC236}">
                    <a16:creationId xmlns:a16="http://schemas.microsoft.com/office/drawing/2014/main" id="{0F0D6D02-02FF-2830-DF0B-AED2EE0709E7}"/>
                  </a:ext>
                </a:extLst>
              </p:cNvPr>
              <p:cNvSpPr txBox="1">
                <a:spLocks/>
              </p:cNvSpPr>
              <p:nvPr/>
            </p:nvSpPr>
            <p:spPr>
              <a:xfrm>
                <a:off x="226242" y="811307"/>
                <a:ext cx="4656842" cy="800678"/>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marL="285750" indent="-285750" algn="l">
                  <a:buFont typeface="Arial" panose="020B0604020202020204" pitchFamily="34" charset="0"/>
                  <a:buChar char="•"/>
                </a:pPr>
                <a:r>
                  <a:rPr lang="en-CL" dirty="0">
                    <a:solidFill>
                      <a:schemeClr val="bg1"/>
                    </a:solidFill>
                    <a:highlight>
                      <a:srgbClr val="000000"/>
                    </a:highlight>
                  </a:rPr>
                  <a:t>Ask for the densest packing of</a:t>
                </a:r>
                <a14:m>
                  <m:oMath xmlns:m="http://schemas.openxmlformats.org/officeDocument/2006/math">
                    <m:r>
                      <a:rPr lang="es-ES" b="0" i="0" smtClean="0">
                        <a:solidFill>
                          <a:schemeClr val="bg1"/>
                        </a:solidFill>
                        <a:highlight>
                          <a:srgbClr val="000000"/>
                        </a:highlight>
                        <a:latin typeface="Cambria Math" panose="02040503050406030204" pitchFamily="18" charset="0"/>
                      </a:rPr>
                      <m:t> </m:t>
                    </m:r>
                    <m:sSup>
                      <m:sSupPr>
                        <m:ctrlPr>
                          <a:rPr lang="en-CL" i="1" smtClean="0">
                            <a:solidFill>
                              <a:schemeClr val="bg1"/>
                            </a:solidFill>
                            <a:highlight>
                              <a:srgbClr val="000000"/>
                            </a:highlight>
                            <a:latin typeface="Cambria Math" panose="02040503050406030204" pitchFamily="18" charset="0"/>
                          </a:rPr>
                        </m:ctrlPr>
                      </m:sSupPr>
                      <m:e>
                        <m:r>
                          <a:rPr lang="es-ES" b="0" i="1" smtClean="0">
                            <a:solidFill>
                              <a:schemeClr val="bg1"/>
                            </a:solidFill>
                            <a:highlight>
                              <a:srgbClr val="000000"/>
                            </a:highlight>
                            <a:latin typeface="Cambria Math" panose="02040503050406030204" pitchFamily="18" charset="0"/>
                          </a:rPr>
                          <m:t>𝑅</m:t>
                        </m:r>
                      </m:e>
                      <m:sup>
                        <m:r>
                          <a:rPr lang="es-ES" b="0" i="1" smtClean="0">
                            <a:solidFill>
                              <a:schemeClr val="bg1"/>
                            </a:solidFill>
                            <a:highlight>
                              <a:srgbClr val="000000"/>
                            </a:highlight>
                            <a:latin typeface="Cambria Math" panose="02040503050406030204" pitchFamily="18" charset="0"/>
                          </a:rPr>
                          <m:t>𝑛</m:t>
                        </m:r>
                      </m:sup>
                    </m:sSup>
                  </m:oMath>
                </a14:m>
                <a:endParaRPr lang="es-ES" dirty="0">
                  <a:solidFill>
                    <a:schemeClr val="bg1"/>
                  </a:solidFill>
                  <a:highlight>
                    <a:srgbClr val="000000"/>
                  </a:highlight>
                </a:endParaRPr>
              </a:p>
              <a:p>
                <a:pPr marL="285750" indent="-285750" algn="l">
                  <a:buFont typeface="Arial" panose="020B0604020202020204" pitchFamily="34" charset="0"/>
                  <a:buChar char="•"/>
                </a:pPr>
                <a:r>
                  <a:rPr lang="en-CL" dirty="0">
                    <a:solidFill>
                      <a:schemeClr val="bg1"/>
                    </a:solidFill>
                    <a:highlight>
                      <a:srgbClr val="000000"/>
                    </a:highlight>
                  </a:rPr>
                  <a:t>Faced-center cubic lattice is optimal in 3D</a:t>
                </a:r>
              </a:p>
              <a:p>
                <a:pPr marL="285750" indent="-285750" algn="l">
                  <a:buFont typeface="Arial" panose="020B0604020202020204" pitchFamily="34" charset="0"/>
                  <a:buChar char="•"/>
                </a:pPr>
                <a:endParaRPr lang="en-CL" dirty="0">
                  <a:solidFill>
                    <a:schemeClr val="bg1"/>
                  </a:solidFill>
                  <a:highlight>
                    <a:srgbClr val="000000"/>
                  </a:highlight>
                </a:endParaRPr>
              </a:p>
              <a:p>
                <a:pPr algn="l"/>
                <a:endParaRPr lang="en-CL" dirty="0">
                  <a:solidFill>
                    <a:schemeClr val="bg1"/>
                  </a:solidFill>
                  <a:highlight>
                    <a:srgbClr val="000000"/>
                  </a:highlight>
                </a:endParaRPr>
              </a:p>
            </p:txBody>
          </p:sp>
        </mc:Choice>
        <mc:Fallback xmlns="">
          <p:sp>
            <p:nvSpPr>
              <p:cNvPr id="6" name="Content Placeholder 2">
                <a:extLst>
                  <a:ext uri="{FF2B5EF4-FFF2-40B4-BE49-F238E27FC236}">
                    <a16:creationId xmlns:a16="http://schemas.microsoft.com/office/drawing/2014/main" id="{0F0D6D02-02FF-2830-DF0B-AED2EE0709E7}"/>
                  </a:ext>
                </a:extLst>
              </p:cNvPr>
              <p:cNvSpPr txBox="1">
                <a:spLocks noRot="1" noChangeAspect="1" noMove="1" noResize="1" noEditPoints="1" noAdjustHandles="1" noChangeArrowheads="1" noChangeShapeType="1" noTextEdit="1"/>
              </p:cNvSpPr>
              <p:nvPr/>
            </p:nvSpPr>
            <p:spPr>
              <a:xfrm>
                <a:off x="226242" y="811307"/>
                <a:ext cx="4656842" cy="800678"/>
              </a:xfrm>
              <a:prstGeom prst="rect">
                <a:avLst/>
              </a:prstGeom>
              <a:blipFill>
                <a:blip r:embed="rId3"/>
                <a:stretch>
                  <a:fillRect l="-815" t="-6250" r="-272"/>
                </a:stretch>
              </a:blipFill>
            </p:spPr>
            <p:txBody>
              <a:bodyPr/>
              <a:lstStyle/>
              <a:p>
                <a:r>
                  <a:rPr lang="en-CL">
                    <a:noFill/>
                  </a:rPr>
                  <a:t> </a:t>
                </a:r>
              </a:p>
            </p:txBody>
          </p:sp>
        </mc:Fallback>
      </mc:AlternateContent>
      <p:sp>
        <p:nvSpPr>
          <p:cNvPr id="7" name="Content Placeholder 2">
            <a:extLst>
              <a:ext uri="{FF2B5EF4-FFF2-40B4-BE49-F238E27FC236}">
                <a16:creationId xmlns:a16="http://schemas.microsoft.com/office/drawing/2014/main" id="{C2419E7F-081B-CF1B-307A-6D04D0ED101D}"/>
              </a:ext>
            </a:extLst>
          </p:cNvPr>
          <p:cNvSpPr txBox="1">
            <a:spLocks/>
          </p:cNvSpPr>
          <p:nvPr/>
        </p:nvSpPr>
        <p:spPr>
          <a:xfrm>
            <a:off x="105267" y="4244235"/>
            <a:ext cx="3561750" cy="427923"/>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r>
              <a:rPr lang="en-CL" dirty="0">
                <a:solidFill>
                  <a:schemeClr val="bg1"/>
                </a:solidFill>
                <a:highlight>
                  <a:srgbClr val="000000"/>
                </a:highlight>
              </a:rPr>
              <a:t>stacking cannonballs</a:t>
            </a:r>
          </a:p>
        </p:txBody>
      </p:sp>
      <p:pic>
        <p:nvPicPr>
          <p:cNvPr id="9" name="Picture 8">
            <a:extLst>
              <a:ext uri="{FF2B5EF4-FFF2-40B4-BE49-F238E27FC236}">
                <a16:creationId xmlns:a16="http://schemas.microsoft.com/office/drawing/2014/main" id="{0364C13C-88A5-8768-F873-5A1E80447E82}"/>
              </a:ext>
            </a:extLst>
          </p:cNvPr>
          <p:cNvPicPr>
            <a:picLocks noChangeAspect="1"/>
          </p:cNvPicPr>
          <p:nvPr/>
        </p:nvPicPr>
        <p:blipFill>
          <a:blip r:embed="rId4"/>
          <a:stretch>
            <a:fillRect/>
          </a:stretch>
        </p:blipFill>
        <p:spPr>
          <a:xfrm>
            <a:off x="4262160" y="1912362"/>
            <a:ext cx="4287952" cy="2337815"/>
          </a:xfrm>
          <a:prstGeom prst="rect">
            <a:avLst/>
          </a:prstGeom>
        </p:spPr>
      </p:pic>
      <p:sp>
        <p:nvSpPr>
          <p:cNvPr id="10" name="Content Placeholder 2">
            <a:extLst>
              <a:ext uri="{FF2B5EF4-FFF2-40B4-BE49-F238E27FC236}">
                <a16:creationId xmlns:a16="http://schemas.microsoft.com/office/drawing/2014/main" id="{05882D6F-A21E-28C8-AF96-0C05DA6E16F9}"/>
              </a:ext>
            </a:extLst>
          </p:cNvPr>
          <p:cNvSpPr txBox="1">
            <a:spLocks/>
          </p:cNvSpPr>
          <p:nvPr/>
        </p:nvSpPr>
        <p:spPr>
          <a:xfrm>
            <a:off x="4546863" y="4292941"/>
            <a:ext cx="3739298" cy="427923"/>
          </a:xfrm>
          <a:prstGeom prst="rect">
            <a:avLst/>
          </a:prstGeom>
        </p:spPr>
        <p:txBody>
          <a:bodyPr vert="horz" lIns="91440" tIns="45720" rIns="91440" bIns="45720" rtlCol="0">
            <a:normAutofit fontScale="85000" lnSpcReduction="10000"/>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r>
              <a:rPr lang="en-CL" dirty="0">
                <a:solidFill>
                  <a:schemeClr val="bg1"/>
                </a:solidFill>
                <a:highlight>
                  <a:srgbClr val="000000"/>
                </a:highlight>
              </a:rPr>
              <a:t>Tiling the space by replicating the unit cell</a:t>
            </a: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3E4BCB1B-E008-551B-D67F-CD2FFFD5815E}"/>
                  </a:ext>
                </a:extLst>
              </p:cNvPr>
              <p:cNvSpPr txBox="1"/>
              <p:nvPr/>
            </p:nvSpPr>
            <p:spPr>
              <a:xfrm>
                <a:off x="5434552" y="1121788"/>
                <a:ext cx="1893660" cy="52431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CL" i="1" smtClean="0">
                              <a:solidFill>
                                <a:srgbClr val="00B050"/>
                              </a:solidFill>
                              <a:latin typeface="Cambria Math" panose="02040503050406030204" pitchFamily="18" charset="0"/>
                            </a:rPr>
                          </m:ctrlPr>
                        </m:sSubPr>
                        <m:e>
                          <m:r>
                            <a:rPr lang="en-CL" i="1" smtClean="0">
                              <a:solidFill>
                                <a:srgbClr val="00B050"/>
                              </a:solidFill>
                              <a:latin typeface="Cambria Math" panose="02040503050406030204" pitchFamily="18" charset="0"/>
                              <a:ea typeface="Cambria Math" panose="02040503050406030204" pitchFamily="18" charset="0"/>
                            </a:rPr>
                            <m:t>𝜌</m:t>
                          </m:r>
                        </m:e>
                        <m:sub>
                          <m:sSub>
                            <m:sSubPr>
                              <m:ctrlPr>
                                <a:rPr lang="en-CL" i="1" smtClean="0">
                                  <a:solidFill>
                                    <a:srgbClr val="00B050"/>
                                  </a:solidFill>
                                  <a:latin typeface="Cambria Math" panose="02040503050406030204" pitchFamily="18" charset="0"/>
                                </a:rPr>
                              </m:ctrlPr>
                            </m:sSubPr>
                            <m:e>
                              <m:r>
                                <m:rPr>
                                  <m:sty m:val="p"/>
                                </m:rPr>
                                <a:rPr lang="el-GR" i="1">
                                  <a:solidFill>
                                    <a:srgbClr val="00B050"/>
                                  </a:solidFill>
                                  <a:latin typeface="Cambria Math" panose="02040503050406030204" pitchFamily="18" charset="0"/>
                                  <a:ea typeface="Cambria Math" panose="02040503050406030204" pitchFamily="18" charset="0"/>
                                </a:rPr>
                                <m:t>Λ</m:t>
                              </m:r>
                            </m:e>
                            <m:sub>
                              <m:r>
                                <a:rPr lang="es-ES" b="0" i="1" smtClean="0">
                                  <a:solidFill>
                                    <a:srgbClr val="00B050"/>
                                  </a:solidFill>
                                  <a:latin typeface="Cambria Math" panose="02040503050406030204" pitchFamily="18" charset="0"/>
                                </a:rPr>
                                <m:t>3</m:t>
                              </m:r>
                            </m:sub>
                          </m:sSub>
                          <m:r>
                            <a:rPr lang="es-ES" b="0" i="1" smtClean="0">
                              <a:solidFill>
                                <a:srgbClr val="00B050"/>
                              </a:solidFill>
                              <a:latin typeface="Cambria Math" panose="02040503050406030204" pitchFamily="18" charset="0"/>
                            </a:rPr>
                            <m:t>=</m:t>
                          </m:r>
                        </m:sub>
                      </m:sSub>
                      <m:f>
                        <m:fPr>
                          <m:ctrlPr>
                            <a:rPr lang="en-CL" i="1" smtClean="0">
                              <a:solidFill>
                                <a:srgbClr val="00B050"/>
                              </a:solidFill>
                              <a:latin typeface="Cambria Math" panose="02040503050406030204" pitchFamily="18" charset="0"/>
                            </a:rPr>
                          </m:ctrlPr>
                        </m:fPr>
                        <m:num>
                          <m:r>
                            <a:rPr lang="en-CL" i="1" smtClean="0">
                              <a:solidFill>
                                <a:srgbClr val="00B050"/>
                              </a:solidFill>
                              <a:latin typeface="Cambria Math" panose="02040503050406030204" pitchFamily="18" charset="0"/>
                              <a:ea typeface="Cambria Math" panose="02040503050406030204" pitchFamily="18" charset="0"/>
                            </a:rPr>
                            <m:t>𝜋</m:t>
                          </m:r>
                        </m:num>
                        <m:den>
                          <m:rad>
                            <m:radPr>
                              <m:degHide m:val="on"/>
                              <m:ctrlPr>
                                <a:rPr lang="en-CL" i="1" smtClean="0">
                                  <a:solidFill>
                                    <a:srgbClr val="00B050"/>
                                  </a:solidFill>
                                  <a:latin typeface="Cambria Math" panose="02040503050406030204" pitchFamily="18" charset="0"/>
                                </a:rPr>
                              </m:ctrlPr>
                            </m:radPr>
                            <m:deg/>
                            <m:e>
                              <m:r>
                                <a:rPr lang="es-ES" b="0" i="1" smtClean="0">
                                  <a:solidFill>
                                    <a:srgbClr val="00B050"/>
                                  </a:solidFill>
                                  <a:latin typeface="Cambria Math" panose="02040503050406030204" pitchFamily="18" charset="0"/>
                                </a:rPr>
                                <m:t>18</m:t>
                              </m:r>
                            </m:e>
                          </m:rad>
                        </m:den>
                      </m:f>
                      <m:r>
                        <a:rPr lang="en-CL" i="1" smtClean="0">
                          <a:solidFill>
                            <a:srgbClr val="00B050"/>
                          </a:solidFill>
                          <a:latin typeface="Cambria Math" panose="02040503050406030204" pitchFamily="18" charset="0"/>
                          <a:ea typeface="Cambria Math" panose="02040503050406030204" pitchFamily="18" charset="0"/>
                        </a:rPr>
                        <m:t>≈</m:t>
                      </m:r>
                      <m:r>
                        <a:rPr lang="es-ES" b="0" i="1" smtClean="0">
                          <a:solidFill>
                            <a:srgbClr val="00B050"/>
                          </a:solidFill>
                          <a:latin typeface="Cambria Math" panose="02040503050406030204" pitchFamily="18" charset="0"/>
                          <a:ea typeface="Cambria Math" panose="02040503050406030204" pitchFamily="18" charset="0"/>
                        </a:rPr>
                        <m:t>0.74…</m:t>
                      </m:r>
                    </m:oMath>
                  </m:oMathPara>
                </a14:m>
                <a:endParaRPr lang="en-CL" dirty="0"/>
              </a:p>
            </p:txBody>
          </p:sp>
        </mc:Choice>
        <mc:Fallback xmlns="">
          <p:sp>
            <p:nvSpPr>
              <p:cNvPr id="11" name="TextBox 10">
                <a:extLst>
                  <a:ext uri="{FF2B5EF4-FFF2-40B4-BE49-F238E27FC236}">
                    <a16:creationId xmlns:a16="http://schemas.microsoft.com/office/drawing/2014/main" id="{3E4BCB1B-E008-551B-D67F-CD2FFFD5815E}"/>
                  </a:ext>
                </a:extLst>
              </p:cNvPr>
              <p:cNvSpPr txBox="1">
                <a:spLocks noRot="1" noChangeAspect="1" noMove="1" noResize="1" noEditPoints="1" noAdjustHandles="1" noChangeArrowheads="1" noChangeShapeType="1" noTextEdit="1"/>
              </p:cNvSpPr>
              <p:nvPr/>
            </p:nvSpPr>
            <p:spPr>
              <a:xfrm>
                <a:off x="5434552" y="1121788"/>
                <a:ext cx="1893660" cy="524311"/>
              </a:xfrm>
              <a:prstGeom prst="rect">
                <a:avLst/>
              </a:prstGeom>
              <a:blipFill>
                <a:blip r:embed="rId5"/>
                <a:stretch>
                  <a:fillRect l="-2667" b="-11905"/>
                </a:stretch>
              </a:blipFill>
            </p:spPr>
            <p:txBody>
              <a:bodyPr/>
              <a:lstStyle/>
              <a:p>
                <a:r>
                  <a:rPr lang="en-CL">
                    <a:noFill/>
                  </a:rPr>
                  <a:t> </a:t>
                </a:r>
              </a:p>
            </p:txBody>
          </p:sp>
        </mc:Fallback>
      </mc:AlternateContent>
      <p:sp>
        <p:nvSpPr>
          <p:cNvPr id="13" name="TextBox 12">
            <a:extLst>
              <a:ext uri="{FF2B5EF4-FFF2-40B4-BE49-F238E27FC236}">
                <a16:creationId xmlns:a16="http://schemas.microsoft.com/office/drawing/2014/main" id="{004BF8A3-729F-5B6A-AC4D-9F1D8F85A4F2}"/>
              </a:ext>
            </a:extLst>
          </p:cNvPr>
          <p:cNvSpPr txBox="1"/>
          <p:nvPr/>
        </p:nvSpPr>
        <p:spPr>
          <a:xfrm>
            <a:off x="0" y="4574433"/>
            <a:ext cx="9144000" cy="600164"/>
          </a:xfrm>
          <a:prstGeom prst="rect">
            <a:avLst/>
          </a:prstGeom>
          <a:noFill/>
        </p:spPr>
        <p:txBody>
          <a:bodyPr wrap="square">
            <a:spAutoFit/>
          </a:bodyPr>
          <a:lstStyle/>
          <a:p>
            <a:r>
              <a:rPr lang="en-US" sz="1100" b="0" i="0" dirty="0">
                <a:solidFill>
                  <a:schemeClr val="bg1"/>
                </a:solidFill>
                <a:effectLst/>
                <a:highlight>
                  <a:srgbClr val="000000"/>
                </a:highlight>
                <a:latin typeface="Arial" panose="020B0604020202020204" pitchFamily="34" charset="0"/>
              </a:rPr>
              <a:t>J. Kepler, The six-cornered snowflake (Paul Dry Books, 2010).</a:t>
            </a:r>
          </a:p>
          <a:p>
            <a:r>
              <a:rPr lang="en-US" sz="1100" b="0" i="0" dirty="0">
                <a:solidFill>
                  <a:schemeClr val="bg1"/>
                </a:solidFill>
                <a:effectLst/>
                <a:highlight>
                  <a:srgbClr val="000000"/>
                </a:highlight>
                <a:latin typeface="Arial" panose="020B0604020202020204" pitchFamily="34" charset="0"/>
              </a:rPr>
              <a:t>T. Hales, M. Adams, G. Bauer, T. D. Dang, J. Harrison, H. Le Truong, C. </a:t>
            </a:r>
            <a:r>
              <a:rPr lang="en-US" sz="1100" b="0" i="0" dirty="0" err="1">
                <a:solidFill>
                  <a:schemeClr val="bg1"/>
                </a:solidFill>
                <a:effectLst/>
                <a:highlight>
                  <a:srgbClr val="000000"/>
                </a:highlight>
                <a:latin typeface="Arial" panose="020B0604020202020204" pitchFamily="34" charset="0"/>
              </a:rPr>
              <a:t>Kaliszyk</a:t>
            </a:r>
            <a:r>
              <a:rPr lang="en-US" sz="1100" b="0" i="0" dirty="0">
                <a:solidFill>
                  <a:schemeClr val="bg1"/>
                </a:solidFill>
                <a:effectLst/>
                <a:highlight>
                  <a:srgbClr val="000000"/>
                </a:highlight>
                <a:latin typeface="Arial" panose="020B0604020202020204" pitchFamily="34" charset="0"/>
              </a:rPr>
              <a:t>, V. </a:t>
            </a:r>
            <a:r>
              <a:rPr lang="en-US" sz="1100" b="0" i="0" dirty="0" err="1">
                <a:solidFill>
                  <a:schemeClr val="bg1"/>
                </a:solidFill>
                <a:effectLst/>
                <a:highlight>
                  <a:srgbClr val="000000"/>
                </a:highlight>
                <a:latin typeface="Arial" panose="020B0604020202020204" pitchFamily="34" charset="0"/>
              </a:rPr>
              <a:t>Magron</a:t>
            </a:r>
            <a:r>
              <a:rPr lang="en-US" sz="1100" b="0" i="0" dirty="0">
                <a:solidFill>
                  <a:schemeClr val="bg1"/>
                </a:solidFill>
                <a:effectLst/>
                <a:highlight>
                  <a:srgbClr val="000000"/>
                </a:highlight>
                <a:latin typeface="Arial" panose="020B0604020202020204" pitchFamily="34" charset="0"/>
              </a:rPr>
              <a:t>, S. McLaughlin, T. T. Nguyen, and et al., “A formal proof of the </a:t>
            </a:r>
            <a:r>
              <a:rPr lang="en-US" sz="1100" b="0" i="0" dirty="0" err="1">
                <a:solidFill>
                  <a:schemeClr val="bg1"/>
                </a:solidFill>
                <a:effectLst/>
                <a:highlight>
                  <a:srgbClr val="000000"/>
                </a:highlight>
                <a:latin typeface="Arial" panose="020B0604020202020204" pitchFamily="34" charset="0"/>
              </a:rPr>
              <a:t>kepler</a:t>
            </a:r>
            <a:r>
              <a:rPr lang="en-US" sz="1100" b="0" i="0" dirty="0">
                <a:solidFill>
                  <a:schemeClr val="bg1"/>
                </a:solidFill>
                <a:effectLst/>
                <a:highlight>
                  <a:srgbClr val="000000"/>
                </a:highlight>
                <a:latin typeface="Arial" panose="020B0604020202020204" pitchFamily="34" charset="0"/>
              </a:rPr>
              <a:t> conjecture,” Forum Math. Pi 5, e2 (2017).</a:t>
            </a:r>
            <a:endParaRPr lang="en-CL" sz="1100" dirty="0">
              <a:solidFill>
                <a:schemeClr val="bg1"/>
              </a:solidFill>
              <a:highlight>
                <a:srgbClr val="000000"/>
              </a:highlight>
            </a:endParaRPr>
          </a:p>
        </p:txBody>
      </p:sp>
    </p:spTree>
    <p:extLst>
      <p:ext uri="{BB962C8B-B14F-4D97-AF65-F5344CB8AC3E}">
        <p14:creationId xmlns:p14="http://schemas.microsoft.com/office/powerpoint/2010/main" val="27789213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EE41828-540D-7D14-80CC-0A8B68D8619C}"/>
              </a:ext>
            </a:extLst>
          </p:cNvPr>
          <p:cNvSpPr txBox="1">
            <a:spLocks/>
          </p:cNvSpPr>
          <p:nvPr/>
        </p:nvSpPr>
        <p:spPr>
          <a:xfrm>
            <a:off x="0" y="-361533"/>
            <a:ext cx="7886700" cy="994172"/>
          </a:xfrm>
          <a:prstGeom prst="rect">
            <a:avLst/>
          </a:prstGeom>
        </p:spPr>
        <p:txBody>
          <a:bodyPr vert="horz" lIns="91440" tIns="45720" rIns="91440" bIns="45720" rtlCol="0" anchor="b">
            <a:normAutofit/>
          </a:bodyPr>
          <a:lstStyle>
            <a:lvl1pPr algn="ctr" defTabSz="685800" rtl="0" eaLnBrk="1" latinLnBrk="0" hangingPunct="1">
              <a:lnSpc>
                <a:spcPct val="90000"/>
              </a:lnSpc>
              <a:spcBef>
                <a:spcPct val="0"/>
              </a:spcBef>
              <a:buNone/>
              <a:defRPr sz="4500" kern="1200">
                <a:solidFill>
                  <a:schemeClr val="tx1"/>
                </a:solidFill>
                <a:latin typeface="+mj-lt"/>
                <a:ea typeface="+mj-ea"/>
                <a:cs typeface="+mj-cs"/>
              </a:defRPr>
            </a:lvl1pPr>
          </a:lstStyle>
          <a:p>
            <a:pPr algn="l"/>
            <a:r>
              <a:rPr lang="en-US" sz="3200" dirty="0">
                <a:solidFill>
                  <a:srgbClr val="FFFF00"/>
                </a:solidFill>
                <a:highlight>
                  <a:srgbClr val="000000"/>
                </a:highlight>
                <a:latin typeface="Calibri" panose="020F0502020204030204" pitchFamily="34" charset="0"/>
                <a:cs typeface="Calibri" panose="020F0502020204030204" pitchFamily="34" charset="0"/>
              </a:rPr>
              <a:t>Coded Aperture Design</a:t>
            </a:r>
            <a:endParaRPr lang="en-CL" sz="3200" dirty="0">
              <a:solidFill>
                <a:srgbClr val="FFFF00"/>
              </a:solidFill>
              <a:highlight>
                <a:srgbClr val="000000"/>
              </a:highlight>
              <a:latin typeface="Calibri" panose="020F0502020204030204" pitchFamily="34" charset="0"/>
              <a:cs typeface="Calibri" panose="020F0502020204030204" pitchFamily="34" charset="0"/>
            </a:endParaRPr>
          </a:p>
        </p:txBody>
      </p:sp>
      <p:pic>
        <p:nvPicPr>
          <p:cNvPr id="2" name="Picture 1">
            <a:extLst>
              <a:ext uri="{FF2B5EF4-FFF2-40B4-BE49-F238E27FC236}">
                <a16:creationId xmlns:a16="http://schemas.microsoft.com/office/drawing/2014/main" id="{DB93511B-E380-33C2-411C-842CF246A94B}"/>
              </a:ext>
            </a:extLst>
          </p:cNvPr>
          <p:cNvPicPr>
            <a:picLocks noChangeAspect="1"/>
          </p:cNvPicPr>
          <p:nvPr/>
        </p:nvPicPr>
        <p:blipFill rotWithShape="1">
          <a:blip r:embed="rId2"/>
          <a:srcRect b="5330"/>
          <a:stretch/>
        </p:blipFill>
        <p:spPr>
          <a:xfrm>
            <a:off x="4418666" y="1376625"/>
            <a:ext cx="3821401" cy="3421473"/>
          </a:xfrm>
          <a:prstGeom prst="rect">
            <a:avLst/>
          </a:prstGeom>
        </p:spPr>
      </p:pic>
      <p:sp>
        <p:nvSpPr>
          <p:cNvPr id="6" name="Content Placeholder 2">
            <a:extLst>
              <a:ext uri="{FF2B5EF4-FFF2-40B4-BE49-F238E27FC236}">
                <a16:creationId xmlns:a16="http://schemas.microsoft.com/office/drawing/2014/main" id="{82AF8198-D952-0777-2035-CFFC595A86A2}"/>
              </a:ext>
            </a:extLst>
          </p:cNvPr>
          <p:cNvSpPr txBox="1">
            <a:spLocks/>
          </p:cNvSpPr>
          <p:nvPr/>
        </p:nvSpPr>
        <p:spPr>
          <a:xfrm>
            <a:off x="4721645" y="4820048"/>
            <a:ext cx="3561750" cy="427923"/>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r>
              <a:rPr lang="en-US" dirty="0">
                <a:solidFill>
                  <a:schemeClr val="bg1"/>
                </a:solidFill>
                <a:highlight>
                  <a:srgbClr val="000000"/>
                </a:highlight>
              </a:rPr>
              <a:t>u</a:t>
            </a:r>
            <a:r>
              <a:rPr lang="en-CL" dirty="0">
                <a:solidFill>
                  <a:schemeClr val="bg1"/>
                </a:solidFill>
                <a:highlight>
                  <a:srgbClr val="000000"/>
                </a:highlight>
              </a:rPr>
              <a:t>niform sensing</a:t>
            </a:r>
          </a:p>
        </p:txBody>
      </p:sp>
      <p:sp>
        <p:nvSpPr>
          <p:cNvPr id="7" name="Content Placeholder 2">
            <a:extLst>
              <a:ext uri="{FF2B5EF4-FFF2-40B4-BE49-F238E27FC236}">
                <a16:creationId xmlns:a16="http://schemas.microsoft.com/office/drawing/2014/main" id="{848CDD65-4783-C3E9-4A5C-7B13A9865404}"/>
              </a:ext>
            </a:extLst>
          </p:cNvPr>
          <p:cNvSpPr txBox="1">
            <a:spLocks/>
          </p:cNvSpPr>
          <p:nvPr/>
        </p:nvSpPr>
        <p:spPr>
          <a:xfrm>
            <a:off x="232798" y="4748857"/>
            <a:ext cx="3561750" cy="427923"/>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r>
              <a:rPr lang="en-US" dirty="0">
                <a:solidFill>
                  <a:schemeClr val="bg1"/>
                </a:solidFill>
                <a:highlight>
                  <a:srgbClr val="000000"/>
                </a:highlight>
              </a:rPr>
              <a:t>uniform coded aperture</a:t>
            </a:r>
            <a:endParaRPr lang="en-CL" dirty="0">
              <a:solidFill>
                <a:schemeClr val="bg1"/>
              </a:solidFill>
              <a:highlight>
                <a:srgbClr val="000000"/>
              </a:highlight>
            </a:endParaRPr>
          </a:p>
        </p:txBody>
      </p:sp>
      <p:sp>
        <p:nvSpPr>
          <p:cNvPr id="9" name="Content Placeholder 2">
            <a:extLst>
              <a:ext uri="{FF2B5EF4-FFF2-40B4-BE49-F238E27FC236}">
                <a16:creationId xmlns:a16="http://schemas.microsoft.com/office/drawing/2014/main" id="{E65AB4FF-8445-FE90-17E1-DABA3CFD0390}"/>
              </a:ext>
            </a:extLst>
          </p:cNvPr>
          <p:cNvSpPr txBox="1">
            <a:spLocks/>
          </p:cNvSpPr>
          <p:nvPr/>
        </p:nvSpPr>
        <p:spPr>
          <a:xfrm>
            <a:off x="422031" y="693989"/>
            <a:ext cx="7587177" cy="1287716"/>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marL="285750" indent="-285750" algn="just">
              <a:buFont typeface="Arial" panose="020B0604020202020204" pitchFamily="34" charset="0"/>
              <a:buChar char="•"/>
            </a:pPr>
            <a:r>
              <a:rPr lang="en-CL" sz="1400" dirty="0">
                <a:solidFill>
                  <a:schemeClr val="bg1"/>
                </a:solidFill>
                <a:highlight>
                  <a:srgbClr val="000000"/>
                </a:highlight>
              </a:rPr>
              <a:t>The coded aperture exploits the </a:t>
            </a:r>
            <a:r>
              <a:rPr lang="en-CL" sz="1400" dirty="0">
                <a:solidFill>
                  <a:srgbClr val="00B050"/>
                </a:solidFill>
                <a:highlight>
                  <a:srgbClr val="000000"/>
                </a:highlight>
              </a:rPr>
              <a:t>shifting induced</a:t>
            </a:r>
            <a:r>
              <a:rPr lang="en-CL" sz="1400" dirty="0">
                <a:solidFill>
                  <a:schemeClr val="bg1"/>
                </a:solidFill>
                <a:highlight>
                  <a:srgbClr val="000000"/>
                </a:highlight>
              </a:rPr>
              <a:t> by the galvanometer scanner.</a:t>
            </a:r>
          </a:p>
          <a:p>
            <a:pPr marL="285750" indent="-285750" algn="just">
              <a:buFont typeface="Arial" panose="020B0604020202020204" pitchFamily="34" charset="0"/>
              <a:buChar char="•"/>
            </a:pPr>
            <a:r>
              <a:rPr lang="en-CL" sz="1400" dirty="0">
                <a:solidFill>
                  <a:schemeClr val="bg1"/>
                </a:solidFill>
                <a:highlight>
                  <a:srgbClr val="000000"/>
                </a:highlight>
              </a:rPr>
              <a:t>Our design guarantees </a:t>
            </a:r>
            <a:r>
              <a:rPr lang="en-CL" sz="1400" dirty="0">
                <a:solidFill>
                  <a:srgbClr val="00B050"/>
                </a:solidFill>
                <a:highlight>
                  <a:srgbClr val="000000"/>
                </a:highlight>
              </a:rPr>
              <a:t>uniform sampling.</a:t>
            </a:r>
          </a:p>
          <a:p>
            <a:pPr algn="just"/>
            <a:endParaRPr lang="en-CL" sz="1400" dirty="0">
              <a:solidFill>
                <a:srgbClr val="00B050"/>
              </a:solidFill>
              <a:highlight>
                <a:srgbClr val="000000"/>
              </a:highlight>
            </a:endParaRPr>
          </a:p>
        </p:txBody>
      </p:sp>
      <p:pic>
        <p:nvPicPr>
          <p:cNvPr id="10" name="Picture 9" descr="A black and white background with small white dots&#10;&#10;Description automatically generated">
            <a:extLst>
              <a:ext uri="{FF2B5EF4-FFF2-40B4-BE49-F238E27FC236}">
                <a16:creationId xmlns:a16="http://schemas.microsoft.com/office/drawing/2014/main" id="{E0D66516-01C9-0D9D-C8A4-166B00552C05}"/>
              </a:ext>
            </a:extLst>
          </p:cNvPr>
          <p:cNvPicPr>
            <a:picLocks noChangeAspect="1"/>
          </p:cNvPicPr>
          <p:nvPr/>
        </p:nvPicPr>
        <p:blipFill>
          <a:blip r:embed="rId3"/>
          <a:stretch>
            <a:fillRect/>
          </a:stretch>
        </p:blipFill>
        <p:spPr>
          <a:xfrm>
            <a:off x="427081" y="1339305"/>
            <a:ext cx="3436802" cy="3436802"/>
          </a:xfrm>
          <a:prstGeom prst="rect">
            <a:avLst/>
          </a:prstGeom>
        </p:spPr>
      </p:pic>
    </p:spTree>
    <p:extLst>
      <p:ext uri="{BB962C8B-B14F-4D97-AF65-F5344CB8AC3E}">
        <p14:creationId xmlns:p14="http://schemas.microsoft.com/office/powerpoint/2010/main" val="6793968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0646B04D-5E8F-29B7-CC3E-88823D60F048}"/>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C50F61EB-FD01-6525-6B1D-E9673468621C}"/>
              </a:ext>
            </a:extLst>
          </p:cNvPr>
          <p:cNvSpPr txBox="1">
            <a:spLocks/>
          </p:cNvSpPr>
          <p:nvPr/>
        </p:nvSpPr>
        <p:spPr>
          <a:xfrm>
            <a:off x="0" y="-361533"/>
            <a:ext cx="7886700" cy="994172"/>
          </a:xfrm>
          <a:prstGeom prst="rect">
            <a:avLst/>
          </a:prstGeom>
        </p:spPr>
        <p:txBody>
          <a:bodyPr vert="horz" lIns="91440" tIns="45720" rIns="91440" bIns="45720" rtlCol="0" anchor="b">
            <a:normAutofit/>
          </a:bodyPr>
          <a:lstStyle>
            <a:lvl1pPr algn="ctr" defTabSz="685800" rtl="0" eaLnBrk="1" latinLnBrk="0" hangingPunct="1">
              <a:lnSpc>
                <a:spcPct val="90000"/>
              </a:lnSpc>
              <a:spcBef>
                <a:spcPct val="0"/>
              </a:spcBef>
              <a:buNone/>
              <a:defRPr sz="4500" kern="1200">
                <a:solidFill>
                  <a:schemeClr val="tx1"/>
                </a:solidFill>
                <a:latin typeface="+mj-lt"/>
                <a:ea typeface="+mj-ea"/>
                <a:cs typeface="+mj-cs"/>
              </a:defRPr>
            </a:lvl1pPr>
          </a:lstStyle>
          <a:p>
            <a:pPr algn="l"/>
            <a:r>
              <a:rPr lang="en-US" sz="3200" dirty="0">
                <a:solidFill>
                  <a:srgbClr val="FFFF00"/>
                </a:solidFill>
                <a:highlight>
                  <a:srgbClr val="000000"/>
                </a:highlight>
                <a:latin typeface="Calibri" panose="020F0502020204030204" pitchFamily="34" charset="0"/>
                <a:cs typeface="Calibri" panose="020F0502020204030204" pitchFamily="34" charset="0"/>
              </a:rPr>
              <a:t>Traditional Coded Aperture Design</a:t>
            </a:r>
            <a:endParaRPr lang="en-CL" sz="3200" dirty="0">
              <a:solidFill>
                <a:srgbClr val="FFFF00"/>
              </a:solidFill>
              <a:highlight>
                <a:srgbClr val="000000"/>
              </a:highlight>
              <a:latin typeface="Calibri" panose="020F0502020204030204" pitchFamily="34" charset="0"/>
              <a:cs typeface="Calibri" panose="020F0502020204030204" pitchFamily="34" charset="0"/>
            </a:endParaRPr>
          </a:p>
        </p:txBody>
      </p:sp>
      <p:pic>
        <p:nvPicPr>
          <p:cNvPr id="1026" name="Picture 2" descr="Fig. 3. -- Uniform sampling promoted by the SPCA design against conventional random approach. (a) Single SP binary mask. (b) Spatial distribution of the sampled pixels according to the mask sequence. (c) As (a)">
            <a:extLst>
              <a:ext uri="{FF2B5EF4-FFF2-40B4-BE49-F238E27FC236}">
                <a16:creationId xmlns:a16="http://schemas.microsoft.com/office/drawing/2014/main" id="{6360E670-7D4E-D93B-063C-B75B4B620B6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49386"/>
          <a:stretch>
            <a:fillRect/>
          </a:stretch>
        </p:blipFill>
        <p:spPr bwMode="auto">
          <a:xfrm>
            <a:off x="204130" y="1110343"/>
            <a:ext cx="7907877" cy="3570514"/>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E7C3F000-32D5-2A1E-E720-20772CDEBD5B}"/>
              </a:ext>
            </a:extLst>
          </p:cNvPr>
          <p:cNvSpPr txBox="1">
            <a:spLocks/>
          </p:cNvSpPr>
          <p:nvPr/>
        </p:nvSpPr>
        <p:spPr>
          <a:xfrm>
            <a:off x="3654845" y="4715577"/>
            <a:ext cx="3561750" cy="427923"/>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r>
              <a:rPr lang="en-US" dirty="0">
                <a:solidFill>
                  <a:schemeClr val="bg1"/>
                </a:solidFill>
                <a:highlight>
                  <a:srgbClr val="000000"/>
                </a:highlight>
              </a:rPr>
              <a:t>Non-uniform sensing</a:t>
            </a:r>
            <a:endParaRPr lang="en-CL" dirty="0">
              <a:solidFill>
                <a:schemeClr val="bg1"/>
              </a:solidFill>
              <a:highlight>
                <a:srgbClr val="000000"/>
              </a:highlight>
            </a:endParaRPr>
          </a:p>
        </p:txBody>
      </p:sp>
      <p:sp>
        <p:nvSpPr>
          <p:cNvPr id="5" name="Content Placeholder 2">
            <a:extLst>
              <a:ext uri="{FF2B5EF4-FFF2-40B4-BE49-F238E27FC236}">
                <a16:creationId xmlns:a16="http://schemas.microsoft.com/office/drawing/2014/main" id="{BD4E7FE7-2CC4-9BE3-94C5-3B9CEDE31CFD}"/>
              </a:ext>
            </a:extLst>
          </p:cNvPr>
          <p:cNvSpPr txBox="1">
            <a:spLocks/>
          </p:cNvSpPr>
          <p:nvPr/>
        </p:nvSpPr>
        <p:spPr>
          <a:xfrm>
            <a:off x="232798" y="4748857"/>
            <a:ext cx="3561750" cy="427923"/>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r>
              <a:rPr lang="en-US" dirty="0">
                <a:solidFill>
                  <a:schemeClr val="bg1"/>
                </a:solidFill>
                <a:highlight>
                  <a:srgbClr val="000000"/>
                </a:highlight>
              </a:rPr>
              <a:t>Random coded aperture</a:t>
            </a:r>
            <a:endParaRPr lang="en-CL" dirty="0">
              <a:solidFill>
                <a:schemeClr val="bg1"/>
              </a:solidFill>
              <a:highlight>
                <a:srgbClr val="000000"/>
              </a:highlight>
            </a:endParaRPr>
          </a:p>
        </p:txBody>
      </p:sp>
    </p:spTree>
    <p:extLst>
      <p:ext uri="{BB962C8B-B14F-4D97-AF65-F5344CB8AC3E}">
        <p14:creationId xmlns:p14="http://schemas.microsoft.com/office/powerpoint/2010/main" val="12742894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EE41828-540D-7D14-80CC-0A8B68D8619C}"/>
              </a:ext>
            </a:extLst>
          </p:cNvPr>
          <p:cNvSpPr txBox="1">
            <a:spLocks/>
          </p:cNvSpPr>
          <p:nvPr/>
        </p:nvSpPr>
        <p:spPr>
          <a:xfrm>
            <a:off x="-291026" y="-407518"/>
            <a:ext cx="7886700" cy="994172"/>
          </a:xfrm>
          <a:prstGeom prst="rect">
            <a:avLst/>
          </a:prstGeom>
        </p:spPr>
        <p:txBody>
          <a:bodyPr vert="horz" lIns="91440" tIns="45720" rIns="91440" bIns="45720" rtlCol="0" anchor="b">
            <a:normAutofit/>
          </a:bodyPr>
          <a:lstStyle>
            <a:lvl1pPr algn="ctr" defTabSz="685800" rtl="0" eaLnBrk="1" latinLnBrk="0" hangingPunct="1">
              <a:lnSpc>
                <a:spcPct val="90000"/>
              </a:lnSpc>
              <a:spcBef>
                <a:spcPct val="0"/>
              </a:spcBef>
              <a:buNone/>
              <a:defRPr sz="4500" kern="1200">
                <a:solidFill>
                  <a:schemeClr val="tx1"/>
                </a:solidFill>
                <a:latin typeface="+mj-lt"/>
                <a:ea typeface="+mj-ea"/>
                <a:cs typeface="+mj-cs"/>
              </a:defRPr>
            </a:lvl1pPr>
          </a:lstStyle>
          <a:p>
            <a:r>
              <a:rPr lang="en-US" sz="3200" dirty="0">
                <a:solidFill>
                  <a:srgbClr val="FFFF00"/>
                </a:solidFill>
                <a:highlight>
                  <a:srgbClr val="000000"/>
                </a:highlight>
                <a:latin typeface="Calibri" panose="020F0502020204030204" pitchFamily="34" charset="0"/>
                <a:cs typeface="Calibri" panose="020F0502020204030204" pitchFamily="34" charset="0"/>
              </a:rPr>
              <a:t>Sphere Packing Comparison Between DMDs</a:t>
            </a:r>
            <a:endParaRPr lang="en-CL" sz="3200" dirty="0">
              <a:solidFill>
                <a:srgbClr val="FFFF00"/>
              </a:solidFill>
              <a:highlight>
                <a:srgbClr val="000000"/>
              </a:highlight>
              <a:latin typeface="Calibri" panose="020F0502020204030204" pitchFamily="34" charset="0"/>
              <a:cs typeface="Calibri" panose="020F0502020204030204" pitchFamily="34" charset="0"/>
            </a:endParaRPr>
          </a:p>
        </p:txBody>
      </p:sp>
      <p:sp>
        <p:nvSpPr>
          <p:cNvPr id="7" name="Content Placeholder 2">
            <a:extLst>
              <a:ext uri="{FF2B5EF4-FFF2-40B4-BE49-F238E27FC236}">
                <a16:creationId xmlns:a16="http://schemas.microsoft.com/office/drawing/2014/main" id="{5FE50734-14A5-AF80-5400-0A4861C6A2CA}"/>
              </a:ext>
            </a:extLst>
          </p:cNvPr>
          <p:cNvSpPr txBox="1">
            <a:spLocks/>
          </p:cNvSpPr>
          <p:nvPr/>
        </p:nvSpPr>
        <p:spPr>
          <a:xfrm>
            <a:off x="-528179" y="914587"/>
            <a:ext cx="3561750" cy="427923"/>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r>
              <a:rPr lang="en-US" dirty="0">
                <a:solidFill>
                  <a:schemeClr val="bg1"/>
                </a:solidFill>
                <a:highlight>
                  <a:srgbClr val="000000"/>
                </a:highlight>
              </a:rPr>
              <a:t>o</a:t>
            </a:r>
            <a:r>
              <a:rPr lang="en-CL" dirty="0">
                <a:solidFill>
                  <a:schemeClr val="bg1"/>
                </a:solidFill>
                <a:highlight>
                  <a:srgbClr val="000000"/>
                </a:highlight>
              </a:rPr>
              <a:t>rthogonal DMD</a:t>
            </a:r>
          </a:p>
        </p:txBody>
      </p:sp>
      <p:sp>
        <p:nvSpPr>
          <p:cNvPr id="9" name="Content Placeholder 2">
            <a:extLst>
              <a:ext uri="{FF2B5EF4-FFF2-40B4-BE49-F238E27FC236}">
                <a16:creationId xmlns:a16="http://schemas.microsoft.com/office/drawing/2014/main" id="{8D797306-8920-A3D1-7EAA-223DB6C23173}"/>
              </a:ext>
            </a:extLst>
          </p:cNvPr>
          <p:cNvSpPr txBox="1">
            <a:spLocks/>
          </p:cNvSpPr>
          <p:nvPr/>
        </p:nvSpPr>
        <p:spPr>
          <a:xfrm>
            <a:off x="1787219" y="863671"/>
            <a:ext cx="3561750" cy="427923"/>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r>
              <a:rPr lang="en-US" dirty="0">
                <a:solidFill>
                  <a:schemeClr val="bg1"/>
                </a:solidFill>
                <a:highlight>
                  <a:srgbClr val="000000"/>
                </a:highlight>
              </a:rPr>
              <a:t>diamond</a:t>
            </a:r>
            <a:r>
              <a:rPr lang="en-CL" dirty="0">
                <a:solidFill>
                  <a:schemeClr val="bg1"/>
                </a:solidFill>
                <a:highlight>
                  <a:srgbClr val="000000"/>
                </a:highlight>
              </a:rPr>
              <a:t> DMD</a:t>
            </a:r>
          </a:p>
        </p:txBody>
      </p:sp>
      <p:sp>
        <p:nvSpPr>
          <p:cNvPr id="12" name="TextBox 11">
            <a:extLst>
              <a:ext uri="{FF2B5EF4-FFF2-40B4-BE49-F238E27FC236}">
                <a16:creationId xmlns:a16="http://schemas.microsoft.com/office/drawing/2014/main" id="{D36C1DE0-99E9-6DD7-AFE9-99C17A85D03E}"/>
              </a:ext>
            </a:extLst>
          </p:cNvPr>
          <p:cNvSpPr txBox="1"/>
          <p:nvPr/>
        </p:nvSpPr>
        <p:spPr>
          <a:xfrm>
            <a:off x="5335438" y="2228796"/>
            <a:ext cx="3808562" cy="1600438"/>
          </a:xfrm>
          <a:prstGeom prst="rect">
            <a:avLst/>
          </a:prstGeom>
          <a:noFill/>
        </p:spPr>
        <p:txBody>
          <a:bodyPr wrap="square">
            <a:spAutoFit/>
          </a:bodyPr>
          <a:lstStyle/>
          <a:p>
            <a:pPr algn="l"/>
            <a:r>
              <a:rPr lang="en-US" sz="1600" b="0" i="0" dirty="0">
                <a:solidFill>
                  <a:schemeClr val="bg1"/>
                </a:solidFill>
                <a:effectLst/>
                <a:latin typeface="Roboto" panose="020F0502020204030204" pitchFamily="34" charset="0"/>
              </a:rPr>
              <a:t>Texas instruments</a:t>
            </a:r>
          </a:p>
          <a:p>
            <a:pPr algn="l"/>
            <a:endParaRPr lang="en-US" sz="1600" b="0" i="0" dirty="0">
              <a:solidFill>
                <a:schemeClr val="bg1"/>
              </a:solidFill>
              <a:effectLst/>
              <a:latin typeface="Roboto" panose="020F0502020204030204" pitchFamily="34" charset="0"/>
            </a:endParaRPr>
          </a:p>
          <a:p>
            <a:r>
              <a:rPr lang="en-US" sz="1600" dirty="0">
                <a:solidFill>
                  <a:schemeClr val="bg1"/>
                </a:solidFill>
                <a:latin typeface="Roboto" panose="02000000000000000000" pitchFamily="2" charset="0"/>
              </a:rPr>
              <a:t>orthogonal</a:t>
            </a:r>
            <a:r>
              <a:rPr lang="en-US" sz="1600" b="0" i="0" dirty="0">
                <a:solidFill>
                  <a:schemeClr val="bg1"/>
                </a:solidFill>
                <a:effectLst/>
                <a:latin typeface="Roboto" panose="02000000000000000000" pitchFamily="2" charset="0"/>
              </a:rPr>
              <a:t>: DLP3010LC</a:t>
            </a:r>
          </a:p>
          <a:p>
            <a:r>
              <a:rPr lang="en-US" sz="1600" dirty="0">
                <a:solidFill>
                  <a:schemeClr val="bg1"/>
                </a:solidFill>
                <a:latin typeface="Roboto" panose="020F0502020204030204" pitchFamily="34" charset="0"/>
              </a:rPr>
              <a:t>diamond</a:t>
            </a:r>
            <a:r>
              <a:rPr lang="en-US" sz="1600" b="0" i="0" dirty="0">
                <a:solidFill>
                  <a:schemeClr val="bg1"/>
                </a:solidFill>
                <a:effectLst/>
                <a:latin typeface="Roboto" panose="020F0502020204030204" pitchFamily="34" charset="0"/>
              </a:rPr>
              <a:t>: DLP® 0.45 WXGA DMD</a:t>
            </a:r>
          </a:p>
          <a:p>
            <a:endParaRPr lang="en-US" sz="1600" b="0" i="0" dirty="0">
              <a:solidFill>
                <a:schemeClr val="bg1"/>
              </a:solidFill>
              <a:effectLst/>
              <a:latin typeface="Roboto" panose="02000000000000000000" pitchFamily="2" charset="0"/>
            </a:endParaRPr>
          </a:p>
          <a:p>
            <a:pPr algn="l"/>
            <a:endParaRPr lang="en-US" b="0" i="0" dirty="0">
              <a:solidFill>
                <a:schemeClr val="bg1"/>
              </a:solidFill>
              <a:effectLst/>
              <a:latin typeface="Roboto" panose="020F0502020204030204" pitchFamily="34" charset="0"/>
            </a:endParaRPr>
          </a:p>
        </p:txBody>
      </p:sp>
      <p:pic>
        <p:nvPicPr>
          <p:cNvPr id="2050" name="Picture 2" descr="Fig. 2. -- Comparison of sphere-packing (SP) ability of two DMD structures. (a) Arrangement of a (a) square-pixel and (b) diamond-pixel DMD. SP of the (c) square-pixel and (d) diamond-pixel DMD.">
            <a:extLst>
              <a:ext uri="{FF2B5EF4-FFF2-40B4-BE49-F238E27FC236}">
                <a16:creationId xmlns:a16="http://schemas.microsoft.com/office/drawing/2014/main" id="{3FFED9E0-6332-A460-7BF8-5400F13EA0E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1343" y="1271676"/>
            <a:ext cx="4784209" cy="37412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941852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EE41828-540D-7D14-80CC-0A8B68D8619C}"/>
              </a:ext>
            </a:extLst>
          </p:cNvPr>
          <p:cNvSpPr txBox="1">
            <a:spLocks/>
          </p:cNvSpPr>
          <p:nvPr/>
        </p:nvSpPr>
        <p:spPr>
          <a:xfrm>
            <a:off x="0" y="-361533"/>
            <a:ext cx="7886700" cy="994172"/>
          </a:xfrm>
          <a:prstGeom prst="rect">
            <a:avLst/>
          </a:prstGeom>
        </p:spPr>
        <p:txBody>
          <a:bodyPr vert="horz" lIns="91440" tIns="45720" rIns="91440" bIns="45720" rtlCol="0" anchor="b">
            <a:normAutofit/>
          </a:bodyPr>
          <a:lstStyle>
            <a:lvl1pPr algn="ctr" defTabSz="685800" rtl="0" eaLnBrk="1" latinLnBrk="0" hangingPunct="1">
              <a:lnSpc>
                <a:spcPct val="90000"/>
              </a:lnSpc>
              <a:spcBef>
                <a:spcPct val="0"/>
              </a:spcBef>
              <a:buNone/>
              <a:defRPr sz="4500" kern="1200">
                <a:solidFill>
                  <a:schemeClr val="tx1"/>
                </a:solidFill>
                <a:latin typeface="+mj-lt"/>
                <a:ea typeface="+mj-ea"/>
                <a:cs typeface="+mj-cs"/>
              </a:defRPr>
            </a:lvl1pPr>
          </a:lstStyle>
          <a:p>
            <a:pPr algn="l"/>
            <a:r>
              <a:rPr lang="en-US" sz="3200" dirty="0">
                <a:solidFill>
                  <a:srgbClr val="FFFF00"/>
                </a:solidFill>
                <a:highlight>
                  <a:srgbClr val="000000"/>
                </a:highlight>
                <a:latin typeface="Calibri" panose="020F0502020204030204" pitchFamily="34" charset="0"/>
                <a:cs typeface="Calibri" panose="020F0502020204030204" pitchFamily="34" charset="0"/>
              </a:rPr>
              <a:t>Simulation Results</a:t>
            </a:r>
            <a:endParaRPr lang="en-CL" sz="3200" dirty="0">
              <a:solidFill>
                <a:srgbClr val="FFFF00"/>
              </a:solidFill>
              <a:highlight>
                <a:srgbClr val="000000"/>
              </a:highlight>
              <a:latin typeface="Calibri" panose="020F0502020204030204" pitchFamily="34" charset="0"/>
              <a:cs typeface="Calibri" panose="020F0502020204030204" pitchFamily="34" charset="0"/>
            </a:endParaRPr>
          </a:p>
        </p:txBody>
      </p:sp>
      <p:pic>
        <p:nvPicPr>
          <p:cNvPr id="3074" name="Picture 2" descr="Fig. 4. -- Comparison of the simulation reconstructions. (a) Simulated single measurement using COSUP with SPCA. Groundtruth (top row) and reconstructions using NNI (second row), GAP (third row), and INR (botto">
            <a:extLst>
              <a:ext uri="{FF2B5EF4-FFF2-40B4-BE49-F238E27FC236}">
                <a16:creationId xmlns:a16="http://schemas.microsoft.com/office/drawing/2014/main" id="{563C5BB2-E21F-2B2C-A879-40CD6EFB4E2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8714" y="947963"/>
            <a:ext cx="7743669" cy="36240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632617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46CECBA1-FFEE-411C-D82D-642040228A8D}"/>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300571F2-9AA9-104E-5280-AD6838584DB7}"/>
              </a:ext>
            </a:extLst>
          </p:cNvPr>
          <p:cNvSpPr txBox="1">
            <a:spLocks/>
          </p:cNvSpPr>
          <p:nvPr/>
        </p:nvSpPr>
        <p:spPr>
          <a:xfrm>
            <a:off x="0" y="-361533"/>
            <a:ext cx="7886700" cy="994172"/>
          </a:xfrm>
          <a:prstGeom prst="rect">
            <a:avLst/>
          </a:prstGeom>
        </p:spPr>
        <p:txBody>
          <a:bodyPr vert="horz" lIns="91440" tIns="45720" rIns="91440" bIns="45720" rtlCol="0" anchor="b">
            <a:normAutofit/>
          </a:bodyPr>
          <a:lstStyle>
            <a:lvl1pPr algn="ctr" defTabSz="685800" rtl="0" eaLnBrk="1" latinLnBrk="0" hangingPunct="1">
              <a:lnSpc>
                <a:spcPct val="90000"/>
              </a:lnSpc>
              <a:spcBef>
                <a:spcPct val="0"/>
              </a:spcBef>
              <a:buNone/>
              <a:defRPr sz="4500" kern="1200">
                <a:solidFill>
                  <a:schemeClr val="tx1"/>
                </a:solidFill>
                <a:latin typeface="+mj-lt"/>
                <a:ea typeface="+mj-ea"/>
                <a:cs typeface="+mj-cs"/>
              </a:defRPr>
            </a:lvl1pPr>
          </a:lstStyle>
          <a:p>
            <a:pPr algn="l"/>
            <a:r>
              <a:rPr lang="en-US" sz="3200" dirty="0">
                <a:solidFill>
                  <a:srgbClr val="FFFF00"/>
                </a:solidFill>
                <a:highlight>
                  <a:srgbClr val="000000"/>
                </a:highlight>
                <a:latin typeface="Calibri" panose="020F0502020204030204" pitchFamily="34" charset="0"/>
                <a:cs typeface="Calibri" panose="020F0502020204030204" pitchFamily="34" charset="0"/>
              </a:rPr>
              <a:t>Simulation Results</a:t>
            </a:r>
            <a:endParaRPr lang="en-CL" sz="3200" dirty="0">
              <a:solidFill>
                <a:srgbClr val="FFFF00"/>
              </a:solidFill>
              <a:highlight>
                <a:srgbClr val="000000"/>
              </a:highlight>
              <a:latin typeface="Calibri" panose="020F0502020204030204" pitchFamily="34" charset="0"/>
              <a:cs typeface="Calibri" panose="020F0502020204030204" pitchFamily="34" charset="0"/>
            </a:endParaRPr>
          </a:p>
        </p:txBody>
      </p:sp>
      <p:pic>
        <p:nvPicPr>
          <p:cNvPr id="5122" name="Picture 2" descr="Fig. 5. -- Comparison of image reconstruction between sphere packing and randomly generated coded apertures using INR for more frames (see Visualization 1). (a) Single measurements for 32, 64, and 128 frames, o">
            <a:extLst>
              <a:ext uri="{FF2B5EF4-FFF2-40B4-BE49-F238E27FC236}">
                <a16:creationId xmlns:a16="http://schemas.microsoft.com/office/drawing/2014/main" id="{3E811579-3280-0495-CE0A-90840DAFAAD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97000" y="573313"/>
            <a:ext cx="6167572" cy="44776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007341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EE41828-540D-7D14-80CC-0A8B68D8619C}"/>
              </a:ext>
            </a:extLst>
          </p:cNvPr>
          <p:cNvSpPr txBox="1">
            <a:spLocks/>
          </p:cNvSpPr>
          <p:nvPr/>
        </p:nvSpPr>
        <p:spPr>
          <a:xfrm>
            <a:off x="0" y="-361533"/>
            <a:ext cx="7886700" cy="994172"/>
          </a:xfrm>
          <a:prstGeom prst="rect">
            <a:avLst/>
          </a:prstGeom>
        </p:spPr>
        <p:txBody>
          <a:bodyPr vert="horz" lIns="91440" tIns="45720" rIns="91440" bIns="45720" rtlCol="0" anchor="b">
            <a:normAutofit/>
          </a:bodyPr>
          <a:lstStyle>
            <a:lvl1pPr algn="ctr" defTabSz="685800" rtl="0" eaLnBrk="1" latinLnBrk="0" hangingPunct="1">
              <a:lnSpc>
                <a:spcPct val="90000"/>
              </a:lnSpc>
              <a:spcBef>
                <a:spcPct val="0"/>
              </a:spcBef>
              <a:buNone/>
              <a:defRPr sz="4500" kern="1200">
                <a:solidFill>
                  <a:schemeClr val="tx1"/>
                </a:solidFill>
                <a:latin typeface="+mj-lt"/>
                <a:ea typeface="+mj-ea"/>
                <a:cs typeface="+mj-cs"/>
              </a:defRPr>
            </a:lvl1pPr>
          </a:lstStyle>
          <a:p>
            <a:pPr algn="l"/>
            <a:r>
              <a:rPr lang="en-US" sz="3200" dirty="0">
                <a:solidFill>
                  <a:srgbClr val="FFFF00"/>
                </a:solidFill>
                <a:highlight>
                  <a:srgbClr val="000000"/>
                </a:highlight>
                <a:latin typeface="Calibri" panose="020F0502020204030204" pitchFamily="34" charset="0"/>
                <a:cs typeface="Calibri" panose="020F0502020204030204" pitchFamily="34" charset="0"/>
              </a:rPr>
              <a:t>Simulation Results</a:t>
            </a:r>
            <a:endParaRPr lang="en-CL" sz="3200" dirty="0">
              <a:solidFill>
                <a:srgbClr val="FFFF00"/>
              </a:solidFill>
              <a:highlight>
                <a:srgbClr val="000000"/>
              </a:highlight>
              <a:latin typeface="Calibri" panose="020F0502020204030204" pitchFamily="34" charset="0"/>
              <a:cs typeface="Calibri" panose="020F0502020204030204" pitchFamily="34" charset="0"/>
            </a:endParaRPr>
          </a:p>
        </p:txBody>
      </p:sp>
      <p:pic>
        <p:nvPicPr>
          <p:cNvPr id="5" name="figure5_supplementary (1)">
            <a:hlinkClick r:id="" action="ppaction://media"/>
            <a:extLst>
              <a:ext uri="{FF2B5EF4-FFF2-40B4-BE49-F238E27FC236}">
                <a16:creationId xmlns:a16="http://schemas.microsoft.com/office/drawing/2014/main" id="{64B1F0EF-1137-A602-5655-3DB1385C7BFA}"/>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1603828" y="566057"/>
            <a:ext cx="5667829" cy="4250872"/>
          </a:xfrm>
          <a:prstGeom prst="rect">
            <a:avLst/>
          </a:prstGeom>
        </p:spPr>
      </p:pic>
    </p:spTree>
    <p:extLst>
      <p:ext uri="{BB962C8B-B14F-4D97-AF65-F5344CB8AC3E}">
        <p14:creationId xmlns:p14="http://schemas.microsoft.com/office/powerpoint/2010/main" val="6475988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5333"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5"/>
                </p:tgtEl>
              </p:cMediaNode>
            </p:video>
            <p:seq concurrent="1"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EE41828-540D-7D14-80CC-0A8B68D8619C}"/>
              </a:ext>
            </a:extLst>
          </p:cNvPr>
          <p:cNvSpPr txBox="1">
            <a:spLocks/>
          </p:cNvSpPr>
          <p:nvPr/>
        </p:nvSpPr>
        <p:spPr>
          <a:xfrm>
            <a:off x="0" y="-361533"/>
            <a:ext cx="7886700" cy="994172"/>
          </a:xfrm>
          <a:prstGeom prst="rect">
            <a:avLst/>
          </a:prstGeom>
        </p:spPr>
        <p:txBody>
          <a:bodyPr vert="horz" lIns="91440" tIns="45720" rIns="91440" bIns="45720" rtlCol="0" anchor="b">
            <a:normAutofit/>
          </a:bodyPr>
          <a:lstStyle>
            <a:lvl1pPr algn="ctr" defTabSz="685800" rtl="0" eaLnBrk="1" latinLnBrk="0" hangingPunct="1">
              <a:lnSpc>
                <a:spcPct val="90000"/>
              </a:lnSpc>
              <a:spcBef>
                <a:spcPct val="0"/>
              </a:spcBef>
              <a:buNone/>
              <a:defRPr sz="4500" kern="1200">
                <a:solidFill>
                  <a:schemeClr val="tx1"/>
                </a:solidFill>
                <a:latin typeface="+mj-lt"/>
                <a:ea typeface="+mj-ea"/>
                <a:cs typeface="+mj-cs"/>
              </a:defRPr>
            </a:lvl1pPr>
          </a:lstStyle>
          <a:p>
            <a:pPr algn="l"/>
            <a:r>
              <a:rPr lang="en-US" sz="3200" dirty="0">
                <a:solidFill>
                  <a:srgbClr val="FFFF00"/>
                </a:solidFill>
                <a:highlight>
                  <a:srgbClr val="000000"/>
                </a:highlight>
                <a:latin typeface="Calibri" panose="020F0502020204030204" pitchFamily="34" charset="0"/>
                <a:cs typeface="Calibri" panose="020F0502020204030204" pitchFamily="34" charset="0"/>
              </a:rPr>
              <a:t>Simulation Results</a:t>
            </a:r>
            <a:endParaRPr lang="en-CL" sz="3200" dirty="0">
              <a:solidFill>
                <a:srgbClr val="FFFF00"/>
              </a:solidFill>
              <a:highlight>
                <a:srgbClr val="000000"/>
              </a:highlight>
              <a:latin typeface="Calibri" panose="020F0502020204030204" pitchFamily="34" charset="0"/>
              <a:cs typeface="Calibri" panose="020F0502020204030204" pitchFamily="34" charset="0"/>
            </a:endParaRPr>
          </a:p>
        </p:txBody>
      </p:sp>
      <p:pic>
        <p:nvPicPr>
          <p:cNvPr id="11" name="Picture 10" descr="A black and white image of a circle&#10;&#10;Description automatically generated">
            <a:extLst>
              <a:ext uri="{FF2B5EF4-FFF2-40B4-BE49-F238E27FC236}">
                <a16:creationId xmlns:a16="http://schemas.microsoft.com/office/drawing/2014/main" id="{C49BBF4A-151E-A416-7ADE-512C5684C4DF}"/>
              </a:ext>
            </a:extLst>
          </p:cNvPr>
          <p:cNvPicPr>
            <a:picLocks noChangeAspect="1"/>
          </p:cNvPicPr>
          <p:nvPr/>
        </p:nvPicPr>
        <p:blipFill>
          <a:blip r:embed="rId10"/>
          <a:stretch>
            <a:fillRect/>
          </a:stretch>
        </p:blipFill>
        <p:spPr>
          <a:xfrm>
            <a:off x="80178" y="1069788"/>
            <a:ext cx="1639013" cy="1554027"/>
          </a:xfrm>
          <a:prstGeom prst="rect">
            <a:avLst/>
          </a:prstGeom>
        </p:spPr>
      </p:pic>
      <p:pic>
        <p:nvPicPr>
          <p:cNvPr id="13" name="video">
            <a:hlinkClick r:id="" action="ppaction://media"/>
            <a:extLst>
              <a:ext uri="{FF2B5EF4-FFF2-40B4-BE49-F238E27FC236}">
                <a16:creationId xmlns:a16="http://schemas.microsoft.com/office/drawing/2014/main" id="{141774E0-629D-BC52-088F-D85816A59482}"/>
              </a:ext>
            </a:extLst>
          </p:cNvPr>
          <p:cNvPicPr>
            <a:picLocks noChangeAspect="1"/>
          </p:cNvPicPr>
          <p:nvPr>
            <a:videoFile r:link="rId2"/>
            <p:extLst>
              <p:ext uri="{DAA4B4D4-6D71-4841-9C94-3DE7FCFB9230}">
                <p14:media xmlns:p14="http://schemas.microsoft.com/office/powerpoint/2010/main" r:embed="rId1"/>
              </p:ext>
            </p:extLst>
          </p:nvPr>
        </p:nvPicPr>
        <p:blipFill>
          <a:blip r:embed="rId11"/>
          <a:stretch>
            <a:fillRect/>
          </a:stretch>
        </p:blipFill>
        <p:spPr>
          <a:xfrm>
            <a:off x="1752016" y="1071646"/>
            <a:ext cx="1540075" cy="1540075"/>
          </a:xfrm>
          <a:prstGeom prst="rect">
            <a:avLst/>
          </a:prstGeom>
        </p:spPr>
      </p:pic>
      <p:sp>
        <p:nvSpPr>
          <p:cNvPr id="16" name="Content Placeholder 2">
            <a:extLst>
              <a:ext uri="{FF2B5EF4-FFF2-40B4-BE49-F238E27FC236}">
                <a16:creationId xmlns:a16="http://schemas.microsoft.com/office/drawing/2014/main" id="{2C8F3588-9724-9324-07DF-AE07C81079A0}"/>
              </a:ext>
            </a:extLst>
          </p:cNvPr>
          <p:cNvSpPr txBox="1">
            <a:spLocks/>
          </p:cNvSpPr>
          <p:nvPr/>
        </p:nvSpPr>
        <p:spPr>
          <a:xfrm>
            <a:off x="-835428" y="4256250"/>
            <a:ext cx="3561750" cy="427923"/>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r>
              <a:rPr lang="en-US" sz="1400" dirty="0">
                <a:solidFill>
                  <a:schemeClr val="bg1"/>
                </a:solidFill>
                <a:highlight>
                  <a:srgbClr val="000000"/>
                </a:highlight>
              </a:rPr>
              <a:t>measurements</a:t>
            </a:r>
            <a:endParaRPr lang="en-CL" sz="1400" dirty="0">
              <a:solidFill>
                <a:schemeClr val="bg1"/>
              </a:solidFill>
              <a:highlight>
                <a:srgbClr val="000000"/>
              </a:highlight>
            </a:endParaRPr>
          </a:p>
        </p:txBody>
      </p:sp>
      <p:sp>
        <p:nvSpPr>
          <p:cNvPr id="17" name="Content Placeholder 2">
            <a:extLst>
              <a:ext uri="{FF2B5EF4-FFF2-40B4-BE49-F238E27FC236}">
                <a16:creationId xmlns:a16="http://schemas.microsoft.com/office/drawing/2014/main" id="{DB0215AF-32A7-13D7-0344-CD4CACF86046}"/>
              </a:ext>
            </a:extLst>
          </p:cNvPr>
          <p:cNvSpPr txBox="1">
            <a:spLocks/>
          </p:cNvSpPr>
          <p:nvPr/>
        </p:nvSpPr>
        <p:spPr>
          <a:xfrm>
            <a:off x="4190830" y="4218218"/>
            <a:ext cx="3561750" cy="427923"/>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r>
              <a:rPr lang="en-US" sz="1400" dirty="0">
                <a:solidFill>
                  <a:schemeClr val="bg1"/>
                </a:solidFill>
                <a:highlight>
                  <a:srgbClr val="000000"/>
                </a:highlight>
              </a:rPr>
              <a:t>reconstruction</a:t>
            </a:r>
            <a:endParaRPr lang="en-CL" sz="1400" dirty="0">
              <a:solidFill>
                <a:schemeClr val="bg1"/>
              </a:solidFill>
              <a:highlight>
                <a:srgbClr val="000000"/>
              </a:highlight>
            </a:endParaRPr>
          </a:p>
        </p:txBody>
      </p:sp>
      <p:pic>
        <p:nvPicPr>
          <p:cNvPr id="3" name="Picture 2" descr="A white bottle with black background&#10;&#10;Description automatically generated">
            <a:extLst>
              <a:ext uri="{FF2B5EF4-FFF2-40B4-BE49-F238E27FC236}">
                <a16:creationId xmlns:a16="http://schemas.microsoft.com/office/drawing/2014/main" id="{1AD38F41-4D44-76B0-9D65-A3663130EBFF}"/>
              </a:ext>
            </a:extLst>
          </p:cNvPr>
          <p:cNvPicPr>
            <a:picLocks noChangeAspect="1"/>
          </p:cNvPicPr>
          <p:nvPr/>
        </p:nvPicPr>
        <p:blipFill>
          <a:blip r:embed="rId12"/>
          <a:stretch>
            <a:fillRect/>
          </a:stretch>
        </p:blipFill>
        <p:spPr>
          <a:xfrm>
            <a:off x="3365989" y="1071797"/>
            <a:ext cx="1631558" cy="1546959"/>
          </a:xfrm>
          <a:prstGeom prst="rect">
            <a:avLst/>
          </a:prstGeom>
          <a:ln>
            <a:noFill/>
          </a:ln>
        </p:spPr>
      </p:pic>
      <p:pic>
        <p:nvPicPr>
          <p:cNvPr id="6" name="video">
            <a:hlinkClick r:id="" action="ppaction://media"/>
            <a:extLst>
              <a:ext uri="{FF2B5EF4-FFF2-40B4-BE49-F238E27FC236}">
                <a16:creationId xmlns:a16="http://schemas.microsoft.com/office/drawing/2014/main" id="{F4ABE465-A341-8B62-D45B-C457E1E792C7}"/>
              </a:ext>
            </a:extLst>
          </p:cNvPr>
          <p:cNvPicPr>
            <a:picLocks noChangeAspect="1"/>
          </p:cNvPicPr>
          <p:nvPr>
            <a:videoFile r:link="rId4"/>
            <p:extLst>
              <p:ext uri="{DAA4B4D4-6D71-4841-9C94-3DE7FCFB9230}">
                <p14:media xmlns:p14="http://schemas.microsoft.com/office/powerpoint/2010/main" r:embed="rId3"/>
              </p:ext>
            </p:extLst>
          </p:nvPr>
        </p:nvPicPr>
        <p:blipFill>
          <a:blip r:embed="rId13"/>
          <a:stretch>
            <a:fillRect/>
          </a:stretch>
        </p:blipFill>
        <p:spPr>
          <a:xfrm>
            <a:off x="5060266" y="1064275"/>
            <a:ext cx="1547447" cy="1547447"/>
          </a:xfrm>
          <a:prstGeom prst="rect">
            <a:avLst/>
          </a:prstGeom>
          <a:ln>
            <a:noFill/>
          </a:ln>
        </p:spPr>
      </p:pic>
      <p:pic>
        <p:nvPicPr>
          <p:cNvPr id="8" name="video">
            <a:hlinkClick r:id="" action="ppaction://media"/>
            <a:extLst>
              <a:ext uri="{FF2B5EF4-FFF2-40B4-BE49-F238E27FC236}">
                <a16:creationId xmlns:a16="http://schemas.microsoft.com/office/drawing/2014/main" id="{99FCBFF1-67EC-31AC-8C13-3C93F95A12D3}"/>
              </a:ext>
            </a:extLst>
          </p:cNvPr>
          <p:cNvPicPr>
            <a:picLocks noChangeAspect="1"/>
          </p:cNvPicPr>
          <p:nvPr>
            <a:videoFile r:link="rId6"/>
            <p:extLst>
              <p:ext uri="{DAA4B4D4-6D71-4841-9C94-3DE7FCFB9230}">
                <p14:media xmlns:p14="http://schemas.microsoft.com/office/powerpoint/2010/main" r:embed="rId5"/>
              </p:ext>
            </p:extLst>
          </p:nvPr>
        </p:nvPicPr>
        <p:blipFill>
          <a:blip r:embed="rId14"/>
          <a:stretch>
            <a:fillRect/>
          </a:stretch>
        </p:blipFill>
        <p:spPr>
          <a:xfrm>
            <a:off x="1768427" y="2660959"/>
            <a:ext cx="1547447" cy="1547447"/>
          </a:xfrm>
          <a:prstGeom prst="rect">
            <a:avLst/>
          </a:prstGeom>
        </p:spPr>
      </p:pic>
      <p:pic>
        <p:nvPicPr>
          <p:cNvPr id="10" name="Picture 9" descr="A hand holding a small object&#10;&#10;Description automatically generated">
            <a:extLst>
              <a:ext uri="{FF2B5EF4-FFF2-40B4-BE49-F238E27FC236}">
                <a16:creationId xmlns:a16="http://schemas.microsoft.com/office/drawing/2014/main" id="{8EABB89B-2549-3E60-EDAF-5DB9D6C882DD}"/>
              </a:ext>
            </a:extLst>
          </p:cNvPr>
          <p:cNvPicPr>
            <a:picLocks noChangeAspect="1"/>
          </p:cNvPicPr>
          <p:nvPr/>
        </p:nvPicPr>
        <p:blipFill>
          <a:blip r:embed="rId15"/>
          <a:stretch>
            <a:fillRect/>
          </a:stretch>
        </p:blipFill>
        <p:spPr>
          <a:xfrm>
            <a:off x="43505" y="2682547"/>
            <a:ext cx="1668652" cy="1582129"/>
          </a:xfrm>
          <a:prstGeom prst="rect">
            <a:avLst/>
          </a:prstGeom>
        </p:spPr>
      </p:pic>
      <p:pic>
        <p:nvPicPr>
          <p:cNvPr id="21" name="video">
            <a:hlinkClick r:id="" action="ppaction://media"/>
            <a:extLst>
              <a:ext uri="{FF2B5EF4-FFF2-40B4-BE49-F238E27FC236}">
                <a16:creationId xmlns:a16="http://schemas.microsoft.com/office/drawing/2014/main" id="{4F858499-2E01-B410-6BF9-1910DE3A5DF5}"/>
              </a:ext>
            </a:extLst>
          </p:cNvPr>
          <p:cNvPicPr>
            <a:picLocks noChangeAspect="1"/>
          </p:cNvPicPr>
          <p:nvPr>
            <a:videoFile r:link="rId8"/>
            <p:extLst>
              <p:ext uri="{DAA4B4D4-6D71-4841-9C94-3DE7FCFB9230}">
                <p14:media xmlns:p14="http://schemas.microsoft.com/office/powerpoint/2010/main" r:embed="rId7"/>
              </p:ext>
            </p:extLst>
          </p:nvPr>
        </p:nvPicPr>
        <p:blipFill>
          <a:blip r:embed="rId16"/>
          <a:stretch>
            <a:fillRect/>
          </a:stretch>
        </p:blipFill>
        <p:spPr>
          <a:xfrm>
            <a:off x="5095438" y="2656270"/>
            <a:ext cx="1568548" cy="1568548"/>
          </a:xfrm>
          <a:prstGeom prst="rect">
            <a:avLst/>
          </a:prstGeom>
        </p:spPr>
      </p:pic>
      <p:pic>
        <p:nvPicPr>
          <p:cNvPr id="23" name="Picture 22" descr="A black and white image of a rock&#10;&#10;Description automatically generated">
            <a:extLst>
              <a:ext uri="{FF2B5EF4-FFF2-40B4-BE49-F238E27FC236}">
                <a16:creationId xmlns:a16="http://schemas.microsoft.com/office/drawing/2014/main" id="{68BC8ED2-EEFD-2E9A-30E4-3293F872B31D}"/>
              </a:ext>
            </a:extLst>
          </p:cNvPr>
          <p:cNvPicPr>
            <a:picLocks noChangeAspect="1"/>
          </p:cNvPicPr>
          <p:nvPr/>
        </p:nvPicPr>
        <p:blipFill>
          <a:blip r:embed="rId17"/>
          <a:stretch>
            <a:fillRect/>
          </a:stretch>
        </p:blipFill>
        <p:spPr>
          <a:xfrm>
            <a:off x="3369506" y="2649726"/>
            <a:ext cx="1641446" cy="1556334"/>
          </a:xfrm>
          <a:prstGeom prst="rect">
            <a:avLst/>
          </a:prstGeom>
        </p:spPr>
      </p:pic>
      <p:sp>
        <p:nvSpPr>
          <p:cNvPr id="28" name="Content Placeholder 2">
            <a:extLst>
              <a:ext uri="{FF2B5EF4-FFF2-40B4-BE49-F238E27FC236}">
                <a16:creationId xmlns:a16="http://schemas.microsoft.com/office/drawing/2014/main" id="{C55D2FF5-766B-3F9F-C7D1-A1F621D96C24}"/>
              </a:ext>
            </a:extLst>
          </p:cNvPr>
          <p:cNvSpPr txBox="1">
            <a:spLocks/>
          </p:cNvSpPr>
          <p:nvPr/>
        </p:nvSpPr>
        <p:spPr>
          <a:xfrm>
            <a:off x="2459383" y="4207173"/>
            <a:ext cx="3561750" cy="427923"/>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r>
              <a:rPr lang="en-US" sz="1400" dirty="0">
                <a:solidFill>
                  <a:schemeClr val="bg1"/>
                </a:solidFill>
                <a:highlight>
                  <a:srgbClr val="000000"/>
                </a:highlight>
              </a:rPr>
              <a:t>measurements</a:t>
            </a:r>
            <a:endParaRPr lang="en-CL" sz="1400" dirty="0">
              <a:solidFill>
                <a:schemeClr val="bg1"/>
              </a:solidFill>
              <a:highlight>
                <a:srgbClr val="000000"/>
              </a:highlight>
            </a:endParaRPr>
          </a:p>
        </p:txBody>
      </p:sp>
      <p:sp>
        <p:nvSpPr>
          <p:cNvPr id="29" name="Content Placeholder 2">
            <a:extLst>
              <a:ext uri="{FF2B5EF4-FFF2-40B4-BE49-F238E27FC236}">
                <a16:creationId xmlns:a16="http://schemas.microsoft.com/office/drawing/2014/main" id="{1BE7598B-DD48-B8CB-464F-201E40E4F31C}"/>
              </a:ext>
            </a:extLst>
          </p:cNvPr>
          <p:cNvSpPr txBox="1">
            <a:spLocks/>
          </p:cNvSpPr>
          <p:nvPr/>
        </p:nvSpPr>
        <p:spPr>
          <a:xfrm>
            <a:off x="828525" y="4231135"/>
            <a:ext cx="3561750" cy="427923"/>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r>
              <a:rPr lang="en-US" sz="1400" dirty="0">
                <a:solidFill>
                  <a:schemeClr val="bg1"/>
                </a:solidFill>
                <a:highlight>
                  <a:srgbClr val="000000"/>
                </a:highlight>
              </a:rPr>
              <a:t>reconstruction</a:t>
            </a:r>
            <a:endParaRPr lang="en-CL" sz="1400" dirty="0">
              <a:solidFill>
                <a:schemeClr val="bg1"/>
              </a:solidFill>
              <a:highlight>
                <a:srgbClr val="000000"/>
              </a:highlight>
            </a:endParaRPr>
          </a:p>
        </p:txBody>
      </p:sp>
      <p:pic>
        <p:nvPicPr>
          <p:cNvPr id="30" name="Picture 29">
            <a:extLst>
              <a:ext uri="{FF2B5EF4-FFF2-40B4-BE49-F238E27FC236}">
                <a16:creationId xmlns:a16="http://schemas.microsoft.com/office/drawing/2014/main" id="{262D8E21-9567-8323-1903-49070EB17EF5}"/>
              </a:ext>
            </a:extLst>
          </p:cNvPr>
          <p:cNvPicPr>
            <a:picLocks noChangeAspect="1"/>
          </p:cNvPicPr>
          <p:nvPr/>
        </p:nvPicPr>
        <p:blipFill>
          <a:blip r:embed="rId18"/>
          <a:stretch>
            <a:fillRect/>
          </a:stretch>
        </p:blipFill>
        <p:spPr>
          <a:xfrm>
            <a:off x="6765165" y="2149088"/>
            <a:ext cx="2358739" cy="1031635"/>
          </a:xfrm>
          <a:prstGeom prst="rect">
            <a:avLst/>
          </a:prstGeom>
        </p:spPr>
      </p:pic>
      <p:sp>
        <p:nvSpPr>
          <p:cNvPr id="2" name="TextBox 1">
            <a:extLst>
              <a:ext uri="{FF2B5EF4-FFF2-40B4-BE49-F238E27FC236}">
                <a16:creationId xmlns:a16="http://schemas.microsoft.com/office/drawing/2014/main" id="{0E78AFFD-AE22-F74C-97B0-F9D643E52CB7}"/>
              </a:ext>
            </a:extLst>
          </p:cNvPr>
          <p:cNvSpPr txBox="1"/>
          <p:nvPr/>
        </p:nvSpPr>
        <p:spPr>
          <a:xfrm>
            <a:off x="0" y="4760677"/>
            <a:ext cx="9144000" cy="276999"/>
          </a:xfrm>
          <a:prstGeom prst="rect">
            <a:avLst/>
          </a:prstGeom>
          <a:noFill/>
        </p:spPr>
        <p:txBody>
          <a:bodyPr wrap="square">
            <a:spAutoFit/>
          </a:bodyPr>
          <a:lstStyle/>
          <a:p>
            <a:r>
              <a:rPr lang="en-US" sz="1200" dirty="0">
                <a:solidFill>
                  <a:schemeClr val="bg1"/>
                </a:solidFill>
              </a:rPr>
              <a:t>I. Amidror, “Scattered data interpolation methods for electronic imaging systems: a survey,” J. Electron. Imaging 11,157–176 (2002).</a:t>
            </a:r>
            <a:endParaRPr lang="en-CL" sz="900" dirty="0">
              <a:solidFill>
                <a:schemeClr val="bg1"/>
              </a:solidFill>
            </a:endParaRPr>
          </a:p>
        </p:txBody>
      </p:sp>
      <p:sp>
        <p:nvSpPr>
          <p:cNvPr id="5" name="TextBox 4">
            <a:extLst>
              <a:ext uri="{FF2B5EF4-FFF2-40B4-BE49-F238E27FC236}">
                <a16:creationId xmlns:a16="http://schemas.microsoft.com/office/drawing/2014/main" id="{A66D934C-861A-D93F-87DE-04FE7A07A9E8}"/>
              </a:ext>
            </a:extLst>
          </p:cNvPr>
          <p:cNvSpPr txBox="1"/>
          <p:nvPr/>
        </p:nvSpPr>
        <p:spPr>
          <a:xfrm>
            <a:off x="7866743" y="3839029"/>
            <a:ext cx="184731" cy="369332"/>
          </a:xfrm>
          <a:prstGeom prst="rect">
            <a:avLst/>
          </a:prstGeom>
          <a:noFill/>
        </p:spPr>
        <p:txBody>
          <a:bodyPr wrap="none" rtlCol="0">
            <a:spAutoFit/>
          </a:bodyPr>
          <a:lstStyle/>
          <a:p>
            <a:endParaRPr lang="en-CL" dirty="0"/>
          </a:p>
        </p:txBody>
      </p:sp>
    </p:spTree>
    <p:extLst>
      <p:ext uri="{BB962C8B-B14F-4D97-AF65-F5344CB8AC3E}">
        <p14:creationId xmlns:p14="http://schemas.microsoft.com/office/powerpoint/2010/main" val="22843233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666" fill="hold"/>
                                        <p:tgtEl>
                                          <p:spTgt spid="13"/>
                                        </p:tgtEl>
                                      </p:cBhvr>
                                    </p:cmd>
                                  </p:childTnLst>
                                </p:cTn>
                              </p:par>
                              <p:par>
                                <p:cTn id="7" presetID="1" presetClass="mediacall" presetSubtype="0" fill="hold" nodeType="withEffect">
                                  <p:stCondLst>
                                    <p:cond delay="0"/>
                                  </p:stCondLst>
                                  <p:childTnLst>
                                    <p:cmd type="call" cmd="playFrom(0.0)">
                                      <p:cBhvr>
                                        <p:cTn id="8" dur="666" fill="hold"/>
                                        <p:tgtEl>
                                          <p:spTgt spid="6"/>
                                        </p:tgtEl>
                                      </p:cBhvr>
                                    </p:cmd>
                                  </p:childTnLst>
                                </p:cTn>
                              </p:par>
                              <p:par>
                                <p:cTn id="9" presetID="1" presetClass="mediacall" presetSubtype="0" fill="hold" nodeType="withEffect">
                                  <p:stCondLst>
                                    <p:cond delay="0"/>
                                  </p:stCondLst>
                                  <p:childTnLst>
                                    <p:cmd type="call" cmd="playFrom(0.0)">
                                      <p:cBhvr>
                                        <p:cTn id="10" dur="666" fill="hold"/>
                                        <p:tgtEl>
                                          <p:spTgt spid="8"/>
                                        </p:tgtEl>
                                      </p:cBhvr>
                                    </p:cmd>
                                  </p:childTnLst>
                                </p:cTn>
                              </p:par>
                              <p:par>
                                <p:cTn id="11" presetID="1" presetClass="mediacall" presetSubtype="0" fill="hold" nodeType="withEffect">
                                  <p:stCondLst>
                                    <p:cond delay="0"/>
                                  </p:stCondLst>
                                  <p:childTnLst>
                                    <p:cmd type="call" cmd="playFrom(0.0)">
                                      <p:cBhvr>
                                        <p:cTn id="12" dur="666" fill="hold"/>
                                        <p:tgtEl>
                                          <p:spTgt spid="21"/>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13" repeatCount="indefinite" fill="remove" display="0">
                  <p:stCondLst>
                    <p:cond delay="indefinite"/>
                  </p:stCondLst>
                </p:cTn>
                <p:tgtEl>
                  <p:spTgt spid="13"/>
                </p:tgtEl>
              </p:cMediaNode>
            </p:video>
            <p:video>
              <p:cMediaNode vol="80000">
                <p:cTn id="14" repeatCount="indefinite" fill="remove" display="0">
                  <p:stCondLst>
                    <p:cond delay="indefinite"/>
                  </p:stCondLst>
                </p:cTn>
                <p:tgtEl>
                  <p:spTgt spid="6"/>
                </p:tgtEl>
              </p:cMediaNode>
            </p:video>
            <p:video>
              <p:cMediaNode vol="80000">
                <p:cTn id="15" repeatCount="indefinite" fill="remove" display="0">
                  <p:stCondLst>
                    <p:cond delay="indefinite"/>
                  </p:stCondLst>
                </p:cTn>
                <p:tgtEl>
                  <p:spTgt spid="8"/>
                </p:tgtEl>
              </p:cMediaNode>
            </p:video>
            <p:video>
              <p:cMediaNode vol="80000">
                <p:cTn id="16" repeatCount="indefinite" fill="remove" display="0">
                  <p:stCondLst>
                    <p:cond delay="indefinite"/>
                  </p:stCondLst>
                </p:cTn>
                <p:tgtEl>
                  <p:spTgt spid="21"/>
                </p:tgtEl>
              </p:cMediaNode>
            </p:video>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EE41828-540D-7D14-80CC-0A8B68D8619C}"/>
              </a:ext>
            </a:extLst>
          </p:cNvPr>
          <p:cNvSpPr txBox="1">
            <a:spLocks/>
          </p:cNvSpPr>
          <p:nvPr/>
        </p:nvSpPr>
        <p:spPr>
          <a:xfrm>
            <a:off x="-1352551" y="-389467"/>
            <a:ext cx="7886700" cy="994172"/>
          </a:xfrm>
          <a:prstGeom prst="rect">
            <a:avLst/>
          </a:prstGeom>
        </p:spPr>
        <p:txBody>
          <a:bodyPr vert="horz" lIns="91440" tIns="45720" rIns="91440" bIns="45720" rtlCol="0" anchor="b">
            <a:normAutofit/>
          </a:bodyPr>
          <a:lstStyle>
            <a:lvl1pPr algn="ctr" defTabSz="685800" rtl="0" eaLnBrk="1" latinLnBrk="0" hangingPunct="1">
              <a:lnSpc>
                <a:spcPct val="90000"/>
              </a:lnSpc>
              <a:spcBef>
                <a:spcPct val="0"/>
              </a:spcBef>
              <a:buNone/>
              <a:defRPr sz="4500" kern="1200">
                <a:solidFill>
                  <a:schemeClr val="tx1"/>
                </a:solidFill>
                <a:latin typeface="+mj-lt"/>
                <a:ea typeface="+mj-ea"/>
                <a:cs typeface="+mj-cs"/>
              </a:defRPr>
            </a:lvl1pPr>
          </a:lstStyle>
          <a:p>
            <a:r>
              <a:rPr lang="en-US" sz="3200" dirty="0">
                <a:solidFill>
                  <a:srgbClr val="FFFF00"/>
                </a:solidFill>
                <a:highlight>
                  <a:srgbClr val="000000"/>
                </a:highlight>
                <a:latin typeface="Calibri" panose="020F0502020204030204" pitchFamily="34" charset="0"/>
                <a:cs typeface="Calibri" panose="020F0502020204030204" pitchFamily="34" charset="0"/>
              </a:rPr>
              <a:t>Experimental implementation</a:t>
            </a:r>
            <a:endParaRPr lang="en-CL" sz="3200" dirty="0">
              <a:solidFill>
                <a:srgbClr val="FFFF00"/>
              </a:solidFill>
              <a:highlight>
                <a:srgbClr val="000000"/>
              </a:highlight>
              <a:latin typeface="Calibri" panose="020F0502020204030204" pitchFamily="34" charset="0"/>
              <a:cs typeface="Calibri" panose="020F0502020204030204" pitchFamily="34" charset="0"/>
            </a:endParaRPr>
          </a:p>
        </p:txBody>
      </p:sp>
      <p:sp>
        <p:nvSpPr>
          <p:cNvPr id="5" name="Content Placeholder 2">
            <a:extLst>
              <a:ext uri="{FF2B5EF4-FFF2-40B4-BE49-F238E27FC236}">
                <a16:creationId xmlns:a16="http://schemas.microsoft.com/office/drawing/2014/main" id="{337170A6-4BD5-D039-15A5-9C5027CE1D94}"/>
              </a:ext>
            </a:extLst>
          </p:cNvPr>
          <p:cNvSpPr txBox="1">
            <a:spLocks/>
          </p:cNvSpPr>
          <p:nvPr/>
        </p:nvSpPr>
        <p:spPr>
          <a:xfrm>
            <a:off x="6234260" y="1638757"/>
            <a:ext cx="2909740" cy="2211385"/>
          </a:xfrm>
          <a:prstGeom prst="rect">
            <a:avLst/>
          </a:prstGeom>
        </p:spPr>
        <p:txBody>
          <a:bodyPr vert="horz" lIns="91440" tIns="45720" rIns="91440" bIns="45720" rtlCol="0">
            <a:normAutofit lnSpcReduction="10000"/>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marL="285750" indent="-285750" algn="l">
              <a:buFont typeface="Arial" panose="020B0604020202020204" pitchFamily="34" charset="0"/>
              <a:buChar char="•"/>
            </a:pPr>
            <a:r>
              <a:rPr lang="en-US" dirty="0">
                <a:solidFill>
                  <a:srgbClr val="00B050"/>
                </a:solidFill>
                <a:highlight>
                  <a:srgbClr val="000000"/>
                </a:highlight>
              </a:rPr>
              <a:t>Architecture: </a:t>
            </a:r>
            <a:r>
              <a:rPr lang="en-US" dirty="0">
                <a:solidFill>
                  <a:schemeClr val="bg1"/>
                </a:solidFill>
                <a:highlight>
                  <a:srgbClr val="000000"/>
                </a:highlight>
              </a:rPr>
              <a:t>compressed optical-streaking ultra-high-speed photography</a:t>
            </a:r>
          </a:p>
          <a:p>
            <a:pPr marL="285750" indent="-285750" algn="l">
              <a:buFont typeface="Arial" panose="020B0604020202020204" pitchFamily="34" charset="0"/>
              <a:buChar char="•"/>
            </a:pPr>
            <a:r>
              <a:rPr lang="en-US" dirty="0">
                <a:solidFill>
                  <a:srgbClr val="00B050"/>
                </a:solidFill>
                <a:highlight>
                  <a:srgbClr val="000000"/>
                </a:highlight>
              </a:rPr>
              <a:t>Encoding: </a:t>
            </a:r>
            <a:r>
              <a:rPr lang="en-US" dirty="0">
                <a:solidFill>
                  <a:schemeClr val="bg1"/>
                </a:solidFill>
                <a:highlight>
                  <a:srgbClr val="000000"/>
                </a:highlight>
              </a:rPr>
              <a:t>single binary mask</a:t>
            </a:r>
          </a:p>
          <a:p>
            <a:pPr marL="285750" indent="-285750" algn="l">
              <a:buFont typeface="Arial" panose="020B0604020202020204" pitchFamily="34" charset="0"/>
              <a:buChar char="•"/>
            </a:pPr>
            <a:r>
              <a:rPr lang="en-US" dirty="0">
                <a:solidFill>
                  <a:srgbClr val="00B050"/>
                </a:solidFill>
                <a:highlight>
                  <a:srgbClr val="000000"/>
                </a:highlight>
              </a:rPr>
              <a:t>Shearing operator: </a:t>
            </a:r>
            <a:r>
              <a:rPr lang="en-US" dirty="0">
                <a:solidFill>
                  <a:schemeClr val="bg1"/>
                </a:solidFill>
                <a:highlight>
                  <a:srgbClr val="000000"/>
                </a:highlight>
              </a:rPr>
              <a:t>Galvanometer</a:t>
            </a:r>
          </a:p>
          <a:p>
            <a:pPr marL="285750" indent="-285750" algn="l">
              <a:buFont typeface="Arial" panose="020B0604020202020204" pitchFamily="34" charset="0"/>
              <a:buChar char="•"/>
            </a:pPr>
            <a:endParaRPr lang="en-CL" dirty="0">
              <a:solidFill>
                <a:schemeClr val="bg1"/>
              </a:solidFill>
              <a:highlight>
                <a:srgbClr val="000000"/>
              </a:highlight>
            </a:endParaRPr>
          </a:p>
        </p:txBody>
      </p:sp>
      <p:sp>
        <p:nvSpPr>
          <p:cNvPr id="9" name="TextBox 8">
            <a:extLst>
              <a:ext uri="{FF2B5EF4-FFF2-40B4-BE49-F238E27FC236}">
                <a16:creationId xmlns:a16="http://schemas.microsoft.com/office/drawing/2014/main" id="{F17EE180-BEC4-9D36-BCBB-603997B91A6C}"/>
              </a:ext>
            </a:extLst>
          </p:cNvPr>
          <p:cNvSpPr txBox="1"/>
          <p:nvPr/>
        </p:nvSpPr>
        <p:spPr>
          <a:xfrm>
            <a:off x="132806" y="2667000"/>
            <a:ext cx="340158" cy="253916"/>
          </a:xfrm>
          <a:prstGeom prst="rect">
            <a:avLst/>
          </a:prstGeom>
          <a:noFill/>
        </p:spPr>
        <p:txBody>
          <a:bodyPr wrap="none" rtlCol="0">
            <a:spAutoFit/>
          </a:bodyPr>
          <a:lstStyle/>
          <a:p>
            <a:r>
              <a:rPr lang="en-CL" sz="1050" dirty="0"/>
              <a:t>(b)</a:t>
            </a:r>
          </a:p>
        </p:txBody>
      </p:sp>
      <p:pic>
        <p:nvPicPr>
          <p:cNvPr id="10" name="Picture 9">
            <a:extLst>
              <a:ext uri="{FF2B5EF4-FFF2-40B4-BE49-F238E27FC236}">
                <a16:creationId xmlns:a16="http://schemas.microsoft.com/office/drawing/2014/main" id="{00199B97-41E6-02F3-2027-7513EE0165C1}"/>
              </a:ext>
            </a:extLst>
          </p:cNvPr>
          <p:cNvPicPr>
            <a:picLocks noChangeAspect="1"/>
          </p:cNvPicPr>
          <p:nvPr/>
        </p:nvPicPr>
        <p:blipFill>
          <a:blip r:embed="rId2"/>
          <a:stretch>
            <a:fillRect/>
          </a:stretch>
        </p:blipFill>
        <p:spPr>
          <a:xfrm>
            <a:off x="63230" y="1078523"/>
            <a:ext cx="6133858" cy="3591116"/>
          </a:xfrm>
          <a:prstGeom prst="rect">
            <a:avLst/>
          </a:prstGeom>
        </p:spPr>
      </p:pic>
    </p:spTree>
    <p:extLst>
      <p:ext uri="{BB962C8B-B14F-4D97-AF65-F5344CB8AC3E}">
        <p14:creationId xmlns:p14="http://schemas.microsoft.com/office/powerpoint/2010/main" val="313716190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EE41828-540D-7D14-80CC-0A8B68D8619C}"/>
              </a:ext>
            </a:extLst>
          </p:cNvPr>
          <p:cNvSpPr txBox="1">
            <a:spLocks/>
          </p:cNvSpPr>
          <p:nvPr/>
        </p:nvSpPr>
        <p:spPr>
          <a:xfrm>
            <a:off x="0" y="-361533"/>
            <a:ext cx="7886700" cy="994172"/>
          </a:xfrm>
          <a:prstGeom prst="rect">
            <a:avLst/>
          </a:prstGeom>
        </p:spPr>
        <p:txBody>
          <a:bodyPr vert="horz" lIns="91440" tIns="45720" rIns="91440" bIns="45720" rtlCol="0" anchor="b">
            <a:normAutofit/>
          </a:bodyPr>
          <a:lstStyle>
            <a:lvl1pPr algn="ctr" defTabSz="685800" rtl="0" eaLnBrk="1" latinLnBrk="0" hangingPunct="1">
              <a:lnSpc>
                <a:spcPct val="90000"/>
              </a:lnSpc>
              <a:spcBef>
                <a:spcPct val="0"/>
              </a:spcBef>
              <a:buNone/>
              <a:defRPr sz="4500" kern="1200">
                <a:solidFill>
                  <a:schemeClr val="tx1"/>
                </a:solidFill>
                <a:latin typeface="+mj-lt"/>
                <a:ea typeface="+mj-ea"/>
                <a:cs typeface="+mj-cs"/>
              </a:defRPr>
            </a:lvl1pPr>
          </a:lstStyle>
          <a:p>
            <a:pPr algn="l"/>
            <a:r>
              <a:rPr lang="en-CL" sz="3200" dirty="0">
                <a:solidFill>
                  <a:srgbClr val="FFFF00"/>
                </a:solidFill>
                <a:highlight>
                  <a:srgbClr val="000000"/>
                </a:highlight>
                <a:latin typeface="Calibri" panose="020F0502020204030204" pitchFamily="34" charset="0"/>
                <a:cs typeface="Calibri" panose="020F0502020204030204" pitchFamily="34" charset="0"/>
              </a:rPr>
              <a:t>Real-data: Interpolation</a:t>
            </a:r>
          </a:p>
        </p:txBody>
      </p:sp>
      <p:sp>
        <p:nvSpPr>
          <p:cNvPr id="3" name="CuadroTexto 21">
            <a:extLst>
              <a:ext uri="{FF2B5EF4-FFF2-40B4-BE49-F238E27FC236}">
                <a16:creationId xmlns:a16="http://schemas.microsoft.com/office/drawing/2014/main" id="{618BD212-8B41-1B1A-FBE8-B8AE0784A34F}"/>
              </a:ext>
            </a:extLst>
          </p:cNvPr>
          <p:cNvSpPr txBox="1"/>
          <p:nvPr/>
        </p:nvSpPr>
        <p:spPr>
          <a:xfrm rot="16200000">
            <a:off x="490791" y="2424987"/>
            <a:ext cx="1311128" cy="369332"/>
          </a:xfrm>
          <a:prstGeom prst="rect">
            <a:avLst/>
          </a:prstGeom>
          <a:noFill/>
        </p:spPr>
        <p:txBody>
          <a:bodyPr wrap="none" rtlCol="0">
            <a:spAutoFit/>
          </a:bodyPr>
          <a:lstStyle/>
          <a:p>
            <a:r>
              <a:rPr lang="es-US" dirty="0"/>
              <a:t> </a:t>
            </a:r>
            <a:r>
              <a:rPr lang="es-US" dirty="0">
                <a:solidFill>
                  <a:schemeClr val="bg1"/>
                </a:solidFill>
              </a:rPr>
              <a:t>31 frames  </a:t>
            </a:r>
            <a:endParaRPr lang="en-US" dirty="0">
              <a:solidFill>
                <a:schemeClr val="bg1"/>
              </a:solidFill>
            </a:endParaRPr>
          </a:p>
        </p:txBody>
      </p:sp>
      <p:pic>
        <p:nvPicPr>
          <p:cNvPr id="5" name="Ray">
            <a:hlinkClick r:id="" action="ppaction://media"/>
            <a:extLst>
              <a:ext uri="{FF2B5EF4-FFF2-40B4-BE49-F238E27FC236}">
                <a16:creationId xmlns:a16="http://schemas.microsoft.com/office/drawing/2014/main" id="{C096E72D-0AB6-7A79-B9B4-ACBCDC14D638}"/>
              </a:ext>
            </a:extLst>
          </p:cNvPr>
          <p:cNvPicPr>
            <a:picLocks noChangeAspect="1"/>
          </p:cNvPicPr>
          <p:nvPr>
            <a:videoFile r:link="rId2"/>
            <p:extLst>
              <p:ext uri="{DAA4B4D4-6D71-4841-9C94-3DE7FCFB9230}">
                <p14:media xmlns:p14="http://schemas.microsoft.com/office/powerpoint/2010/main" r:embed="rId1"/>
              </p:ext>
            </p:extLst>
          </p:nvPr>
        </p:nvPicPr>
        <p:blipFill rotWithShape="1">
          <a:blip r:embed="rId6"/>
          <a:srcRect l="10484" t="3865" r="10506" b="10570"/>
          <a:stretch/>
        </p:blipFill>
        <p:spPr>
          <a:xfrm>
            <a:off x="3164380" y="1191421"/>
            <a:ext cx="1583267" cy="3029142"/>
          </a:xfrm>
          <a:prstGeom prst="rect">
            <a:avLst/>
          </a:prstGeom>
        </p:spPr>
      </p:pic>
      <p:pic>
        <p:nvPicPr>
          <p:cNvPr id="9" name="Ray">
            <a:hlinkClick r:id="" action="ppaction://media"/>
            <a:extLst>
              <a:ext uri="{FF2B5EF4-FFF2-40B4-BE49-F238E27FC236}">
                <a16:creationId xmlns:a16="http://schemas.microsoft.com/office/drawing/2014/main" id="{EE20C7E0-73FF-A6C9-64EC-A7B024FD942D}"/>
              </a:ext>
            </a:extLst>
          </p:cNvPr>
          <p:cNvPicPr>
            <a:picLocks noChangeAspect="1"/>
          </p:cNvPicPr>
          <p:nvPr>
            <a:videoFile r:link="rId4"/>
            <p:extLst>
              <p:ext uri="{DAA4B4D4-6D71-4841-9C94-3DE7FCFB9230}">
                <p14:media xmlns:p14="http://schemas.microsoft.com/office/powerpoint/2010/main" r:embed="rId3"/>
              </p:ext>
            </p:extLst>
          </p:nvPr>
        </p:nvPicPr>
        <p:blipFill rotWithShape="1">
          <a:blip r:embed="rId7"/>
          <a:srcRect l="9197" t="4012" r="9004" b="10598"/>
          <a:stretch/>
        </p:blipFill>
        <p:spPr>
          <a:xfrm>
            <a:off x="6710824" y="1191420"/>
            <a:ext cx="1696894" cy="3079929"/>
          </a:xfrm>
          <a:prstGeom prst="rect">
            <a:avLst/>
          </a:prstGeom>
        </p:spPr>
      </p:pic>
      <p:pic>
        <p:nvPicPr>
          <p:cNvPr id="10" name="Imagen 22">
            <a:extLst>
              <a:ext uri="{FF2B5EF4-FFF2-40B4-BE49-F238E27FC236}">
                <a16:creationId xmlns:a16="http://schemas.microsoft.com/office/drawing/2014/main" id="{1851D462-FEA3-71B3-7CD9-ADF947D804A7}"/>
              </a:ext>
            </a:extLst>
          </p:cNvPr>
          <p:cNvPicPr>
            <a:picLocks noChangeAspect="1"/>
          </p:cNvPicPr>
          <p:nvPr/>
        </p:nvPicPr>
        <p:blipFill rotWithShape="1">
          <a:blip r:embed="rId8"/>
          <a:srcRect t="1118" b="1807"/>
          <a:stretch/>
        </p:blipFill>
        <p:spPr>
          <a:xfrm>
            <a:off x="4875658" y="1216617"/>
            <a:ext cx="1685808" cy="2998922"/>
          </a:xfrm>
          <a:prstGeom prst="rect">
            <a:avLst/>
          </a:prstGeom>
        </p:spPr>
      </p:pic>
      <p:pic>
        <p:nvPicPr>
          <p:cNvPr id="11" name="Imagen 26">
            <a:extLst>
              <a:ext uri="{FF2B5EF4-FFF2-40B4-BE49-F238E27FC236}">
                <a16:creationId xmlns:a16="http://schemas.microsoft.com/office/drawing/2014/main" id="{994FDCD9-1FE8-3D0E-0E84-991AD55C3C85}"/>
              </a:ext>
            </a:extLst>
          </p:cNvPr>
          <p:cNvPicPr>
            <a:picLocks noChangeAspect="1"/>
          </p:cNvPicPr>
          <p:nvPr/>
        </p:nvPicPr>
        <p:blipFill>
          <a:blip r:embed="rId9"/>
          <a:stretch>
            <a:fillRect/>
          </a:stretch>
        </p:blipFill>
        <p:spPr>
          <a:xfrm>
            <a:off x="1342561" y="1182089"/>
            <a:ext cx="1694691" cy="3067851"/>
          </a:xfrm>
          <a:prstGeom prst="rect">
            <a:avLst/>
          </a:prstGeom>
        </p:spPr>
      </p:pic>
      <p:sp>
        <p:nvSpPr>
          <p:cNvPr id="12" name="CuadroTexto 21">
            <a:extLst>
              <a:ext uri="{FF2B5EF4-FFF2-40B4-BE49-F238E27FC236}">
                <a16:creationId xmlns:a16="http://schemas.microsoft.com/office/drawing/2014/main" id="{0D3BA4DC-720A-E0B9-736E-4A2AF8B9EF1A}"/>
              </a:ext>
            </a:extLst>
          </p:cNvPr>
          <p:cNvSpPr txBox="1"/>
          <p:nvPr/>
        </p:nvSpPr>
        <p:spPr>
          <a:xfrm>
            <a:off x="1354391" y="773986"/>
            <a:ext cx="1723613" cy="369332"/>
          </a:xfrm>
          <a:prstGeom prst="rect">
            <a:avLst/>
          </a:prstGeom>
          <a:noFill/>
        </p:spPr>
        <p:txBody>
          <a:bodyPr wrap="none" rtlCol="0">
            <a:spAutoFit/>
          </a:bodyPr>
          <a:lstStyle/>
          <a:p>
            <a:r>
              <a:rPr lang="es-US" dirty="0"/>
              <a:t> </a:t>
            </a:r>
            <a:r>
              <a:rPr lang="es-US" dirty="0">
                <a:solidFill>
                  <a:schemeClr val="bg1"/>
                </a:solidFill>
              </a:rPr>
              <a:t>measurement  </a:t>
            </a:r>
            <a:endParaRPr lang="en-US" dirty="0">
              <a:solidFill>
                <a:schemeClr val="bg1"/>
              </a:solidFill>
            </a:endParaRPr>
          </a:p>
        </p:txBody>
      </p:sp>
      <p:sp>
        <p:nvSpPr>
          <p:cNvPr id="14" name="CuadroTexto 21">
            <a:extLst>
              <a:ext uri="{FF2B5EF4-FFF2-40B4-BE49-F238E27FC236}">
                <a16:creationId xmlns:a16="http://schemas.microsoft.com/office/drawing/2014/main" id="{F39739F5-7F88-8860-43F1-B90C562A11E6}"/>
              </a:ext>
            </a:extLst>
          </p:cNvPr>
          <p:cNvSpPr txBox="1"/>
          <p:nvPr/>
        </p:nvSpPr>
        <p:spPr>
          <a:xfrm>
            <a:off x="4859591" y="790919"/>
            <a:ext cx="1723613" cy="369332"/>
          </a:xfrm>
          <a:prstGeom prst="rect">
            <a:avLst/>
          </a:prstGeom>
          <a:noFill/>
        </p:spPr>
        <p:txBody>
          <a:bodyPr wrap="none" rtlCol="0">
            <a:spAutoFit/>
          </a:bodyPr>
          <a:lstStyle/>
          <a:p>
            <a:r>
              <a:rPr lang="es-US" dirty="0"/>
              <a:t> </a:t>
            </a:r>
            <a:r>
              <a:rPr lang="es-US" dirty="0">
                <a:solidFill>
                  <a:schemeClr val="bg1"/>
                </a:solidFill>
              </a:rPr>
              <a:t>measurement  </a:t>
            </a:r>
            <a:endParaRPr lang="en-US" dirty="0">
              <a:solidFill>
                <a:schemeClr val="bg1"/>
              </a:solidFill>
            </a:endParaRPr>
          </a:p>
        </p:txBody>
      </p:sp>
      <p:sp>
        <p:nvSpPr>
          <p:cNvPr id="16" name="CuadroTexto 21">
            <a:extLst>
              <a:ext uri="{FF2B5EF4-FFF2-40B4-BE49-F238E27FC236}">
                <a16:creationId xmlns:a16="http://schemas.microsoft.com/office/drawing/2014/main" id="{7BB68A57-6C7D-060B-E791-59CAB58E5B39}"/>
              </a:ext>
            </a:extLst>
          </p:cNvPr>
          <p:cNvSpPr txBox="1"/>
          <p:nvPr/>
        </p:nvSpPr>
        <p:spPr>
          <a:xfrm>
            <a:off x="3056191" y="824786"/>
            <a:ext cx="1791196" cy="369332"/>
          </a:xfrm>
          <a:prstGeom prst="rect">
            <a:avLst/>
          </a:prstGeom>
          <a:noFill/>
        </p:spPr>
        <p:txBody>
          <a:bodyPr wrap="none" rtlCol="0">
            <a:spAutoFit/>
          </a:bodyPr>
          <a:lstStyle/>
          <a:p>
            <a:r>
              <a:rPr lang="es-US" dirty="0"/>
              <a:t> </a:t>
            </a:r>
            <a:r>
              <a:rPr lang="es-US" dirty="0">
                <a:solidFill>
                  <a:schemeClr val="bg1"/>
                </a:solidFill>
              </a:rPr>
              <a:t>reconstruction  </a:t>
            </a:r>
            <a:endParaRPr lang="en-US" dirty="0">
              <a:solidFill>
                <a:schemeClr val="bg1"/>
              </a:solidFill>
            </a:endParaRPr>
          </a:p>
        </p:txBody>
      </p:sp>
      <p:sp>
        <p:nvSpPr>
          <p:cNvPr id="17" name="CuadroTexto 21">
            <a:extLst>
              <a:ext uri="{FF2B5EF4-FFF2-40B4-BE49-F238E27FC236}">
                <a16:creationId xmlns:a16="http://schemas.microsoft.com/office/drawing/2014/main" id="{6306031E-10E0-B1B5-7052-547EAD009E3E}"/>
              </a:ext>
            </a:extLst>
          </p:cNvPr>
          <p:cNvSpPr txBox="1"/>
          <p:nvPr/>
        </p:nvSpPr>
        <p:spPr>
          <a:xfrm>
            <a:off x="6688391" y="841719"/>
            <a:ext cx="1791196" cy="369332"/>
          </a:xfrm>
          <a:prstGeom prst="rect">
            <a:avLst/>
          </a:prstGeom>
          <a:noFill/>
        </p:spPr>
        <p:txBody>
          <a:bodyPr wrap="none" rtlCol="0">
            <a:spAutoFit/>
          </a:bodyPr>
          <a:lstStyle/>
          <a:p>
            <a:r>
              <a:rPr lang="es-US" dirty="0"/>
              <a:t> </a:t>
            </a:r>
            <a:r>
              <a:rPr lang="es-US" dirty="0">
                <a:solidFill>
                  <a:schemeClr val="bg1"/>
                </a:solidFill>
              </a:rPr>
              <a:t>reconstruction  </a:t>
            </a:r>
            <a:endParaRPr lang="en-US" dirty="0">
              <a:solidFill>
                <a:schemeClr val="bg1"/>
              </a:solidFill>
            </a:endParaRPr>
          </a:p>
        </p:txBody>
      </p:sp>
      <p:sp>
        <p:nvSpPr>
          <p:cNvPr id="18" name="TextBox 17">
            <a:extLst>
              <a:ext uri="{FF2B5EF4-FFF2-40B4-BE49-F238E27FC236}">
                <a16:creationId xmlns:a16="http://schemas.microsoft.com/office/drawing/2014/main" id="{9D43D22C-1017-67BD-A17A-C5A3D95F0AC1}"/>
              </a:ext>
            </a:extLst>
          </p:cNvPr>
          <p:cNvSpPr txBox="1"/>
          <p:nvPr/>
        </p:nvSpPr>
        <p:spPr>
          <a:xfrm>
            <a:off x="0" y="4760677"/>
            <a:ext cx="9144000" cy="276999"/>
          </a:xfrm>
          <a:prstGeom prst="rect">
            <a:avLst/>
          </a:prstGeom>
          <a:noFill/>
        </p:spPr>
        <p:txBody>
          <a:bodyPr wrap="square">
            <a:spAutoFit/>
          </a:bodyPr>
          <a:lstStyle/>
          <a:p>
            <a:r>
              <a:rPr lang="en-US" sz="1200" dirty="0">
                <a:solidFill>
                  <a:schemeClr val="bg1"/>
                </a:solidFill>
              </a:rPr>
              <a:t>I. Amidror, “Scattered data interpolation methods for electronic imaging systems: a survey,” J. Electron. Imaging 11,157–176 (2002).</a:t>
            </a:r>
            <a:endParaRPr lang="en-CL" sz="900" dirty="0">
              <a:solidFill>
                <a:schemeClr val="bg1"/>
              </a:solidFill>
            </a:endParaRPr>
          </a:p>
        </p:txBody>
      </p:sp>
    </p:spTree>
    <p:extLst>
      <p:ext uri="{BB962C8B-B14F-4D97-AF65-F5344CB8AC3E}">
        <p14:creationId xmlns:p14="http://schemas.microsoft.com/office/powerpoint/2010/main" val="14503074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5500" fill="hold"/>
                                        <p:tgtEl>
                                          <p:spTgt spid="5"/>
                                        </p:tgtEl>
                                      </p:cBhvr>
                                    </p:cmd>
                                  </p:childTnLst>
                                </p:cTn>
                              </p:par>
                              <p:par>
                                <p:cTn id="7" presetID="1" presetClass="mediacall" presetSubtype="0" fill="hold" nodeType="withEffect">
                                  <p:stCondLst>
                                    <p:cond delay="0"/>
                                  </p:stCondLst>
                                  <p:childTnLst>
                                    <p:cmd type="call" cmd="playFrom(0.0)">
                                      <p:cBhvr>
                                        <p:cTn id="8" dur="15500"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9" repeatCount="indefinite" display="0">
                  <p:stCondLst>
                    <p:cond delay="indefinite"/>
                  </p:stCondLst>
                </p:cTn>
                <p:tgtEl>
                  <p:spTgt spid="5"/>
                </p:tgtEl>
              </p:cMediaNode>
            </p:video>
            <p:video>
              <p:cMediaNode vol="80000">
                <p:cTn id="10" repeatCount="indefinite" display="0">
                  <p:stCondLst>
                    <p:cond delay="indefinite"/>
                  </p:stCondLst>
                </p:cTn>
                <p:tgtEl>
                  <p:spTgt spid="9"/>
                </p:tgtEl>
              </p:cMediaNode>
            </p:video>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EE41828-540D-7D14-80CC-0A8B68D8619C}"/>
              </a:ext>
            </a:extLst>
          </p:cNvPr>
          <p:cNvSpPr txBox="1">
            <a:spLocks/>
          </p:cNvSpPr>
          <p:nvPr/>
        </p:nvSpPr>
        <p:spPr>
          <a:xfrm>
            <a:off x="0" y="-361533"/>
            <a:ext cx="7886700" cy="994172"/>
          </a:xfrm>
          <a:prstGeom prst="rect">
            <a:avLst/>
          </a:prstGeom>
        </p:spPr>
        <p:txBody>
          <a:bodyPr vert="horz" lIns="91440" tIns="45720" rIns="91440" bIns="45720" rtlCol="0" anchor="b">
            <a:normAutofit/>
          </a:bodyPr>
          <a:lstStyle>
            <a:lvl1pPr algn="ctr" defTabSz="685800" rtl="0" eaLnBrk="1" latinLnBrk="0" hangingPunct="1">
              <a:lnSpc>
                <a:spcPct val="90000"/>
              </a:lnSpc>
              <a:spcBef>
                <a:spcPct val="0"/>
              </a:spcBef>
              <a:buNone/>
              <a:defRPr sz="4500" kern="1200">
                <a:solidFill>
                  <a:schemeClr val="tx1"/>
                </a:solidFill>
                <a:latin typeface="+mj-lt"/>
                <a:ea typeface="+mj-ea"/>
                <a:cs typeface="+mj-cs"/>
              </a:defRPr>
            </a:lvl1pPr>
          </a:lstStyle>
          <a:p>
            <a:pPr algn="l"/>
            <a:r>
              <a:rPr lang="en-US" sz="3200" dirty="0">
                <a:solidFill>
                  <a:srgbClr val="FFFF00"/>
                </a:solidFill>
                <a:highlight>
                  <a:srgbClr val="000000"/>
                </a:highlight>
                <a:latin typeface="Calibri" panose="020F0502020204030204" pitchFamily="34" charset="0"/>
                <a:cs typeface="Calibri" panose="020F0502020204030204" pitchFamily="34" charset="0"/>
              </a:rPr>
              <a:t>Real-data with Implicit Neural Representation</a:t>
            </a:r>
            <a:endParaRPr lang="en-CL" sz="3200" dirty="0">
              <a:solidFill>
                <a:srgbClr val="FFFF00"/>
              </a:solidFill>
              <a:highlight>
                <a:srgbClr val="000000"/>
              </a:highlight>
              <a:latin typeface="Calibri" panose="020F0502020204030204" pitchFamily="34" charset="0"/>
              <a:cs typeface="Calibri" panose="020F0502020204030204" pitchFamily="34" charset="0"/>
            </a:endParaRPr>
          </a:p>
        </p:txBody>
      </p:sp>
      <p:sp>
        <p:nvSpPr>
          <p:cNvPr id="16" name="CuadroTexto 21">
            <a:extLst>
              <a:ext uri="{FF2B5EF4-FFF2-40B4-BE49-F238E27FC236}">
                <a16:creationId xmlns:a16="http://schemas.microsoft.com/office/drawing/2014/main" id="{7BB68A57-6C7D-060B-E791-59CAB58E5B39}"/>
              </a:ext>
            </a:extLst>
          </p:cNvPr>
          <p:cNvSpPr txBox="1"/>
          <p:nvPr/>
        </p:nvSpPr>
        <p:spPr>
          <a:xfrm>
            <a:off x="3116499" y="991760"/>
            <a:ext cx="1791196" cy="369332"/>
          </a:xfrm>
          <a:prstGeom prst="rect">
            <a:avLst/>
          </a:prstGeom>
          <a:noFill/>
        </p:spPr>
        <p:txBody>
          <a:bodyPr wrap="none" rtlCol="0">
            <a:spAutoFit/>
          </a:bodyPr>
          <a:lstStyle/>
          <a:p>
            <a:r>
              <a:rPr lang="es-US" dirty="0"/>
              <a:t> </a:t>
            </a:r>
            <a:r>
              <a:rPr lang="es-US" dirty="0">
                <a:solidFill>
                  <a:schemeClr val="bg1"/>
                </a:solidFill>
              </a:rPr>
              <a:t>reconstruction  </a:t>
            </a:r>
            <a:endParaRPr lang="en-US" dirty="0">
              <a:solidFill>
                <a:schemeClr val="bg1"/>
              </a:solidFill>
            </a:endParaRPr>
          </a:p>
        </p:txBody>
      </p:sp>
      <p:sp>
        <p:nvSpPr>
          <p:cNvPr id="17" name="CuadroTexto 21">
            <a:extLst>
              <a:ext uri="{FF2B5EF4-FFF2-40B4-BE49-F238E27FC236}">
                <a16:creationId xmlns:a16="http://schemas.microsoft.com/office/drawing/2014/main" id="{6306031E-10E0-B1B5-7052-547EAD009E3E}"/>
              </a:ext>
            </a:extLst>
          </p:cNvPr>
          <p:cNvSpPr txBox="1"/>
          <p:nvPr/>
        </p:nvSpPr>
        <p:spPr>
          <a:xfrm>
            <a:off x="5225812" y="987180"/>
            <a:ext cx="1791196" cy="369332"/>
          </a:xfrm>
          <a:prstGeom prst="rect">
            <a:avLst/>
          </a:prstGeom>
          <a:noFill/>
        </p:spPr>
        <p:txBody>
          <a:bodyPr wrap="none" rtlCol="0">
            <a:spAutoFit/>
          </a:bodyPr>
          <a:lstStyle/>
          <a:p>
            <a:r>
              <a:rPr lang="es-US" dirty="0"/>
              <a:t> </a:t>
            </a:r>
            <a:r>
              <a:rPr lang="es-US" dirty="0">
                <a:solidFill>
                  <a:schemeClr val="bg1"/>
                </a:solidFill>
              </a:rPr>
              <a:t>reconstruction  </a:t>
            </a:r>
            <a:endParaRPr lang="en-US" dirty="0">
              <a:solidFill>
                <a:schemeClr val="bg1"/>
              </a:solidFill>
            </a:endParaRPr>
          </a:p>
        </p:txBody>
      </p:sp>
      <p:pic>
        <p:nvPicPr>
          <p:cNvPr id="7" name="Picture 6" descr="A close up of clouds&#10;&#10;Description automatically generated">
            <a:extLst>
              <a:ext uri="{FF2B5EF4-FFF2-40B4-BE49-F238E27FC236}">
                <a16:creationId xmlns:a16="http://schemas.microsoft.com/office/drawing/2014/main" id="{6E87BEE5-792C-F7C1-47C9-CC9AEBE36338}"/>
              </a:ext>
            </a:extLst>
          </p:cNvPr>
          <p:cNvPicPr>
            <a:picLocks noChangeAspect="1"/>
          </p:cNvPicPr>
          <p:nvPr/>
        </p:nvPicPr>
        <p:blipFill>
          <a:blip r:embed="rId2"/>
          <a:stretch>
            <a:fillRect/>
          </a:stretch>
        </p:blipFill>
        <p:spPr>
          <a:xfrm>
            <a:off x="2885001" y="1523169"/>
            <a:ext cx="1962511" cy="2802466"/>
          </a:xfrm>
          <a:prstGeom prst="rect">
            <a:avLst/>
          </a:prstGeom>
        </p:spPr>
      </p:pic>
      <p:pic>
        <p:nvPicPr>
          <p:cNvPr id="13" name="Picture 12" descr="A group of white and grey spots&#10;&#10;Description automatically generated">
            <a:extLst>
              <a:ext uri="{FF2B5EF4-FFF2-40B4-BE49-F238E27FC236}">
                <a16:creationId xmlns:a16="http://schemas.microsoft.com/office/drawing/2014/main" id="{351527D6-3869-EC13-BD47-9E53C781DC6F}"/>
              </a:ext>
            </a:extLst>
          </p:cNvPr>
          <p:cNvPicPr>
            <a:picLocks noChangeAspect="1"/>
          </p:cNvPicPr>
          <p:nvPr/>
        </p:nvPicPr>
        <p:blipFill>
          <a:blip r:embed="rId3"/>
          <a:stretch>
            <a:fillRect/>
          </a:stretch>
        </p:blipFill>
        <p:spPr>
          <a:xfrm>
            <a:off x="5045577" y="1416710"/>
            <a:ext cx="2072695" cy="2959810"/>
          </a:xfrm>
          <a:prstGeom prst="rect">
            <a:avLst/>
          </a:prstGeom>
        </p:spPr>
      </p:pic>
      <p:pic>
        <p:nvPicPr>
          <p:cNvPr id="18" name="Picture 17" descr="A black background with white spots&#10;&#10;Description automatically generated">
            <a:extLst>
              <a:ext uri="{FF2B5EF4-FFF2-40B4-BE49-F238E27FC236}">
                <a16:creationId xmlns:a16="http://schemas.microsoft.com/office/drawing/2014/main" id="{DF26255D-529A-085E-A967-7CE0B1D53099}"/>
              </a:ext>
            </a:extLst>
          </p:cNvPr>
          <p:cNvPicPr>
            <a:picLocks noChangeAspect="1"/>
          </p:cNvPicPr>
          <p:nvPr/>
        </p:nvPicPr>
        <p:blipFill>
          <a:blip r:embed="rId4"/>
          <a:stretch>
            <a:fillRect/>
          </a:stretch>
        </p:blipFill>
        <p:spPr>
          <a:xfrm>
            <a:off x="7196239" y="1458071"/>
            <a:ext cx="1879506" cy="2683934"/>
          </a:xfrm>
          <a:prstGeom prst="rect">
            <a:avLst/>
          </a:prstGeom>
        </p:spPr>
      </p:pic>
      <p:sp>
        <p:nvSpPr>
          <p:cNvPr id="19" name="CuadroTexto 21">
            <a:extLst>
              <a:ext uri="{FF2B5EF4-FFF2-40B4-BE49-F238E27FC236}">
                <a16:creationId xmlns:a16="http://schemas.microsoft.com/office/drawing/2014/main" id="{226913B3-503C-33FB-FC06-6DBF1B1FAFE1}"/>
              </a:ext>
            </a:extLst>
          </p:cNvPr>
          <p:cNvSpPr txBox="1"/>
          <p:nvPr/>
        </p:nvSpPr>
        <p:spPr>
          <a:xfrm>
            <a:off x="7280018" y="975105"/>
            <a:ext cx="1791196" cy="369332"/>
          </a:xfrm>
          <a:prstGeom prst="rect">
            <a:avLst/>
          </a:prstGeom>
          <a:noFill/>
        </p:spPr>
        <p:txBody>
          <a:bodyPr wrap="none" rtlCol="0">
            <a:spAutoFit/>
          </a:bodyPr>
          <a:lstStyle/>
          <a:p>
            <a:r>
              <a:rPr lang="es-US" dirty="0"/>
              <a:t> </a:t>
            </a:r>
            <a:r>
              <a:rPr lang="es-US" dirty="0">
                <a:solidFill>
                  <a:schemeClr val="bg1"/>
                </a:solidFill>
              </a:rPr>
              <a:t>reconstruction  </a:t>
            </a:r>
            <a:endParaRPr lang="en-US" dirty="0">
              <a:solidFill>
                <a:schemeClr val="bg1"/>
              </a:solidFill>
            </a:endParaRPr>
          </a:p>
        </p:txBody>
      </p:sp>
      <p:sp>
        <p:nvSpPr>
          <p:cNvPr id="22" name="TextBox 21">
            <a:extLst>
              <a:ext uri="{FF2B5EF4-FFF2-40B4-BE49-F238E27FC236}">
                <a16:creationId xmlns:a16="http://schemas.microsoft.com/office/drawing/2014/main" id="{93C96BDD-BDF7-C86B-5BEC-D576A4DC5481}"/>
              </a:ext>
            </a:extLst>
          </p:cNvPr>
          <p:cNvSpPr txBox="1"/>
          <p:nvPr/>
        </p:nvSpPr>
        <p:spPr>
          <a:xfrm>
            <a:off x="0" y="4509468"/>
            <a:ext cx="9144000" cy="600164"/>
          </a:xfrm>
          <a:prstGeom prst="rect">
            <a:avLst/>
          </a:prstGeom>
          <a:noFill/>
        </p:spPr>
        <p:txBody>
          <a:bodyPr wrap="square">
            <a:spAutoFit/>
          </a:bodyPr>
          <a:lstStyle/>
          <a:p>
            <a:r>
              <a:rPr lang="en-US" sz="1100" b="0" i="0" dirty="0">
                <a:solidFill>
                  <a:schemeClr val="bg1"/>
                </a:solidFill>
                <a:effectLst/>
                <a:highlight>
                  <a:srgbClr val="000000"/>
                </a:highlight>
                <a:latin typeface="Arial" panose="020B0604020202020204" pitchFamily="34" charset="0"/>
              </a:rPr>
              <a:t>V. </a:t>
            </a:r>
            <a:r>
              <a:rPr lang="en-US" sz="1100" b="0" i="0" dirty="0" err="1">
                <a:solidFill>
                  <a:schemeClr val="bg1"/>
                </a:solidFill>
                <a:effectLst/>
                <a:highlight>
                  <a:srgbClr val="000000"/>
                </a:highlight>
                <a:latin typeface="Arial" panose="020B0604020202020204" pitchFamily="34" charset="0"/>
              </a:rPr>
              <a:t>Sitzmann</a:t>
            </a:r>
            <a:r>
              <a:rPr lang="en-US" sz="1100" b="0" i="0" dirty="0">
                <a:solidFill>
                  <a:schemeClr val="bg1"/>
                </a:solidFill>
                <a:effectLst/>
                <a:highlight>
                  <a:srgbClr val="000000"/>
                </a:highlight>
                <a:latin typeface="Arial" panose="020B0604020202020204" pitchFamily="34" charset="0"/>
              </a:rPr>
              <a:t>, J. Martel, A. Bergman, D. Lindell, and G. </a:t>
            </a:r>
            <a:r>
              <a:rPr lang="en-US" sz="1100" b="0" i="0" dirty="0" err="1">
                <a:solidFill>
                  <a:schemeClr val="bg1"/>
                </a:solidFill>
                <a:effectLst/>
                <a:highlight>
                  <a:srgbClr val="000000"/>
                </a:highlight>
                <a:latin typeface="Arial" panose="020B0604020202020204" pitchFamily="34" charset="0"/>
              </a:rPr>
              <a:t>Wetzstein</a:t>
            </a:r>
            <a:r>
              <a:rPr lang="en-US" sz="1100" b="0" i="0" dirty="0">
                <a:solidFill>
                  <a:schemeClr val="bg1"/>
                </a:solidFill>
                <a:effectLst/>
                <a:highlight>
                  <a:srgbClr val="000000"/>
                </a:highlight>
                <a:latin typeface="Arial" panose="020B0604020202020204" pitchFamily="34" charset="0"/>
              </a:rPr>
              <a:t>, “Implicit neural representations with periodic activation functions,” in Advances in Neural Information Processing Systems, vol. 33 H. Larochelle, M. </a:t>
            </a:r>
            <a:r>
              <a:rPr lang="en-US" sz="1100" b="0" i="0" dirty="0" err="1">
                <a:solidFill>
                  <a:schemeClr val="bg1"/>
                </a:solidFill>
                <a:effectLst/>
                <a:highlight>
                  <a:srgbClr val="000000"/>
                </a:highlight>
                <a:latin typeface="Arial" panose="020B0604020202020204" pitchFamily="34" charset="0"/>
              </a:rPr>
              <a:t>Ranzato</a:t>
            </a:r>
            <a:r>
              <a:rPr lang="en-US" sz="1100" b="0" i="0" dirty="0">
                <a:solidFill>
                  <a:schemeClr val="bg1"/>
                </a:solidFill>
                <a:effectLst/>
                <a:highlight>
                  <a:srgbClr val="000000"/>
                </a:highlight>
                <a:latin typeface="Arial" panose="020B0604020202020204" pitchFamily="34" charset="0"/>
              </a:rPr>
              <a:t>, R. Hadsell, M. </a:t>
            </a:r>
            <a:r>
              <a:rPr lang="en-US" sz="1100" b="0" i="0" dirty="0" err="1">
                <a:solidFill>
                  <a:schemeClr val="bg1"/>
                </a:solidFill>
                <a:effectLst/>
                <a:highlight>
                  <a:srgbClr val="000000"/>
                </a:highlight>
                <a:latin typeface="Arial" panose="020B0604020202020204" pitchFamily="34" charset="0"/>
              </a:rPr>
              <a:t>Balcan</a:t>
            </a:r>
            <a:r>
              <a:rPr lang="en-US" sz="1100" b="0" i="0" dirty="0">
                <a:solidFill>
                  <a:schemeClr val="bg1"/>
                </a:solidFill>
                <a:effectLst/>
                <a:highlight>
                  <a:srgbClr val="000000"/>
                </a:highlight>
                <a:latin typeface="Arial" panose="020B0604020202020204" pitchFamily="34" charset="0"/>
              </a:rPr>
              <a:t>, and H. Lin, eds. (Curran Associates, Inc., 2020), pp. 7462–7473</a:t>
            </a:r>
            <a:endParaRPr lang="en-CL" sz="1100" dirty="0">
              <a:solidFill>
                <a:schemeClr val="bg1"/>
              </a:solidFill>
              <a:highlight>
                <a:srgbClr val="000000"/>
              </a:highlight>
            </a:endParaRPr>
          </a:p>
        </p:txBody>
      </p:sp>
      <p:sp>
        <p:nvSpPr>
          <p:cNvPr id="23" name="CuadroTexto 21">
            <a:extLst>
              <a:ext uri="{FF2B5EF4-FFF2-40B4-BE49-F238E27FC236}">
                <a16:creationId xmlns:a16="http://schemas.microsoft.com/office/drawing/2014/main" id="{F60267EF-EBD2-0197-7DFA-C4CD0CA88594}"/>
              </a:ext>
            </a:extLst>
          </p:cNvPr>
          <p:cNvSpPr txBox="1"/>
          <p:nvPr/>
        </p:nvSpPr>
        <p:spPr>
          <a:xfrm>
            <a:off x="98008" y="1575662"/>
            <a:ext cx="2877904" cy="2308324"/>
          </a:xfrm>
          <a:prstGeom prst="rect">
            <a:avLst/>
          </a:prstGeom>
          <a:noFill/>
        </p:spPr>
        <p:txBody>
          <a:bodyPr wrap="none" rtlCol="0">
            <a:spAutoFit/>
          </a:bodyPr>
          <a:lstStyle/>
          <a:p>
            <a:r>
              <a:rPr lang="es-US" dirty="0"/>
              <a:t> </a:t>
            </a:r>
            <a:r>
              <a:rPr lang="es-US" sz="1400" dirty="0">
                <a:solidFill>
                  <a:srgbClr val="00B050"/>
                </a:solidFill>
              </a:rPr>
              <a:t>Parameters</a:t>
            </a:r>
          </a:p>
          <a:p>
            <a:endParaRPr lang="es-US" sz="1400" dirty="0">
              <a:solidFill>
                <a:srgbClr val="00B050"/>
              </a:solidFill>
            </a:endParaRPr>
          </a:p>
          <a:p>
            <a:pPr marL="285750" indent="-285750">
              <a:buFont typeface="Arial" panose="020B0604020202020204" pitchFamily="34" charset="0"/>
              <a:buChar char="•"/>
            </a:pPr>
            <a:r>
              <a:rPr lang="es-US" sz="1400" dirty="0">
                <a:solidFill>
                  <a:schemeClr val="bg1"/>
                </a:solidFill>
              </a:rPr>
              <a:t>Initial learning rate: 0.0005</a:t>
            </a:r>
          </a:p>
          <a:p>
            <a:pPr marL="285750" indent="-285750">
              <a:buFont typeface="Arial" panose="020B0604020202020204" pitchFamily="34" charset="0"/>
              <a:buChar char="•"/>
            </a:pPr>
            <a:r>
              <a:rPr lang="es-US" sz="1400" dirty="0">
                <a:solidFill>
                  <a:schemeClr val="bg1"/>
                </a:solidFill>
              </a:rPr>
              <a:t>Iteration: 1500 </a:t>
            </a:r>
          </a:p>
          <a:p>
            <a:pPr marL="285750" indent="-285750">
              <a:buFont typeface="Arial" panose="020B0604020202020204" pitchFamily="34" charset="0"/>
              <a:buChar char="•"/>
            </a:pPr>
            <a:r>
              <a:rPr lang="es-US" sz="1400" dirty="0">
                <a:solidFill>
                  <a:schemeClr val="bg1"/>
                </a:solidFill>
              </a:rPr>
              <a:t>Resolution: 714 x 574 x 31</a:t>
            </a:r>
          </a:p>
          <a:p>
            <a:pPr marL="285750" indent="-285750">
              <a:buFont typeface="Arial" panose="020B0604020202020204" pitchFamily="34" charset="0"/>
              <a:buChar char="•"/>
            </a:pPr>
            <a:r>
              <a:rPr lang="es-US" sz="1400" dirty="0">
                <a:solidFill>
                  <a:schemeClr val="bg1"/>
                </a:solidFill>
              </a:rPr>
              <a:t>Training: </a:t>
            </a:r>
            <a:r>
              <a:rPr lang="es-US" sz="1400" dirty="0">
                <a:solidFill>
                  <a:srgbClr val="00B050"/>
                </a:solidFill>
              </a:rPr>
              <a:t>a single measurement</a:t>
            </a:r>
          </a:p>
          <a:p>
            <a:pPr marL="285750" indent="-285750">
              <a:buFont typeface="Arial" panose="020B0604020202020204" pitchFamily="34" charset="0"/>
              <a:buChar char="•"/>
            </a:pPr>
            <a:r>
              <a:rPr lang="es-US" sz="1400" dirty="0">
                <a:solidFill>
                  <a:schemeClr val="bg1"/>
                </a:solidFill>
              </a:rPr>
              <a:t>Training time: 1.7 s </a:t>
            </a:r>
          </a:p>
          <a:p>
            <a:pPr marL="285750" indent="-285750">
              <a:buFont typeface="Arial" panose="020B0604020202020204" pitchFamily="34" charset="0"/>
              <a:buChar char="•"/>
            </a:pPr>
            <a:r>
              <a:rPr lang="es-US" sz="1400" dirty="0">
                <a:solidFill>
                  <a:schemeClr val="bg1"/>
                </a:solidFill>
              </a:rPr>
              <a:t>Testing time: 2.5 ms</a:t>
            </a:r>
          </a:p>
          <a:p>
            <a:pPr marL="285750" indent="-285750">
              <a:buFont typeface="Arial" panose="020B0604020202020204" pitchFamily="34" charset="0"/>
              <a:buChar char="•"/>
            </a:pPr>
            <a:r>
              <a:rPr lang="es-US" sz="1400" dirty="0">
                <a:solidFill>
                  <a:schemeClr val="bg1"/>
                </a:solidFill>
              </a:rPr>
              <a:t>Layers: Two hidden layers</a:t>
            </a:r>
          </a:p>
          <a:p>
            <a:pPr marL="285750" indent="-285750">
              <a:buFont typeface="Arial" panose="020B0604020202020204" pitchFamily="34" charset="0"/>
              <a:buChar char="•"/>
            </a:pPr>
            <a:endParaRPr lang="en-US" sz="1400" dirty="0">
              <a:solidFill>
                <a:schemeClr val="bg1"/>
              </a:solidFill>
            </a:endParaRPr>
          </a:p>
        </p:txBody>
      </p:sp>
    </p:spTree>
    <p:extLst>
      <p:ext uri="{BB962C8B-B14F-4D97-AF65-F5344CB8AC3E}">
        <p14:creationId xmlns:p14="http://schemas.microsoft.com/office/powerpoint/2010/main" val="423458458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EE41828-540D-7D14-80CC-0A8B68D8619C}"/>
              </a:ext>
            </a:extLst>
          </p:cNvPr>
          <p:cNvSpPr txBox="1">
            <a:spLocks/>
          </p:cNvSpPr>
          <p:nvPr/>
        </p:nvSpPr>
        <p:spPr>
          <a:xfrm>
            <a:off x="0" y="-361533"/>
            <a:ext cx="7886700" cy="994172"/>
          </a:xfrm>
          <a:prstGeom prst="rect">
            <a:avLst/>
          </a:prstGeom>
        </p:spPr>
        <p:txBody>
          <a:bodyPr vert="horz" lIns="91440" tIns="45720" rIns="91440" bIns="45720" rtlCol="0" anchor="b">
            <a:normAutofit/>
          </a:bodyPr>
          <a:lstStyle>
            <a:lvl1pPr algn="ctr" defTabSz="685800" rtl="0" eaLnBrk="1" latinLnBrk="0" hangingPunct="1">
              <a:lnSpc>
                <a:spcPct val="90000"/>
              </a:lnSpc>
              <a:spcBef>
                <a:spcPct val="0"/>
              </a:spcBef>
              <a:buNone/>
              <a:defRPr sz="4500" kern="1200">
                <a:solidFill>
                  <a:schemeClr val="tx1"/>
                </a:solidFill>
                <a:latin typeface="+mj-lt"/>
                <a:ea typeface="+mj-ea"/>
                <a:cs typeface="+mj-cs"/>
              </a:defRPr>
            </a:lvl1pPr>
          </a:lstStyle>
          <a:p>
            <a:pPr algn="l"/>
            <a:r>
              <a:rPr lang="en-US" sz="3200" dirty="0">
                <a:solidFill>
                  <a:srgbClr val="FFFF00"/>
                </a:solidFill>
                <a:highlight>
                  <a:srgbClr val="000000"/>
                </a:highlight>
                <a:latin typeface="Calibri" panose="020F0502020204030204" pitchFamily="34" charset="0"/>
                <a:cs typeface="Calibri" panose="020F0502020204030204" pitchFamily="34" charset="0"/>
              </a:rPr>
              <a:t>Conclusions</a:t>
            </a:r>
            <a:endParaRPr lang="en-CL" sz="3200" dirty="0">
              <a:solidFill>
                <a:srgbClr val="FFFF00"/>
              </a:solidFill>
              <a:highlight>
                <a:srgbClr val="000000"/>
              </a:highlight>
              <a:latin typeface="Calibri" panose="020F0502020204030204" pitchFamily="34" charset="0"/>
              <a:cs typeface="Calibri" panose="020F0502020204030204" pitchFamily="34" charset="0"/>
            </a:endParaRPr>
          </a:p>
        </p:txBody>
      </p:sp>
      <p:pic>
        <p:nvPicPr>
          <p:cNvPr id="7" name="Picture 6" descr="A close up of clouds&#10;&#10;Description automatically generated">
            <a:extLst>
              <a:ext uri="{FF2B5EF4-FFF2-40B4-BE49-F238E27FC236}">
                <a16:creationId xmlns:a16="http://schemas.microsoft.com/office/drawing/2014/main" id="{6E87BEE5-792C-F7C1-47C9-CC9AEBE36338}"/>
              </a:ext>
            </a:extLst>
          </p:cNvPr>
          <p:cNvPicPr>
            <a:picLocks noChangeAspect="1"/>
          </p:cNvPicPr>
          <p:nvPr/>
        </p:nvPicPr>
        <p:blipFill>
          <a:blip r:embed="rId2"/>
          <a:stretch>
            <a:fillRect/>
          </a:stretch>
        </p:blipFill>
        <p:spPr>
          <a:xfrm>
            <a:off x="4751124" y="2166981"/>
            <a:ext cx="1962511" cy="2802466"/>
          </a:xfrm>
          <a:prstGeom prst="rect">
            <a:avLst/>
          </a:prstGeom>
        </p:spPr>
      </p:pic>
      <p:pic>
        <p:nvPicPr>
          <p:cNvPr id="18" name="Picture 17" descr="A black background with white spots&#10;&#10;Description automatically generated">
            <a:extLst>
              <a:ext uri="{FF2B5EF4-FFF2-40B4-BE49-F238E27FC236}">
                <a16:creationId xmlns:a16="http://schemas.microsoft.com/office/drawing/2014/main" id="{DF26255D-529A-085E-A967-7CE0B1D53099}"/>
              </a:ext>
            </a:extLst>
          </p:cNvPr>
          <p:cNvPicPr>
            <a:picLocks noChangeAspect="1"/>
          </p:cNvPicPr>
          <p:nvPr/>
        </p:nvPicPr>
        <p:blipFill>
          <a:blip r:embed="rId3"/>
          <a:stretch>
            <a:fillRect/>
          </a:stretch>
        </p:blipFill>
        <p:spPr>
          <a:xfrm>
            <a:off x="7168248" y="2307156"/>
            <a:ext cx="1879506" cy="2683934"/>
          </a:xfrm>
          <a:prstGeom prst="rect">
            <a:avLst/>
          </a:prstGeom>
        </p:spPr>
      </p:pic>
      <p:sp>
        <p:nvSpPr>
          <p:cNvPr id="23" name="CuadroTexto 21">
            <a:extLst>
              <a:ext uri="{FF2B5EF4-FFF2-40B4-BE49-F238E27FC236}">
                <a16:creationId xmlns:a16="http://schemas.microsoft.com/office/drawing/2014/main" id="{F60267EF-EBD2-0197-7DFA-C4CD0CA88594}"/>
              </a:ext>
            </a:extLst>
          </p:cNvPr>
          <p:cNvSpPr txBox="1"/>
          <p:nvPr/>
        </p:nvSpPr>
        <p:spPr>
          <a:xfrm>
            <a:off x="303281" y="1062478"/>
            <a:ext cx="8131592" cy="1077218"/>
          </a:xfrm>
          <a:prstGeom prst="rect">
            <a:avLst/>
          </a:prstGeom>
          <a:noFill/>
        </p:spPr>
        <p:txBody>
          <a:bodyPr wrap="square" rtlCol="0">
            <a:spAutoFit/>
          </a:bodyPr>
          <a:lstStyle/>
          <a:p>
            <a:pPr marL="285750" indent="-285750">
              <a:buFont typeface="Arial" panose="020B0604020202020204" pitchFamily="34" charset="0"/>
              <a:buChar char="•"/>
            </a:pPr>
            <a:r>
              <a:rPr lang="es-US" sz="1600" dirty="0" err="1">
                <a:solidFill>
                  <a:schemeClr val="bg1"/>
                </a:solidFill>
              </a:rPr>
              <a:t>We</a:t>
            </a:r>
            <a:r>
              <a:rPr lang="es-US" sz="1600" dirty="0">
                <a:solidFill>
                  <a:schemeClr val="bg1"/>
                </a:solidFill>
              </a:rPr>
              <a:t> </a:t>
            </a:r>
            <a:r>
              <a:rPr lang="es-US" sz="1600" dirty="0" err="1">
                <a:solidFill>
                  <a:schemeClr val="bg1"/>
                </a:solidFill>
              </a:rPr>
              <a:t>introduced</a:t>
            </a:r>
            <a:r>
              <a:rPr lang="es-US" sz="1600" dirty="0">
                <a:solidFill>
                  <a:schemeClr val="bg1"/>
                </a:solidFill>
              </a:rPr>
              <a:t> a novel </a:t>
            </a:r>
            <a:r>
              <a:rPr lang="es-US" sz="1600" dirty="0" err="1">
                <a:solidFill>
                  <a:srgbClr val="00B050"/>
                </a:solidFill>
              </a:rPr>
              <a:t>binary</a:t>
            </a:r>
            <a:r>
              <a:rPr lang="es-US" sz="1600" dirty="0">
                <a:solidFill>
                  <a:srgbClr val="00B050"/>
                </a:solidFill>
              </a:rPr>
              <a:t> </a:t>
            </a:r>
            <a:r>
              <a:rPr lang="es-US" sz="1600" dirty="0" err="1">
                <a:solidFill>
                  <a:srgbClr val="00B050"/>
                </a:solidFill>
              </a:rPr>
              <a:t>coded</a:t>
            </a:r>
            <a:r>
              <a:rPr lang="es-US" sz="1600" dirty="0">
                <a:solidFill>
                  <a:srgbClr val="00B050"/>
                </a:solidFill>
              </a:rPr>
              <a:t> </a:t>
            </a:r>
            <a:r>
              <a:rPr lang="es-US" sz="1600" dirty="0" err="1">
                <a:solidFill>
                  <a:srgbClr val="00B050"/>
                </a:solidFill>
              </a:rPr>
              <a:t>aperture</a:t>
            </a:r>
            <a:r>
              <a:rPr lang="es-US" sz="1600" dirty="0">
                <a:solidFill>
                  <a:schemeClr val="bg1"/>
                </a:solidFill>
              </a:rPr>
              <a:t> </a:t>
            </a:r>
            <a:r>
              <a:rPr lang="es-US" sz="1600" dirty="0" err="1">
                <a:solidFill>
                  <a:schemeClr val="bg1"/>
                </a:solidFill>
              </a:rPr>
              <a:t>for</a:t>
            </a:r>
            <a:r>
              <a:rPr lang="es-US" sz="1600" dirty="0">
                <a:solidFill>
                  <a:schemeClr val="bg1"/>
                </a:solidFill>
              </a:rPr>
              <a:t> </a:t>
            </a:r>
            <a:r>
              <a:rPr lang="es-US" sz="1600" dirty="0" err="1">
                <a:solidFill>
                  <a:schemeClr val="bg1"/>
                </a:solidFill>
              </a:rPr>
              <a:t>compressed</a:t>
            </a:r>
            <a:r>
              <a:rPr lang="es-US" sz="1600" dirty="0">
                <a:solidFill>
                  <a:srgbClr val="00B050"/>
                </a:solidFill>
              </a:rPr>
              <a:t> </a:t>
            </a:r>
            <a:r>
              <a:rPr lang="es-US" sz="1600" dirty="0" err="1">
                <a:solidFill>
                  <a:srgbClr val="00B050"/>
                </a:solidFill>
              </a:rPr>
              <a:t>optical-streaking</a:t>
            </a:r>
            <a:r>
              <a:rPr lang="es-US" sz="1600" dirty="0">
                <a:solidFill>
                  <a:srgbClr val="00B050"/>
                </a:solidFill>
              </a:rPr>
              <a:t> </a:t>
            </a:r>
            <a:r>
              <a:rPr lang="es-US" sz="1600" dirty="0">
                <a:solidFill>
                  <a:schemeClr val="bg1"/>
                </a:solidFill>
              </a:rPr>
              <a:t>ultra-</a:t>
            </a:r>
            <a:r>
              <a:rPr lang="es-US" sz="1600" dirty="0" err="1">
                <a:solidFill>
                  <a:schemeClr val="bg1"/>
                </a:solidFill>
              </a:rPr>
              <a:t>high</a:t>
            </a:r>
            <a:r>
              <a:rPr lang="es-US" sz="1600" dirty="0">
                <a:solidFill>
                  <a:schemeClr val="bg1"/>
                </a:solidFill>
              </a:rPr>
              <a:t>-</a:t>
            </a:r>
            <a:r>
              <a:rPr lang="es-US" sz="1600" dirty="0" err="1">
                <a:solidFill>
                  <a:schemeClr val="bg1"/>
                </a:solidFill>
              </a:rPr>
              <a:t>speed</a:t>
            </a:r>
            <a:r>
              <a:rPr lang="es-US" sz="1600" dirty="0">
                <a:solidFill>
                  <a:schemeClr val="bg1"/>
                </a:solidFill>
              </a:rPr>
              <a:t> </a:t>
            </a:r>
            <a:r>
              <a:rPr lang="es-US" sz="1600" dirty="0" err="1">
                <a:solidFill>
                  <a:schemeClr val="bg1"/>
                </a:solidFill>
              </a:rPr>
              <a:t>photography</a:t>
            </a:r>
            <a:endParaRPr lang="es-US" sz="1600" dirty="0">
              <a:solidFill>
                <a:schemeClr val="bg1"/>
              </a:solidFill>
            </a:endParaRPr>
          </a:p>
          <a:p>
            <a:pPr marL="285750" indent="-285750">
              <a:buFont typeface="Arial" panose="020B0604020202020204" pitchFamily="34" charset="0"/>
              <a:buChar char="•"/>
            </a:pPr>
            <a:r>
              <a:rPr lang="es-US" sz="1600" dirty="0" err="1">
                <a:solidFill>
                  <a:schemeClr val="bg1"/>
                </a:solidFill>
              </a:rPr>
              <a:t>Our</a:t>
            </a:r>
            <a:r>
              <a:rPr lang="es-US" sz="1600" dirty="0">
                <a:solidFill>
                  <a:schemeClr val="bg1"/>
                </a:solidFill>
              </a:rPr>
              <a:t> </a:t>
            </a:r>
            <a:r>
              <a:rPr lang="es-US" sz="1600" dirty="0" err="1">
                <a:solidFill>
                  <a:schemeClr val="bg1"/>
                </a:solidFill>
              </a:rPr>
              <a:t>designed</a:t>
            </a:r>
            <a:r>
              <a:rPr lang="es-US" sz="1600" dirty="0">
                <a:solidFill>
                  <a:schemeClr val="bg1"/>
                </a:solidFill>
              </a:rPr>
              <a:t> </a:t>
            </a:r>
            <a:r>
              <a:rPr lang="es-US" sz="1600" dirty="0" err="1">
                <a:solidFill>
                  <a:schemeClr val="bg1"/>
                </a:solidFill>
              </a:rPr>
              <a:t>coded</a:t>
            </a:r>
            <a:r>
              <a:rPr lang="es-US" sz="1600" dirty="0">
                <a:solidFill>
                  <a:schemeClr val="bg1"/>
                </a:solidFill>
              </a:rPr>
              <a:t> </a:t>
            </a:r>
            <a:r>
              <a:rPr lang="es-US" sz="1600" dirty="0" err="1">
                <a:solidFill>
                  <a:schemeClr val="bg1"/>
                </a:solidFill>
              </a:rPr>
              <a:t>aperture</a:t>
            </a:r>
            <a:r>
              <a:rPr lang="es-US" sz="1600" dirty="0">
                <a:solidFill>
                  <a:schemeClr val="bg1"/>
                </a:solidFill>
              </a:rPr>
              <a:t> </a:t>
            </a:r>
            <a:r>
              <a:rPr lang="es-US" sz="1600" dirty="0" err="1">
                <a:solidFill>
                  <a:schemeClr val="bg1"/>
                </a:solidFill>
              </a:rPr>
              <a:t>samples</a:t>
            </a:r>
            <a:r>
              <a:rPr lang="es-US" sz="1600" dirty="0">
                <a:solidFill>
                  <a:schemeClr val="bg1"/>
                </a:solidFill>
              </a:rPr>
              <a:t> </a:t>
            </a:r>
            <a:r>
              <a:rPr lang="es-US" sz="1600" dirty="0" err="1">
                <a:solidFill>
                  <a:schemeClr val="bg1"/>
                </a:solidFill>
              </a:rPr>
              <a:t>uniformly</a:t>
            </a:r>
            <a:r>
              <a:rPr lang="es-US" sz="1600" dirty="0">
                <a:solidFill>
                  <a:schemeClr val="bg1"/>
                </a:solidFill>
              </a:rPr>
              <a:t> </a:t>
            </a:r>
            <a:r>
              <a:rPr lang="es-US" sz="1600" dirty="0" err="1">
                <a:solidFill>
                  <a:schemeClr val="bg1"/>
                </a:solidFill>
              </a:rPr>
              <a:t>the</a:t>
            </a:r>
            <a:r>
              <a:rPr lang="es-US" sz="1600" dirty="0">
                <a:solidFill>
                  <a:schemeClr val="bg1"/>
                </a:solidFill>
              </a:rPr>
              <a:t> video</a:t>
            </a:r>
          </a:p>
          <a:p>
            <a:pPr marL="285750" indent="-285750">
              <a:buFont typeface="Arial" panose="020B0604020202020204" pitchFamily="34" charset="0"/>
              <a:buChar char="•"/>
            </a:pPr>
            <a:r>
              <a:rPr lang="es-US" sz="1600" dirty="0" err="1">
                <a:solidFill>
                  <a:schemeClr val="bg1"/>
                </a:solidFill>
              </a:rPr>
              <a:t>We</a:t>
            </a:r>
            <a:r>
              <a:rPr lang="es-US" sz="1600" dirty="0">
                <a:solidFill>
                  <a:schemeClr val="bg1"/>
                </a:solidFill>
              </a:rPr>
              <a:t> </a:t>
            </a:r>
            <a:r>
              <a:rPr lang="es-US" sz="1600" dirty="0" err="1">
                <a:solidFill>
                  <a:schemeClr val="bg1"/>
                </a:solidFill>
              </a:rPr>
              <a:t>recover</a:t>
            </a:r>
            <a:r>
              <a:rPr lang="es-US" sz="1600" dirty="0">
                <a:solidFill>
                  <a:schemeClr val="bg1"/>
                </a:solidFill>
              </a:rPr>
              <a:t> </a:t>
            </a:r>
            <a:r>
              <a:rPr lang="es-US" sz="1600" dirty="0" err="1">
                <a:solidFill>
                  <a:schemeClr val="bg1"/>
                </a:solidFill>
              </a:rPr>
              <a:t>the</a:t>
            </a:r>
            <a:r>
              <a:rPr lang="es-US" sz="1600" dirty="0">
                <a:solidFill>
                  <a:schemeClr val="bg1"/>
                </a:solidFill>
              </a:rPr>
              <a:t> </a:t>
            </a:r>
            <a:r>
              <a:rPr lang="es-US" sz="1600" dirty="0" err="1">
                <a:solidFill>
                  <a:schemeClr val="bg1"/>
                </a:solidFill>
              </a:rPr>
              <a:t>underlying</a:t>
            </a:r>
            <a:r>
              <a:rPr lang="es-US" sz="1600" dirty="0">
                <a:solidFill>
                  <a:schemeClr val="bg1"/>
                </a:solidFill>
              </a:rPr>
              <a:t> video </a:t>
            </a:r>
            <a:r>
              <a:rPr lang="es-US" sz="1600" dirty="0" err="1">
                <a:solidFill>
                  <a:schemeClr val="bg1"/>
                </a:solidFill>
              </a:rPr>
              <a:t>using</a:t>
            </a:r>
            <a:r>
              <a:rPr lang="es-US" sz="1600" dirty="0">
                <a:solidFill>
                  <a:schemeClr val="bg1"/>
                </a:solidFill>
              </a:rPr>
              <a:t> </a:t>
            </a:r>
            <a:r>
              <a:rPr lang="es-US" sz="1600" dirty="0" err="1">
                <a:solidFill>
                  <a:schemeClr val="bg1"/>
                </a:solidFill>
              </a:rPr>
              <a:t>interpolation</a:t>
            </a:r>
            <a:r>
              <a:rPr lang="es-US" sz="1600" dirty="0">
                <a:solidFill>
                  <a:schemeClr val="bg1"/>
                </a:solidFill>
              </a:rPr>
              <a:t> and </a:t>
            </a:r>
            <a:r>
              <a:rPr lang="es-US" sz="1600" dirty="0" err="1">
                <a:solidFill>
                  <a:srgbClr val="00B050"/>
                </a:solidFill>
              </a:rPr>
              <a:t>implicit</a:t>
            </a:r>
            <a:r>
              <a:rPr lang="es-US" sz="1600" dirty="0">
                <a:solidFill>
                  <a:srgbClr val="00B050"/>
                </a:solidFill>
              </a:rPr>
              <a:t> neural </a:t>
            </a:r>
            <a:r>
              <a:rPr lang="es-US" sz="1600" dirty="0" err="1">
                <a:solidFill>
                  <a:srgbClr val="00B050"/>
                </a:solidFill>
              </a:rPr>
              <a:t>representation</a:t>
            </a:r>
            <a:endParaRPr lang="es-US" sz="1600" dirty="0">
              <a:solidFill>
                <a:schemeClr val="bg1"/>
              </a:solidFill>
            </a:endParaRPr>
          </a:p>
        </p:txBody>
      </p:sp>
      <p:pic>
        <p:nvPicPr>
          <p:cNvPr id="2" name="Picture 1">
            <a:extLst>
              <a:ext uri="{FF2B5EF4-FFF2-40B4-BE49-F238E27FC236}">
                <a16:creationId xmlns:a16="http://schemas.microsoft.com/office/drawing/2014/main" id="{7668B071-5F3B-D7FD-5517-83EE86F820B5}"/>
              </a:ext>
            </a:extLst>
          </p:cNvPr>
          <p:cNvPicPr>
            <a:picLocks noChangeAspect="1"/>
          </p:cNvPicPr>
          <p:nvPr/>
        </p:nvPicPr>
        <p:blipFill rotWithShape="1">
          <a:blip r:embed="rId4"/>
          <a:srcRect b="5330"/>
          <a:stretch/>
        </p:blipFill>
        <p:spPr>
          <a:xfrm>
            <a:off x="2365932" y="2595475"/>
            <a:ext cx="2343400" cy="2098152"/>
          </a:xfrm>
          <a:prstGeom prst="rect">
            <a:avLst/>
          </a:prstGeom>
        </p:spPr>
      </p:pic>
      <p:sp>
        <p:nvSpPr>
          <p:cNvPr id="3" name="Content Placeholder 2">
            <a:extLst>
              <a:ext uri="{FF2B5EF4-FFF2-40B4-BE49-F238E27FC236}">
                <a16:creationId xmlns:a16="http://schemas.microsoft.com/office/drawing/2014/main" id="{6AE17EBA-CE47-B882-F9F7-7401DF328B2C}"/>
              </a:ext>
            </a:extLst>
          </p:cNvPr>
          <p:cNvSpPr txBox="1">
            <a:spLocks/>
          </p:cNvSpPr>
          <p:nvPr/>
        </p:nvSpPr>
        <p:spPr>
          <a:xfrm>
            <a:off x="2491628" y="4815771"/>
            <a:ext cx="2042539" cy="262415"/>
          </a:xfrm>
          <a:prstGeom prst="rect">
            <a:avLst/>
          </a:prstGeom>
        </p:spPr>
        <p:txBody>
          <a:bodyPr vert="horz" lIns="91440" tIns="45720" rIns="91440" bIns="45720" rtlCol="0">
            <a:normAutofit fontScale="77500" lnSpcReduction="20000"/>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r>
              <a:rPr lang="en-US" dirty="0">
                <a:solidFill>
                  <a:schemeClr val="bg1"/>
                </a:solidFill>
                <a:highlight>
                  <a:srgbClr val="000000"/>
                </a:highlight>
              </a:rPr>
              <a:t>u</a:t>
            </a:r>
            <a:r>
              <a:rPr lang="en-CL" dirty="0">
                <a:solidFill>
                  <a:schemeClr val="bg1"/>
                </a:solidFill>
                <a:highlight>
                  <a:srgbClr val="000000"/>
                </a:highlight>
              </a:rPr>
              <a:t>niform sensing</a:t>
            </a:r>
          </a:p>
        </p:txBody>
      </p:sp>
      <p:sp>
        <p:nvSpPr>
          <p:cNvPr id="5" name="Content Placeholder 2">
            <a:extLst>
              <a:ext uri="{FF2B5EF4-FFF2-40B4-BE49-F238E27FC236}">
                <a16:creationId xmlns:a16="http://schemas.microsoft.com/office/drawing/2014/main" id="{1F91E3C3-BDEB-4B0C-F477-F3EFE1A9C9C9}"/>
              </a:ext>
            </a:extLst>
          </p:cNvPr>
          <p:cNvSpPr txBox="1">
            <a:spLocks/>
          </p:cNvSpPr>
          <p:nvPr/>
        </p:nvSpPr>
        <p:spPr>
          <a:xfrm>
            <a:off x="139492" y="4802397"/>
            <a:ext cx="2042539" cy="262415"/>
          </a:xfrm>
          <a:prstGeom prst="rect">
            <a:avLst/>
          </a:prstGeom>
        </p:spPr>
        <p:txBody>
          <a:bodyPr vert="horz" lIns="91440" tIns="45720" rIns="91440" bIns="45720" rtlCol="0">
            <a:normAutofit fontScale="77500" lnSpcReduction="20000"/>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r>
              <a:rPr lang="en-US" dirty="0">
                <a:solidFill>
                  <a:schemeClr val="bg1"/>
                </a:solidFill>
                <a:highlight>
                  <a:srgbClr val="000000"/>
                </a:highlight>
              </a:rPr>
              <a:t>uniform coded aperture</a:t>
            </a:r>
            <a:endParaRPr lang="en-CL" dirty="0">
              <a:solidFill>
                <a:schemeClr val="bg1"/>
              </a:solidFill>
              <a:highlight>
                <a:srgbClr val="000000"/>
              </a:highlight>
            </a:endParaRPr>
          </a:p>
        </p:txBody>
      </p:sp>
      <p:pic>
        <p:nvPicPr>
          <p:cNvPr id="6" name="Picture 5" descr="A black and white background with small white dots&#10;&#10;Description automatically generated">
            <a:extLst>
              <a:ext uri="{FF2B5EF4-FFF2-40B4-BE49-F238E27FC236}">
                <a16:creationId xmlns:a16="http://schemas.microsoft.com/office/drawing/2014/main" id="{8A20FEAB-982D-4CBA-04B3-AB8C1C8DF389}"/>
              </a:ext>
            </a:extLst>
          </p:cNvPr>
          <p:cNvPicPr>
            <a:picLocks noChangeAspect="1"/>
          </p:cNvPicPr>
          <p:nvPr/>
        </p:nvPicPr>
        <p:blipFill>
          <a:blip r:embed="rId5"/>
          <a:stretch>
            <a:fillRect/>
          </a:stretch>
        </p:blipFill>
        <p:spPr>
          <a:xfrm>
            <a:off x="119171" y="2565919"/>
            <a:ext cx="2107552" cy="2107552"/>
          </a:xfrm>
          <a:prstGeom prst="rect">
            <a:avLst/>
          </a:prstGeom>
        </p:spPr>
      </p:pic>
    </p:spTree>
    <p:extLst>
      <p:ext uri="{BB962C8B-B14F-4D97-AF65-F5344CB8AC3E}">
        <p14:creationId xmlns:p14="http://schemas.microsoft.com/office/powerpoint/2010/main" val="3683726132"/>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3743</TotalTime>
  <Words>1176</Words>
  <Application>Microsoft Macintosh PowerPoint</Application>
  <PresentationFormat>On-screen Show (16:9)</PresentationFormat>
  <Paragraphs>153</Paragraphs>
  <Slides>25</Slides>
  <Notes>1</Notes>
  <HiddenSlides>0</HiddenSlides>
  <MMClips>9</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25</vt:i4>
      </vt:variant>
    </vt:vector>
  </HeadingPairs>
  <TitlesOfParts>
    <vt:vector size="33" baseType="lpstr">
      <vt:lpstr>Aptos</vt:lpstr>
      <vt:lpstr>Aptos Display</vt:lpstr>
      <vt:lpstr>Arial</vt:lpstr>
      <vt:lpstr>Calibri</vt:lpstr>
      <vt:lpstr>Cambria Math</vt:lpstr>
      <vt:lpstr>Helvetica</vt:lpstr>
      <vt:lpstr>Roboto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NELSON.DIAZ@correo.uis.edu.co</dc:creator>
  <cp:lastModifiedBy>Nelson Diaz</cp:lastModifiedBy>
  <cp:revision>58</cp:revision>
  <dcterms:created xsi:type="dcterms:W3CDTF">2024-07-18T17:07:13Z</dcterms:created>
  <dcterms:modified xsi:type="dcterms:W3CDTF">2026-08-05T21:36:28Z</dcterms:modified>
</cp:coreProperties>
</file>