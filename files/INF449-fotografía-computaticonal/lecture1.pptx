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80" r:id="rId2"/>
    <p:sldId id="281" r:id="rId3"/>
    <p:sldId id="326" r:id="rId4"/>
    <p:sldId id="286" r:id="rId5"/>
    <p:sldId id="323" r:id="rId6"/>
    <p:sldId id="320" r:id="rId7"/>
    <p:sldId id="322" r:id="rId8"/>
    <p:sldId id="321" r:id="rId9"/>
    <p:sldId id="282" r:id="rId10"/>
    <p:sldId id="283" r:id="rId11"/>
    <p:sldId id="284" r:id="rId12"/>
    <p:sldId id="285" r:id="rId13"/>
    <p:sldId id="327" r:id="rId14"/>
    <p:sldId id="328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1"/>
    <p:restoredTop sz="95031"/>
  </p:normalViewPr>
  <p:slideViewPr>
    <p:cSldViewPr snapToGrid="0">
      <p:cViewPr varScale="1">
        <p:scale>
          <a:sx n="141" d="100"/>
          <a:sy n="141" d="100"/>
        </p:scale>
        <p:origin x="696" y="17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A891B-2678-0846-862D-FD8F7F984981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F8340-218A-9546-A6E8-E8F60C6C0030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0254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98287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7363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9636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3018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695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2954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8875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4304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765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4021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3382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533EA-6C00-A148-B42E-F08FDADF90F3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DA7A4-C80E-2F46-B968-38B4BACCDF09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21506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6A96C-DC70-D988-8AA8-09873CBF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5B20C39-77A0-C572-44C6-EF9E7D2CCD0F}"/>
              </a:ext>
            </a:extLst>
          </p:cNvPr>
          <p:cNvSpPr txBox="1">
            <a:spLocks/>
          </p:cNvSpPr>
          <p:nvPr/>
        </p:nvSpPr>
        <p:spPr>
          <a:xfrm>
            <a:off x="734717" y="165743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FFFF00"/>
                </a:solidFill>
                <a:highlight>
                  <a:srgbClr val="000000"/>
                </a:highlight>
                <a:latin typeface="Helvetica" pitchFamily="2" charset="0"/>
                <a:cs typeface="Calibri" panose="020F0502020204030204" pitchFamily="34" charset="0"/>
              </a:rPr>
              <a:t>Computational Photography</a:t>
            </a:r>
            <a:endParaRPr lang="en-CL" sz="3200" dirty="0">
              <a:solidFill>
                <a:srgbClr val="FFFF00"/>
              </a:solidFill>
              <a:highlight>
                <a:srgbClr val="000000"/>
              </a:highlight>
              <a:latin typeface="Helvetica" pitchFamily="2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C96C6A-70C0-827F-602A-FAD2B45753A1}"/>
              </a:ext>
            </a:extLst>
          </p:cNvPr>
          <p:cNvSpPr txBox="1"/>
          <p:nvPr/>
        </p:nvSpPr>
        <p:spPr>
          <a:xfrm>
            <a:off x="3676702" y="2457633"/>
            <a:ext cx="1971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Dr. Nelson Díaz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11B606-BD97-161B-64FA-74129166FC4E}"/>
              </a:ext>
            </a:extLst>
          </p:cNvPr>
          <p:cNvSpPr txBox="1"/>
          <p:nvPr/>
        </p:nvSpPr>
        <p:spPr>
          <a:xfrm>
            <a:off x="356891" y="2727931"/>
            <a:ext cx="8357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Helvetica" pitchFamily="2" charset="0"/>
              </a:rPr>
              <a:t>Departamento</a:t>
            </a:r>
            <a:r>
              <a:rPr lang="en-US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Helvetica" pitchFamily="2" charset="0"/>
              </a:rPr>
              <a:t> de Ingeniería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  <a:latin typeface="Helvetica" pitchFamily="2" charset="0"/>
              </a:rPr>
              <a:t>Informática</a:t>
            </a:r>
            <a:endParaRPr lang="en-US" b="0" i="0" dirty="0">
              <a:solidFill>
                <a:schemeClr val="bg1"/>
              </a:solidFill>
              <a:effectLst/>
              <a:highlight>
                <a:srgbClr val="000000"/>
              </a:highlight>
              <a:latin typeface="Helvetica" pitchFamily="2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Helvetica" pitchFamily="2" charset="0"/>
              </a:rPr>
              <a:t>Universidad Técnica Federico Santa María, campus </a:t>
            </a:r>
            <a:r>
              <a:rPr lang="en-US" b="0" i="0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Helvetica" pitchFamily="2" charset="0"/>
              </a:rPr>
              <a:t>Valparaíso, Chile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6160BA-4E47-1BB3-04A4-55E336554F33}"/>
              </a:ext>
            </a:extLst>
          </p:cNvPr>
          <p:cNvSpPr txBox="1">
            <a:spLocks/>
          </p:cNvSpPr>
          <p:nvPr/>
        </p:nvSpPr>
        <p:spPr>
          <a:xfrm>
            <a:off x="1621530" y="3422346"/>
            <a:ext cx="5675366" cy="973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  <a:latin typeface="Helvetica" pitchFamily="2" charset="0"/>
              </a:rPr>
              <a:t>nelson.diazd@usm.cl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  <a:latin typeface="Helvetica" pitchFamily="2" charset="0"/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Helvetica" pitchFamily="2" charset="0"/>
              </a:rPr>
              <a:t>Academic website  https://nelson-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  <a:latin typeface="Helvetica" pitchFamily="2" charset="0"/>
              </a:rPr>
              <a:t>diaz.com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  <a:latin typeface="Helvetica" pitchFamily="2" charset="0"/>
              </a:rPr>
              <a:t>/</a:t>
            </a:r>
            <a:endParaRPr lang="en-CL" dirty="0">
              <a:solidFill>
                <a:schemeClr val="bg1"/>
              </a:solidFill>
              <a:highlight>
                <a:srgbClr val="000000"/>
              </a:highlight>
              <a:latin typeface="Helvetica" pitchFamily="2" charset="0"/>
            </a:endParaRP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1FFE8634-EC91-476D-781F-162B0984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1</a:t>
            </a:fld>
            <a:endParaRPr lang="en-CL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BF3C50-7CC0-7026-2140-F30CCC550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352" y="1103385"/>
            <a:ext cx="2070927" cy="1402390"/>
          </a:xfrm>
          <a:prstGeom prst="rect">
            <a:avLst/>
          </a:prstGeom>
        </p:spPr>
      </p:pic>
      <p:pic>
        <p:nvPicPr>
          <p:cNvPr id="2" name="Picture 1" descr="Universidad Técnica Federico Santa María Logo PNG Vector (SVG) Free Download">
            <a:extLst>
              <a:ext uri="{FF2B5EF4-FFF2-40B4-BE49-F238E27FC236}">
                <a16:creationId xmlns:a16="http://schemas.microsoft.com/office/drawing/2014/main" id="{F5298122-5090-BFFC-1529-B5B466E60B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57" t="40623" r="12494" b="40830"/>
          <a:stretch>
            <a:fillRect/>
          </a:stretch>
        </p:blipFill>
        <p:spPr>
          <a:xfrm>
            <a:off x="2965837" y="4261900"/>
            <a:ext cx="2941982" cy="71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33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1F834-E4E5-9DE8-E6AE-05A50020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571A4F4-CF89-25FD-19D7-FD6073750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2</a:t>
            </a:fld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020BCB-406A-4F9A-8738-A327DE7B1266}"/>
              </a:ext>
            </a:extLst>
          </p:cNvPr>
          <p:cNvSpPr txBox="1">
            <a:spLocks/>
          </p:cNvSpPr>
          <p:nvPr/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L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4DA7A4-C80E-2F46-B968-38B4BACCDF09}" type="slidenum">
              <a:rPr lang="en-CL" smtClean="0"/>
              <a:pPr/>
              <a:t>2</a:t>
            </a:fld>
            <a:endParaRPr lang="en-C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EC3EA1-DFA4-1818-4C06-42194C898212}"/>
              </a:ext>
            </a:extLst>
          </p:cNvPr>
          <p:cNvSpPr txBox="1">
            <a:spLocks/>
          </p:cNvSpPr>
          <p:nvPr/>
        </p:nvSpPr>
        <p:spPr>
          <a:xfrm>
            <a:off x="516804" y="134663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Computational Photography</a:t>
            </a:r>
            <a:endParaRPr lang="en-CL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Computational Photography Group – CPhoto@FIT | Computational Photography  Group at Faculty of Information Technology, Brno University of Technology">
            <a:extLst>
              <a:ext uri="{FF2B5EF4-FFF2-40B4-BE49-F238E27FC236}">
                <a16:creationId xmlns:a16="http://schemas.microsoft.com/office/drawing/2014/main" id="{39596876-1BB3-54F1-ECB6-17E99D5D9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37" y="1672389"/>
            <a:ext cx="6118762" cy="292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4E6B68-E73F-FFD6-2F0B-3C139AD76B0C}"/>
              </a:ext>
            </a:extLst>
          </p:cNvPr>
          <p:cNvSpPr txBox="1"/>
          <p:nvPr/>
        </p:nvSpPr>
        <p:spPr>
          <a:xfrm>
            <a:off x="6550555" y="1904162"/>
            <a:ext cx="25092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>
                <a:solidFill>
                  <a:schemeClr val="accent6"/>
                </a:solidFill>
              </a:rPr>
              <a:t>Areas:</a:t>
            </a:r>
          </a:p>
          <a:p>
            <a:endParaRPr lang="en-CL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Computer Science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Electrical Engineering and Electronics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Maths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Physics (optics)</a:t>
            </a:r>
          </a:p>
          <a:p>
            <a:endParaRPr lang="en-CL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5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71387-350F-2007-A4B1-C09D12A4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B42FE26C-46E6-452A-CC32-F008001A1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3</a:t>
            </a:fld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B450C-63BE-09E1-E38D-65944433788A}"/>
              </a:ext>
            </a:extLst>
          </p:cNvPr>
          <p:cNvSpPr txBox="1">
            <a:spLocks/>
          </p:cNvSpPr>
          <p:nvPr/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L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4DA7A4-C80E-2F46-B968-38B4BACCDF09}" type="slidenum">
              <a:rPr lang="en-CL" smtClean="0"/>
              <a:pPr/>
              <a:t>3</a:t>
            </a:fld>
            <a:endParaRPr lang="en-C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345257-BB99-F94E-DAC0-0E3CE23C16D1}"/>
              </a:ext>
            </a:extLst>
          </p:cNvPr>
          <p:cNvSpPr txBox="1">
            <a:spLocks/>
          </p:cNvSpPr>
          <p:nvPr/>
        </p:nvSpPr>
        <p:spPr>
          <a:xfrm>
            <a:off x="516804" y="134663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Computational Photography</a:t>
            </a:r>
            <a:endParaRPr lang="en-CL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747799-FDFC-93C4-1035-1D07406E9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67"/>
          <a:stretch>
            <a:fillRect/>
          </a:stretch>
        </p:blipFill>
        <p:spPr>
          <a:xfrm>
            <a:off x="382129" y="1319455"/>
            <a:ext cx="5000903" cy="36679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91BD6C-0D00-5745-838A-512BDB0DF78B}"/>
              </a:ext>
            </a:extLst>
          </p:cNvPr>
          <p:cNvSpPr txBox="1"/>
          <p:nvPr/>
        </p:nvSpPr>
        <p:spPr>
          <a:xfrm>
            <a:off x="5804598" y="1446962"/>
            <a:ext cx="333940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L" dirty="0">
                <a:solidFill>
                  <a:schemeClr val="accent6"/>
                </a:solidFill>
              </a:rPr>
              <a:t>Goal:</a:t>
            </a:r>
          </a:p>
          <a:p>
            <a:endParaRPr lang="en-CL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To capture and recover singal in many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L" dirty="0">
              <a:solidFill>
                <a:schemeClr val="accent6"/>
              </a:solidFill>
            </a:endParaRPr>
          </a:p>
          <a:p>
            <a:r>
              <a:rPr lang="en-CL" dirty="0">
                <a:solidFill>
                  <a:schemeClr val="accent6"/>
                </a:solidFill>
              </a:rPr>
              <a:t>To design</a:t>
            </a:r>
          </a:p>
          <a:p>
            <a:endParaRPr lang="en-CL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Hardward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Software--algorithm to solve the inverse problem--</a:t>
            </a:r>
          </a:p>
          <a:p>
            <a:endParaRPr lang="en-CL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17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FD64E-7937-4EC8-72D8-8385DAE7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9AA2EAC-2DAA-C84C-FA75-AC5EFF3D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5684" y="8093282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4</a:t>
            </a:fld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03F026-F7E3-D642-C2A3-FF4FA267EC59}"/>
              </a:ext>
            </a:extLst>
          </p:cNvPr>
          <p:cNvSpPr txBox="1">
            <a:spLocks/>
          </p:cNvSpPr>
          <p:nvPr/>
        </p:nvSpPr>
        <p:spPr>
          <a:xfrm>
            <a:off x="275684" y="809328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L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4DA7A4-C80E-2F46-B968-38B4BACCDF09}" type="slidenum">
              <a:rPr lang="en-CL" smtClean="0"/>
              <a:pPr/>
              <a:t>4</a:t>
            </a:fld>
            <a:endParaRPr lang="en-C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297C90-7550-B14B-626C-8074EAB43E12}"/>
              </a:ext>
            </a:extLst>
          </p:cNvPr>
          <p:cNvSpPr txBox="1">
            <a:spLocks/>
          </p:cNvSpPr>
          <p:nvPr/>
        </p:nvSpPr>
        <p:spPr>
          <a:xfrm>
            <a:off x="93440" y="-264695"/>
            <a:ext cx="8918213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Computational Photography: Applications</a:t>
            </a:r>
            <a:endParaRPr lang="en-CL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D59D2C-8371-B13D-C322-5D8DC1A47BC3}"/>
              </a:ext>
            </a:extLst>
          </p:cNvPr>
          <p:cNvGrpSpPr/>
          <p:nvPr/>
        </p:nvGrpSpPr>
        <p:grpSpPr>
          <a:xfrm>
            <a:off x="370146" y="1515487"/>
            <a:ext cx="2843781" cy="1801050"/>
            <a:chOff x="4514497" y="1096058"/>
            <a:chExt cx="2843781" cy="18010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C8A81AC-5B02-2879-8385-BC1811B5A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40176" y="1401006"/>
              <a:ext cx="1518102" cy="1496101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8DF8084-C2E0-6EF6-EC26-3EBEBC0314B8}"/>
                </a:ext>
              </a:extLst>
            </p:cNvPr>
            <p:cNvGrpSpPr/>
            <p:nvPr/>
          </p:nvGrpSpPr>
          <p:grpSpPr>
            <a:xfrm>
              <a:off x="4514497" y="1096058"/>
              <a:ext cx="2218066" cy="1801050"/>
              <a:chOff x="4514497" y="1096058"/>
              <a:chExt cx="2218066" cy="180105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C7FBFA5-AB5D-2123-5226-92C9BA9EAF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4497" y="1394233"/>
                <a:ext cx="1277444" cy="1502875"/>
              </a:xfrm>
              <a:prstGeom prst="rect">
                <a:avLst/>
              </a:prstGeom>
            </p:spPr>
          </p:pic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6C5FD2B-688A-4970-4D99-6B4BFF9B7B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19719" y="1096058"/>
                <a:ext cx="1512844" cy="4279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1400" dirty="0">
                    <a:solidFill>
                      <a:schemeClr val="bg1"/>
                    </a:solidFill>
                    <a:highlight>
                      <a:srgbClr val="000000"/>
                    </a:highlight>
                  </a:rPr>
                  <a:t>Multispectral</a:t>
                </a:r>
                <a:endParaRPr lang="en-US" sz="1400" dirty="0">
                  <a:solidFill>
                    <a:schemeClr val="accent6"/>
                  </a:solidFill>
                  <a:highlight>
                    <a:srgbClr val="000000"/>
                  </a:highlight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289877-0987-CB43-4629-3AD14BC999BF}"/>
              </a:ext>
            </a:extLst>
          </p:cNvPr>
          <p:cNvGrpSpPr/>
          <p:nvPr/>
        </p:nvGrpSpPr>
        <p:grpSpPr>
          <a:xfrm>
            <a:off x="4815666" y="1608124"/>
            <a:ext cx="4054775" cy="1606618"/>
            <a:chOff x="2324714" y="3021865"/>
            <a:chExt cx="4054775" cy="1606618"/>
          </a:xfrm>
        </p:grpSpPr>
        <p:pic>
          <p:nvPicPr>
            <p:cNvPr id="11" name="Picture 10" descr="A diagram of a diagram of a function&#10;&#10;AI-generated content may be incorrect.">
              <a:extLst>
                <a:ext uri="{FF2B5EF4-FFF2-40B4-BE49-F238E27FC236}">
                  <a16:creationId xmlns:a16="http://schemas.microsoft.com/office/drawing/2014/main" id="{9C9521E2-B428-C9B0-E225-E69413F95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5491"/>
            <a:stretch>
              <a:fillRect/>
            </a:stretch>
          </p:blipFill>
          <p:spPr>
            <a:xfrm>
              <a:off x="2324714" y="3322623"/>
              <a:ext cx="4054775" cy="1305860"/>
            </a:xfrm>
            <a:prstGeom prst="rect">
              <a:avLst/>
            </a:prstGeom>
          </p:spPr>
        </p:pic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8452AAAC-235D-3DDC-071F-9242CBFF1F2C}"/>
                </a:ext>
              </a:extLst>
            </p:cNvPr>
            <p:cNvSpPr txBox="1">
              <a:spLocks/>
            </p:cNvSpPr>
            <p:nvPr/>
          </p:nvSpPr>
          <p:spPr>
            <a:xfrm>
              <a:off x="3935716" y="3021865"/>
              <a:ext cx="744808" cy="42792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indent="0" algn="ctr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r>
                <a:rPr lang="en-US" sz="14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Video</a:t>
              </a:r>
              <a:endParaRPr lang="en-US" sz="1400" dirty="0">
                <a:solidFill>
                  <a:schemeClr val="accent6"/>
                </a:solidFill>
                <a:highlight>
                  <a:srgbClr val="000000"/>
                </a:highlight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BE43194-AD5E-814D-5818-0E56702E67B7}"/>
              </a:ext>
            </a:extLst>
          </p:cNvPr>
          <p:cNvSpPr txBox="1"/>
          <p:nvPr/>
        </p:nvSpPr>
        <p:spPr>
          <a:xfrm>
            <a:off x="2634584" y="676324"/>
            <a:ext cx="4010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It can be applied to different signals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It use compressive measurements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To solve an inverse problem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6B847D-2373-3F0F-FE33-8A8023A950E5}"/>
              </a:ext>
            </a:extLst>
          </p:cNvPr>
          <p:cNvGrpSpPr/>
          <p:nvPr/>
        </p:nvGrpSpPr>
        <p:grpSpPr>
          <a:xfrm>
            <a:off x="4182952" y="3549629"/>
            <a:ext cx="4439459" cy="1774351"/>
            <a:chOff x="4182952" y="3549629"/>
            <a:chExt cx="4439459" cy="17743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8FC55B6-7D1A-86EA-116A-BE247A0FA1D5}"/>
                </a:ext>
              </a:extLst>
            </p:cNvPr>
            <p:cNvGrpSpPr/>
            <p:nvPr/>
          </p:nvGrpSpPr>
          <p:grpSpPr>
            <a:xfrm>
              <a:off x="4182952" y="3788124"/>
              <a:ext cx="3170603" cy="1099772"/>
              <a:chOff x="-214043" y="1004325"/>
              <a:chExt cx="3561750" cy="1355287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7CE0357-8A89-B715-777F-5C568B9D76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1108"/>
              <a:stretch/>
            </p:blipFill>
            <p:spPr>
              <a:xfrm>
                <a:off x="1140336" y="1004325"/>
                <a:ext cx="915078" cy="909027"/>
              </a:xfrm>
              <a:prstGeom prst="rect">
                <a:avLst/>
              </a:prstGeom>
            </p:spPr>
          </p:pic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7FA9BDA2-D31B-DB5A-5A2B-F5ABC94156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14043" y="1931689"/>
                <a:ext cx="3561750" cy="4279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L" sz="1200" dirty="0">
                    <a:solidFill>
                      <a:schemeClr val="bg1"/>
                    </a:solidFill>
                    <a:highlight>
                      <a:srgbClr val="000000"/>
                    </a:highlight>
                  </a:rPr>
                  <a:t>1995 </a:t>
                </a:r>
              </a:p>
              <a:p>
                <a:r>
                  <a:rPr lang="en-CL" sz="1200" dirty="0">
                    <a:solidFill>
                      <a:schemeClr val="bg1"/>
                    </a:solidFill>
                    <a:highlight>
                      <a:srgbClr val="000000"/>
                    </a:highlight>
                  </a:rPr>
                  <a:t>Cubic Phase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46A27CC-9E0B-B549-3DF1-3C11B8A1A32A}"/>
                </a:ext>
              </a:extLst>
            </p:cNvPr>
            <p:cNvGrpSpPr/>
            <p:nvPr/>
          </p:nvGrpSpPr>
          <p:grpSpPr>
            <a:xfrm>
              <a:off x="6540139" y="3549629"/>
              <a:ext cx="2082272" cy="1774351"/>
              <a:chOff x="426720" y="3505199"/>
              <a:chExt cx="2082272" cy="1774351"/>
            </a:xfrm>
          </p:grpSpPr>
          <p:pic>
            <p:nvPicPr>
              <p:cNvPr id="19" name="Picture 2" descr="Depth Of Field Definition - What is Depth Of Field by SLR Lounge">
                <a:extLst>
                  <a:ext uri="{FF2B5EF4-FFF2-40B4-BE49-F238E27FC236}">
                    <a16:creationId xmlns:a16="http://schemas.microsoft.com/office/drawing/2014/main" id="{102F89AE-8643-6341-3F9A-C4367CA391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9777"/>
              <a:stretch/>
            </p:blipFill>
            <p:spPr bwMode="auto">
              <a:xfrm>
                <a:off x="426720" y="3505567"/>
                <a:ext cx="1035133" cy="13737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2" descr="Depth Of Field Definition - What is Depth Of Field by SLR Lounge">
                <a:extLst>
                  <a:ext uri="{FF2B5EF4-FFF2-40B4-BE49-F238E27FC236}">
                    <a16:creationId xmlns:a16="http://schemas.microsoft.com/office/drawing/2014/main" id="{573F9D91-64D3-3D8C-44F8-EA98316B39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535"/>
              <a:stretch/>
            </p:blipFill>
            <p:spPr bwMode="auto">
              <a:xfrm>
                <a:off x="1468581" y="3505199"/>
                <a:ext cx="1040411" cy="13741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1C8AC079-3F07-27D6-83CA-2C0BDA4B5D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30982" y="4851627"/>
                <a:ext cx="806352" cy="4279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ctr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1400" dirty="0">
                    <a:solidFill>
                      <a:schemeClr val="bg1"/>
                    </a:solidFill>
                    <a:highlight>
                      <a:srgbClr val="000000"/>
                    </a:highlight>
                  </a:rPr>
                  <a:t>Depth</a:t>
                </a:r>
                <a:endParaRPr lang="en-US" sz="1400" dirty="0">
                  <a:solidFill>
                    <a:schemeClr val="accent6"/>
                  </a:solidFill>
                  <a:highlight>
                    <a:srgbClr val="000000"/>
                  </a:highlight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4DD419-ACAA-F82E-F75D-00FB2290A295}"/>
              </a:ext>
            </a:extLst>
          </p:cNvPr>
          <p:cNvGrpSpPr/>
          <p:nvPr/>
        </p:nvGrpSpPr>
        <p:grpSpPr>
          <a:xfrm>
            <a:off x="0" y="3431234"/>
            <a:ext cx="5338710" cy="1712266"/>
            <a:chOff x="-2292736" y="6558732"/>
            <a:chExt cx="5338710" cy="1712266"/>
          </a:xfrm>
        </p:grpSpPr>
        <p:pic>
          <p:nvPicPr>
            <p:cNvPr id="28" name="Picture 27" descr="A screenshot of a computer generated image&#10;&#10;AI-generated content may be incorrect.">
              <a:extLst>
                <a:ext uri="{FF2B5EF4-FFF2-40B4-BE49-F238E27FC236}">
                  <a16:creationId xmlns:a16="http://schemas.microsoft.com/office/drawing/2014/main" id="{2BC1FF2B-9395-9034-D487-2884F5C84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3184" b="64907"/>
            <a:stretch>
              <a:fillRect/>
            </a:stretch>
          </p:blipFill>
          <p:spPr>
            <a:xfrm>
              <a:off x="-1499009" y="6920138"/>
              <a:ext cx="4078374" cy="135086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6191BF3-64A8-330E-BCAD-61315C63CAC4}"/>
                </a:ext>
              </a:extLst>
            </p:cNvPr>
            <p:cNvSpPr txBox="1"/>
            <p:nvPr/>
          </p:nvSpPr>
          <p:spPr>
            <a:xfrm>
              <a:off x="-2292736" y="7486195"/>
              <a:ext cx="9042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L" sz="1400" dirty="0">
                  <a:solidFill>
                    <a:schemeClr val="bg1"/>
                  </a:solidFill>
                </a:rPr>
                <a:t>A woman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ED2660D-5A44-C0BA-3D28-80AB0611A7C8}"/>
                </a:ext>
              </a:extLst>
            </p:cNvPr>
            <p:cNvSpPr txBox="1"/>
            <p:nvPr/>
          </p:nvSpPr>
          <p:spPr>
            <a:xfrm>
              <a:off x="-1289420" y="6584856"/>
              <a:ext cx="9074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sz="1400" dirty="0">
                  <a:solidFill>
                    <a:schemeClr val="bg1"/>
                  </a:solidFill>
                </a:rPr>
                <a:t>GT phase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BBA564-16F3-9157-501D-93957E7E5F8D}"/>
                </a:ext>
              </a:extLst>
            </p:cNvPr>
            <p:cNvSpPr txBox="1"/>
            <p:nvPr/>
          </p:nvSpPr>
          <p:spPr>
            <a:xfrm>
              <a:off x="-310320" y="6558732"/>
              <a:ext cx="1550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R</a:t>
              </a:r>
              <a:r>
                <a:rPr lang="en-CL" sz="1400" dirty="0">
                  <a:solidFill>
                    <a:schemeClr val="bg1"/>
                  </a:solidFill>
                </a:rPr>
                <a:t>ecovered phase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60E1AC7-E858-A016-309D-24D2F61D692E}"/>
                </a:ext>
              </a:extLst>
            </p:cNvPr>
            <p:cNvSpPr txBox="1"/>
            <p:nvPr/>
          </p:nvSpPr>
          <p:spPr>
            <a:xfrm>
              <a:off x="1196878" y="6571795"/>
              <a:ext cx="18490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L" sz="1400" dirty="0">
                  <a:solidFill>
                    <a:schemeClr val="bg1"/>
                  </a:solidFill>
                </a:rPr>
                <a:t>Recovered Amplitude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986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0F1D7-9CE3-80F2-34B3-24BFE801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2C4030DA-ADD6-A0C8-66AF-8A8B6079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5</a:t>
            </a:fld>
            <a:endParaRPr lang="en-CL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1A2113E-08ED-AF49-B80B-F789B895EFB2}"/>
              </a:ext>
            </a:extLst>
          </p:cNvPr>
          <p:cNvSpPr txBox="1">
            <a:spLocks/>
          </p:cNvSpPr>
          <p:nvPr/>
        </p:nvSpPr>
        <p:spPr>
          <a:xfrm>
            <a:off x="0" y="-443620"/>
            <a:ext cx="9325069" cy="1131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L" sz="2800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Traditional Approaches to Capture Multispectral Images</a:t>
            </a:r>
          </a:p>
        </p:txBody>
      </p:sp>
      <p:pic>
        <p:nvPicPr>
          <p:cNvPr id="1026" name="Picture 2" descr="spectral imaging">
            <a:extLst>
              <a:ext uri="{FF2B5EF4-FFF2-40B4-BE49-F238E27FC236}">
                <a16:creationId xmlns:a16="http://schemas.microsoft.com/office/drawing/2014/main" id="{23E01A87-49A2-587E-4709-0E7C85FCD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77" y="816058"/>
            <a:ext cx="6653169" cy="4080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574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67D15-F61E-ED59-1401-30665E72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168C0E88-5A6E-54BF-403E-9DF3B31A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6</a:t>
            </a:fld>
            <a:endParaRPr lang="en-CL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18AA517-D1CC-0808-D2DC-6445C039A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47" y="1305866"/>
            <a:ext cx="6384956" cy="2182763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5647B67A-7E3F-1898-DC58-A557F9C288CF}"/>
              </a:ext>
            </a:extLst>
          </p:cNvPr>
          <p:cNvSpPr txBox="1">
            <a:spLocks/>
          </p:cNvSpPr>
          <p:nvPr/>
        </p:nvSpPr>
        <p:spPr>
          <a:xfrm>
            <a:off x="0" y="-443620"/>
            <a:ext cx="9325069" cy="1131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L" sz="2800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Spectral Images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8C5D7F-8C73-0AE9-CD30-E587E3F1F260}"/>
              </a:ext>
            </a:extLst>
          </p:cNvPr>
          <p:cNvSpPr txBox="1"/>
          <p:nvPr/>
        </p:nvSpPr>
        <p:spPr>
          <a:xfrm>
            <a:off x="3739076" y="3529343"/>
            <a:ext cx="4463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L" dirty="0">
                <a:solidFill>
                  <a:schemeClr val="bg1"/>
                </a:solidFill>
              </a:rPr>
              <a:t>Spectral Images in the visible spectrum from 400 nm to 700 nm</a:t>
            </a:r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A29EAA51-86AA-1F9D-7983-C6D8D29BF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4" y="1340477"/>
            <a:ext cx="2172833" cy="217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6C25D2-A61F-AD8E-42D1-959AC7E56449}"/>
              </a:ext>
            </a:extLst>
          </p:cNvPr>
          <p:cNvSpPr txBox="1"/>
          <p:nvPr/>
        </p:nvSpPr>
        <p:spPr>
          <a:xfrm>
            <a:off x="-101097" y="3554995"/>
            <a:ext cx="2581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L" dirty="0">
                <a:solidFill>
                  <a:schemeClr val="bg1"/>
                </a:solidFill>
              </a:rPr>
              <a:t>RGB image</a:t>
            </a:r>
          </a:p>
        </p:txBody>
      </p:sp>
    </p:spTree>
    <p:extLst>
      <p:ext uri="{BB962C8B-B14F-4D97-AF65-F5344CB8AC3E}">
        <p14:creationId xmlns:p14="http://schemas.microsoft.com/office/powerpoint/2010/main" val="119304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176D5-9A75-E533-38EB-14CC7084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34E48F7-6B7D-8A06-76EB-E5C9380E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7</a:t>
            </a:fld>
            <a:endParaRPr lang="en-C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C87BB1-FA7F-F493-BC85-1BC65492DB06}"/>
              </a:ext>
            </a:extLst>
          </p:cNvPr>
          <p:cNvSpPr txBox="1">
            <a:spLocks/>
          </p:cNvSpPr>
          <p:nvPr/>
        </p:nvSpPr>
        <p:spPr>
          <a:xfrm>
            <a:off x="0" y="-443620"/>
            <a:ext cx="9325069" cy="1131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L" sz="2800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Compressive Sensing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3BC06B-2495-D20B-E6FB-B6344D6FEFCF}"/>
                  </a:ext>
                </a:extLst>
              </p:cNvPr>
              <p:cNvSpPr txBox="1"/>
              <p:nvPr/>
            </p:nvSpPr>
            <p:spPr>
              <a:xfrm>
                <a:off x="356101" y="4141148"/>
                <a:ext cx="80163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>
                    <a:solidFill>
                      <a:schemeClr val="accent6"/>
                    </a:solidFill>
                  </a:rPr>
                  <a:t>The goal is to recover the sparse signal </a:t>
                </a:r>
                <a14:m>
                  <m:oMath xmlns:m="http://schemas.openxmlformats.org/officeDocument/2006/math">
                    <m:r>
                      <a:rPr lang="es-ES" b="1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s-ES" dirty="0">
                    <a:solidFill>
                      <a:schemeClr val="accent6"/>
                    </a:solidFill>
                  </a:rPr>
                  <a:t> </a:t>
                </a:r>
                <a:r>
                  <a:rPr lang="es-ES" dirty="0" err="1">
                    <a:solidFill>
                      <a:schemeClr val="accent6"/>
                    </a:solidFill>
                  </a:rPr>
                  <a:t>from</a:t>
                </a:r>
                <a:r>
                  <a:rPr lang="es-ES" dirty="0">
                    <a:solidFill>
                      <a:schemeClr val="accent6"/>
                    </a:solidFill>
                  </a:rPr>
                  <a:t> </a:t>
                </a:r>
                <a:r>
                  <a:rPr lang="es-ES" dirty="0" err="1">
                    <a:solidFill>
                      <a:schemeClr val="accent6"/>
                    </a:solidFill>
                  </a:rPr>
                  <a:t>the</a:t>
                </a:r>
                <a:r>
                  <a:rPr lang="es-ES" dirty="0">
                    <a:solidFill>
                      <a:schemeClr val="accent6"/>
                    </a:solidFill>
                  </a:rPr>
                  <a:t> </a:t>
                </a:r>
                <a:r>
                  <a:rPr lang="es-ES" dirty="0" err="1">
                    <a:solidFill>
                      <a:schemeClr val="accent6"/>
                    </a:solidFill>
                  </a:rPr>
                  <a:t>measurement</a:t>
                </a:r>
                <a:r>
                  <a:rPr lang="es-E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b="1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s-ES" dirty="0">
                  <a:solidFill>
                    <a:schemeClr val="accent6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 err="1">
                    <a:solidFill>
                      <a:srgbClr val="FF0000"/>
                    </a:solidFill>
                  </a:rPr>
                  <a:t>This</a:t>
                </a:r>
                <a:r>
                  <a:rPr lang="es-ES" dirty="0">
                    <a:solidFill>
                      <a:srgbClr val="FF0000"/>
                    </a:solidFill>
                  </a:rPr>
                  <a:t> </a:t>
                </a:r>
                <a:r>
                  <a:rPr lang="es-ES" dirty="0" err="1">
                    <a:solidFill>
                      <a:srgbClr val="FF0000"/>
                    </a:solidFill>
                  </a:rPr>
                  <a:t>is</a:t>
                </a:r>
                <a:r>
                  <a:rPr lang="es-ES" dirty="0">
                    <a:solidFill>
                      <a:srgbClr val="FF0000"/>
                    </a:solidFill>
                  </a:rPr>
                  <a:t> </a:t>
                </a:r>
                <a:r>
                  <a:rPr lang="es-ES" dirty="0" err="1">
                    <a:solidFill>
                      <a:srgbClr val="FF0000"/>
                    </a:solidFill>
                  </a:rPr>
                  <a:t>an</a:t>
                </a:r>
                <a:r>
                  <a:rPr lang="es-ES" dirty="0">
                    <a:solidFill>
                      <a:srgbClr val="FF0000"/>
                    </a:solidFill>
                  </a:rPr>
                  <a:t> </a:t>
                </a:r>
                <a:r>
                  <a:rPr lang="es-ES" dirty="0" err="1">
                    <a:solidFill>
                      <a:srgbClr val="FF0000"/>
                    </a:solidFill>
                  </a:rPr>
                  <a:t>ill-posed</a:t>
                </a:r>
                <a:r>
                  <a:rPr lang="es-ES" dirty="0">
                    <a:solidFill>
                      <a:srgbClr val="FF0000"/>
                    </a:solidFill>
                  </a:rPr>
                  <a:t> </a:t>
                </a:r>
                <a:r>
                  <a:rPr lang="es-ES" dirty="0" err="1">
                    <a:solidFill>
                      <a:srgbClr val="FF0000"/>
                    </a:solidFill>
                  </a:rPr>
                  <a:t>problem</a:t>
                </a:r>
                <a:endParaRPr lang="en-C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13BC06B-2495-D20B-E6FB-B6344D6FE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01" y="4141148"/>
                <a:ext cx="8016373" cy="646331"/>
              </a:xfrm>
              <a:prstGeom prst="rect">
                <a:avLst/>
              </a:prstGeom>
              <a:blipFill>
                <a:blip r:embed="rId2"/>
                <a:stretch>
                  <a:fillRect l="-474" t="-1923" b="-13462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olorful squares with different colors&#10;&#10;AI-generated content may be incorrect.">
            <a:extLst>
              <a:ext uri="{FF2B5EF4-FFF2-40B4-BE49-F238E27FC236}">
                <a16:creationId xmlns:a16="http://schemas.microsoft.com/office/drawing/2014/main" id="{C9C34DA1-068A-6A15-3DE0-21190CBEE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62" y="760046"/>
            <a:ext cx="5813669" cy="32373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2DF001-DE5A-AF28-51BD-94025E5E850B}"/>
              </a:ext>
            </a:extLst>
          </p:cNvPr>
          <p:cNvSpPr txBox="1"/>
          <p:nvPr/>
        </p:nvSpPr>
        <p:spPr>
          <a:xfrm>
            <a:off x="6240479" y="1372316"/>
            <a:ext cx="27003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L" dirty="0">
              <a:solidFill>
                <a:schemeClr val="bg1"/>
              </a:solidFill>
            </a:endParaRPr>
          </a:p>
          <a:p>
            <a:pPr algn="ctr"/>
            <a:r>
              <a:rPr lang="en-CL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What type of Signal?</a:t>
            </a:r>
          </a:p>
          <a:p>
            <a:endParaRPr lang="en-CL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Spectral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Video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MRI, ultrasound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Sound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L" dirty="0">
                <a:solidFill>
                  <a:schemeClr val="accent6"/>
                </a:solidFill>
              </a:rPr>
              <a:t>Any</a:t>
            </a:r>
          </a:p>
        </p:txBody>
      </p:sp>
    </p:spTree>
    <p:extLst>
      <p:ext uri="{BB962C8B-B14F-4D97-AF65-F5344CB8AC3E}">
        <p14:creationId xmlns:p14="http://schemas.microsoft.com/office/powerpoint/2010/main" val="2678419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20561-0830-51DD-F2D9-BF910C54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85D51951-E2FA-D6F1-44FA-BEADF14A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8</a:t>
            </a:fld>
            <a:endParaRPr lang="en-CL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0B97A81-876F-E4F3-C8DD-1E7C5E82A0DB}"/>
              </a:ext>
            </a:extLst>
          </p:cNvPr>
          <p:cNvSpPr txBox="1">
            <a:spLocks/>
          </p:cNvSpPr>
          <p:nvPr/>
        </p:nvSpPr>
        <p:spPr>
          <a:xfrm>
            <a:off x="0" y="-443620"/>
            <a:ext cx="9325069" cy="1131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L" sz="2800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Compresive spectral Imaging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B68857-40BC-9D89-297C-13A81DE0291D}"/>
              </a:ext>
            </a:extLst>
          </p:cNvPr>
          <p:cNvSpPr txBox="1"/>
          <p:nvPr/>
        </p:nvSpPr>
        <p:spPr>
          <a:xfrm>
            <a:off x="86471" y="2806391"/>
            <a:ext cx="6548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bg1"/>
                </a:solidFill>
              </a:rPr>
              <a:t>Underdeterminated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system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equations</a:t>
            </a:r>
            <a:endParaRPr lang="en-CL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4596C95-8E9C-FC42-8C76-86017045A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9" y="686637"/>
            <a:ext cx="6467719" cy="2034895"/>
          </a:xfrm>
          <a:prstGeom prst="rect">
            <a:avLst/>
          </a:prstGeom>
        </p:spPr>
      </p:pic>
      <p:pic>
        <p:nvPicPr>
          <p:cNvPr id="25" name="Picture 24" descr="A close up of a qr code&#10;&#10;AI-generated content may be incorrect.">
            <a:extLst>
              <a:ext uri="{FF2B5EF4-FFF2-40B4-BE49-F238E27FC236}">
                <a16:creationId xmlns:a16="http://schemas.microsoft.com/office/drawing/2014/main" id="{A90F0D36-69BE-5DE1-442F-B07F7FAB0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67" y="3367454"/>
            <a:ext cx="2670420" cy="1256226"/>
          </a:xfrm>
          <a:prstGeom prst="rect">
            <a:avLst/>
          </a:prstGeom>
        </p:spPr>
      </p:pic>
      <p:pic>
        <p:nvPicPr>
          <p:cNvPr id="26" name="Picture 25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C7CAAA29-DB9D-CE81-5925-C4F2105E2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221" y="3653972"/>
            <a:ext cx="3771900" cy="6223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205A866-8676-C15A-4D8F-D40DF97B585A}"/>
              </a:ext>
            </a:extLst>
          </p:cNvPr>
          <p:cNvSpPr txBox="1"/>
          <p:nvPr/>
        </p:nvSpPr>
        <p:spPr>
          <a:xfrm>
            <a:off x="7358743" y="1430373"/>
            <a:ext cx="167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L" dirty="0">
                <a:solidFill>
                  <a:schemeClr val="accent6"/>
                </a:solidFill>
              </a:rPr>
              <a:t>Hardware:</a:t>
            </a:r>
          </a:p>
          <a:p>
            <a:pPr algn="ctr"/>
            <a:r>
              <a:rPr lang="en-CL" dirty="0">
                <a:solidFill>
                  <a:schemeClr val="bg1"/>
                </a:solidFill>
              </a:rPr>
              <a:t>Sensing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60DAC9-5AFD-0734-5A7E-4E0C8F429E01}"/>
              </a:ext>
            </a:extLst>
          </p:cNvPr>
          <p:cNvSpPr txBox="1"/>
          <p:nvPr/>
        </p:nvSpPr>
        <p:spPr>
          <a:xfrm>
            <a:off x="7271658" y="3672832"/>
            <a:ext cx="17743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L" dirty="0">
                <a:solidFill>
                  <a:schemeClr val="accent6"/>
                </a:solidFill>
              </a:rPr>
              <a:t>Software:</a:t>
            </a:r>
          </a:p>
          <a:p>
            <a:pPr algn="ctr"/>
            <a:r>
              <a:rPr lang="en-CL" dirty="0">
                <a:solidFill>
                  <a:schemeClr val="bg1"/>
                </a:solidFill>
              </a:rPr>
              <a:t>Recovery</a:t>
            </a:r>
          </a:p>
        </p:txBody>
      </p:sp>
    </p:spTree>
    <p:extLst>
      <p:ext uri="{BB962C8B-B14F-4D97-AF65-F5344CB8AC3E}">
        <p14:creationId xmlns:p14="http://schemas.microsoft.com/office/powerpoint/2010/main" val="248063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A889A-DBB5-8C1F-48EB-47F948DA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335B-0909-B79D-B032-39818E1D3A7A}"/>
              </a:ext>
            </a:extLst>
          </p:cNvPr>
          <p:cNvSpPr txBox="1">
            <a:spLocks/>
          </p:cNvSpPr>
          <p:nvPr/>
        </p:nvSpPr>
        <p:spPr>
          <a:xfrm>
            <a:off x="-841389" y="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Multispectral Filter Array</a:t>
            </a:r>
            <a:endParaRPr lang="en-CL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29A697-0CD4-9EA3-40BA-F418C4C1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9</a:t>
            </a:fld>
            <a:endParaRPr lang="en-CL"/>
          </a:p>
        </p:txBody>
      </p:sp>
      <p:pic>
        <p:nvPicPr>
          <p:cNvPr id="4" name="Picture 4" descr="Mosaico de Bayer - Wikipedia, la enciclopedia libre">
            <a:extLst>
              <a:ext uri="{FF2B5EF4-FFF2-40B4-BE49-F238E27FC236}">
                <a16:creationId xmlns:a16="http://schemas.microsoft.com/office/drawing/2014/main" id="{40BAA0AD-7150-2654-A919-A57E3C4B7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24" y="1789331"/>
            <a:ext cx="3225521" cy="2092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PDF] A Color Filter Array Based Multispectral Camera | Semantic Scholar">
            <a:extLst>
              <a:ext uri="{FF2B5EF4-FFF2-40B4-BE49-F238E27FC236}">
                <a16:creationId xmlns:a16="http://schemas.microsoft.com/office/drawing/2014/main" id="{18BE8AFD-9DFC-1F27-0DBF-5640A8F35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778" y="1788607"/>
            <a:ext cx="4652764" cy="213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36596F-0CB7-1AAA-9ECD-C9E8ECBD4BBA}"/>
              </a:ext>
            </a:extLst>
          </p:cNvPr>
          <p:cNvSpPr txBox="1"/>
          <p:nvPr/>
        </p:nvSpPr>
        <p:spPr>
          <a:xfrm>
            <a:off x="1336431" y="3918857"/>
            <a:ext cx="1250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solidFill>
                  <a:schemeClr val="bg1"/>
                </a:solidFill>
              </a:rPr>
              <a:t>Bayer filter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0E4CE-0644-F691-411A-CDD837067530}"/>
              </a:ext>
            </a:extLst>
          </p:cNvPr>
          <p:cNvSpPr txBox="1"/>
          <p:nvPr/>
        </p:nvSpPr>
        <p:spPr>
          <a:xfrm>
            <a:off x="4975610" y="3890388"/>
            <a:ext cx="2607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solidFill>
                  <a:schemeClr val="bg1"/>
                </a:solidFill>
              </a:rPr>
              <a:t>Multispectral Filter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DC0AC5-8026-D9AC-1D88-F9F4150D33BE}"/>
              </a:ext>
            </a:extLst>
          </p:cNvPr>
          <p:cNvSpPr txBox="1"/>
          <p:nvPr/>
        </p:nvSpPr>
        <p:spPr>
          <a:xfrm>
            <a:off x="291401" y="4411226"/>
            <a:ext cx="4801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recovered signal is multispectral </a:t>
            </a:r>
            <a:r>
              <a:rPr lang="en-US" dirty="0" err="1">
                <a:solidFill>
                  <a:schemeClr val="bg1"/>
                </a:solidFill>
              </a:rPr>
              <a:t>datacube</a:t>
            </a:r>
            <a:endParaRPr lang="en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058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C753D-52E0-ADE4-172B-4B7EC9DD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7E29-EFE8-A189-1EBC-2C3A796ACAEE}"/>
              </a:ext>
            </a:extLst>
          </p:cNvPr>
          <p:cNvSpPr txBox="1">
            <a:spLocks/>
          </p:cNvSpPr>
          <p:nvPr/>
        </p:nvSpPr>
        <p:spPr>
          <a:xfrm>
            <a:off x="-1396378" y="0"/>
            <a:ext cx="912695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Random vs Sphere Packing</a:t>
            </a:r>
            <a:endParaRPr lang="en-CL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6BE3F1-6C5E-D2E3-2B56-8D70CFC3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10</a:t>
            </a:fld>
            <a:endParaRPr lang="en-C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8DF36-3291-1ED2-051B-CCE94EBF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130" y="1361641"/>
            <a:ext cx="2852337" cy="32743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46F971-950F-07E0-CC09-A785B4A5E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725" y="1353849"/>
            <a:ext cx="2803757" cy="329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6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BFA23-F360-276F-88DD-746F8C85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BC8D-7C4F-C939-23A6-6A407F8630D0}"/>
              </a:ext>
            </a:extLst>
          </p:cNvPr>
          <p:cNvSpPr txBox="1">
            <a:spLocks/>
          </p:cNvSpPr>
          <p:nvPr/>
        </p:nvSpPr>
        <p:spPr>
          <a:xfrm>
            <a:off x="-1989566" y="-8649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L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Sphere Packing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1FC003-EF4B-D3F4-335B-D0591645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11</a:t>
            </a:fld>
            <a:endParaRPr lang="en-C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0E6D9-E6DF-6D44-B0B5-070C7DC15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98" y="1355690"/>
            <a:ext cx="3448806" cy="3316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591BF6-5754-8B48-5267-56C233BD2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706" y="1346687"/>
            <a:ext cx="3354312" cy="330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32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42D1B-F14F-A879-18CB-1529CC082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CD8DFB-04DC-861B-24C1-57507047DDEE}"/>
              </a:ext>
            </a:extLst>
          </p:cNvPr>
          <p:cNvSpPr txBox="1">
            <a:spLocks/>
          </p:cNvSpPr>
          <p:nvPr/>
        </p:nvSpPr>
        <p:spPr>
          <a:xfrm>
            <a:off x="0" y="-10757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Reconstruction Results using MSFA</a:t>
            </a:r>
            <a:endParaRPr lang="en-CL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4182222-D37F-DEF6-B8F8-E15411A6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12</a:t>
            </a:fld>
            <a:endParaRPr lang="en-C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1AA3D4-3599-9903-83C6-1F2CCF1B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60" y="914976"/>
            <a:ext cx="7113494" cy="36233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45881E-BD67-9F19-B477-661B89C4CEB9}"/>
              </a:ext>
            </a:extLst>
          </p:cNvPr>
          <p:cNvSpPr txBox="1"/>
          <p:nvPr/>
        </p:nvSpPr>
        <p:spPr>
          <a:xfrm>
            <a:off x="233083" y="4543336"/>
            <a:ext cx="86952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chemeClr val="bg1"/>
                </a:solidFill>
                <a:effectLst/>
                <a:latin typeface="HelveticaNeue Regular"/>
              </a:rPr>
              <a:t>N. Diaz, A. Alvarado, P. Meza, F. Guzmán and E. Vera, "Multispectral Filter Array Design by Optimal Sphere Packing," in </a:t>
            </a:r>
            <a:r>
              <a:rPr lang="en-US" sz="1100" b="0" i="1" dirty="0">
                <a:solidFill>
                  <a:schemeClr val="bg1"/>
                </a:solidFill>
                <a:effectLst/>
                <a:latin typeface="HelveticaNeue Regular"/>
              </a:rPr>
              <a:t>IEEE Transactions on Image Processing</a:t>
            </a:r>
            <a:r>
              <a:rPr lang="en-US" sz="1100" b="0" i="0" dirty="0">
                <a:solidFill>
                  <a:schemeClr val="bg1"/>
                </a:solidFill>
                <a:effectLst/>
                <a:latin typeface="HelveticaNeue Regular"/>
              </a:rPr>
              <a:t>, vol. 32, pp. 3634-3649, 2023</a:t>
            </a:r>
            <a:endParaRPr lang="en-CL" sz="11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58683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BB970-B8A2-D6D3-4188-72908923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B906EBA-863C-AF8C-EB25-94A9A1C1A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13</a:t>
            </a:fld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7A379-A91F-B3CD-4EEF-1E99B79C5D83}"/>
              </a:ext>
            </a:extLst>
          </p:cNvPr>
          <p:cNvSpPr txBox="1">
            <a:spLocks/>
          </p:cNvSpPr>
          <p:nvPr/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L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4DA7A4-C80E-2F46-B968-38B4BACCDF09}" type="slidenum">
              <a:rPr lang="en-CL" smtClean="0"/>
              <a:pPr/>
              <a:t>13</a:t>
            </a:fld>
            <a:endParaRPr lang="en-C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EFD6BE-8B96-E735-B5C0-F57D10370049}"/>
              </a:ext>
            </a:extLst>
          </p:cNvPr>
          <p:cNvSpPr txBox="1">
            <a:spLocks/>
          </p:cNvSpPr>
          <p:nvPr/>
        </p:nvSpPr>
        <p:spPr>
          <a:xfrm>
            <a:off x="516804" y="134663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Imaging</a:t>
            </a:r>
            <a:endParaRPr lang="en-CL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63892-7BE1-E78B-56B1-3A4737356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08" y="1615921"/>
            <a:ext cx="8775835" cy="242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59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913E3-CCB0-6F32-2588-5154DCDA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9391404-9E1F-699C-92A1-C6ECEDC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964DA7A4-C80E-2F46-B968-38B4BACCDF09}" type="slidenum">
              <a:rPr lang="en-CL" smtClean="0"/>
              <a:t>14</a:t>
            </a:fld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8D012-57A6-08A1-98BC-5C90441D9985}"/>
              </a:ext>
            </a:extLst>
          </p:cNvPr>
          <p:cNvSpPr txBox="1">
            <a:spLocks/>
          </p:cNvSpPr>
          <p:nvPr/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L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4DA7A4-C80E-2F46-B968-38B4BACCDF09}" type="slidenum">
              <a:rPr lang="en-CL" smtClean="0"/>
              <a:pPr/>
              <a:t>14</a:t>
            </a:fld>
            <a:endParaRPr lang="en-C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923E5D-44EF-724B-1924-4305AF64AECC}"/>
              </a:ext>
            </a:extLst>
          </p:cNvPr>
          <p:cNvSpPr txBox="1">
            <a:spLocks/>
          </p:cNvSpPr>
          <p:nvPr/>
        </p:nvSpPr>
        <p:spPr>
          <a:xfrm>
            <a:off x="516804" y="134663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  <a:highlight>
                  <a:srgbClr val="000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Pinhole Camera</a:t>
            </a:r>
            <a:endParaRPr lang="en-CL" dirty="0">
              <a:solidFill>
                <a:srgbClr val="FFFF00"/>
              </a:solidFill>
              <a:highlight>
                <a:srgbClr val="0000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Pinhole Camera — Mark Tamer Ellis">
            <a:extLst>
              <a:ext uri="{FF2B5EF4-FFF2-40B4-BE49-F238E27FC236}">
                <a16:creationId xmlns:a16="http://schemas.microsoft.com/office/drawing/2014/main" id="{9900C94C-067B-3D23-01EA-705285EBF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246" y="1727201"/>
            <a:ext cx="2775942" cy="2142066"/>
          </a:xfrm>
          <a:prstGeom prst="rect">
            <a:avLst/>
          </a:prstGeom>
        </p:spPr>
      </p:pic>
      <p:pic>
        <p:nvPicPr>
          <p:cNvPr id="7" name="Picture 6" descr="How a pinhole camera works (part 1)">
            <a:extLst>
              <a:ext uri="{FF2B5EF4-FFF2-40B4-BE49-F238E27FC236}">
                <a16:creationId xmlns:a16="http://schemas.microsoft.com/office/drawing/2014/main" id="{2211CECC-61D4-99AE-2B1F-F94BCE3A2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917" y="1835151"/>
            <a:ext cx="3113617" cy="2009164"/>
          </a:xfrm>
          <a:prstGeom prst="rect">
            <a:avLst/>
          </a:prstGeom>
        </p:spPr>
      </p:pic>
      <p:pic>
        <p:nvPicPr>
          <p:cNvPr id="8" name="Picture 7" descr="Make a pinhole camera | National Geographic Kids">
            <a:extLst>
              <a:ext uri="{FF2B5EF4-FFF2-40B4-BE49-F238E27FC236}">
                <a16:creationId xmlns:a16="http://schemas.microsoft.com/office/drawing/2014/main" id="{F4BABCDB-7705-4AA3-6F25-0F1A16BAC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1" y="2046841"/>
            <a:ext cx="2209800" cy="182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64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3771</TotalTime>
  <Words>271</Words>
  <Application>Microsoft Macintosh PowerPoint</Application>
  <PresentationFormat>On-screen Show (16:9)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Helvetica</vt:lpstr>
      <vt:lpstr>HelveticaNeue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NELSON.DIAZ@correo.uis.edu.co</dc:creator>
  <cp:lastModifiedBy>Nelson Diaz</cp:lastModifiedBy>
  <cp:revision>60</cp:revision>
  <dcterms:created xsi:type="dcterms:W3CDTF">2024-07-18T17:07:13Z</dcterms:created>
  <dcterms:modified xsi:type="dcterms:W3CDTF">2026-08-08T17:37:13Z</dcterms:modified>
</cp:coreProperties>
</file>